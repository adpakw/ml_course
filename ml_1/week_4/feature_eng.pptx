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ru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35"/>
    <p:restoredTop sz="83710"/>
  </p:normalViewPr>
  <p:slideViewPr>
    <p:cSldViewPr snapToGrid="0">
      <p:cViewPr>
        <p:scale>
          <a:sx n="125" d="100"/>
          <a:sy n="125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C8BD9-BC7B-0C4E-8400-50CD8098AEEE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GB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91702-2A34-C345-9253-5AB8A1B7154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053369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828461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0FF78-2DE8-2116-9CDB-D8FEE9A2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D7EBAC-C43C-88DF-B498-B9230CD6E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B37297B-C536-8F80-9BB9-6545F22FC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DS/ML </a:t>
            </a:r>
            <a:r>
              <a:rPr lang="ru-RU" dirty="0"/>
              <a:t>большую часть времени занимаются обработкой данных.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Сейчас в этот круг добавилась разработка вокруг моделей, но про это на семе про </a:t>
            </a:r>
            <a:r>
              <a:rPr lang="en-US" dirty="0"/>
              <a:t>MLOPS/</a:t>
            </a: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43E950-7033-DB38-EBBB-DF2E1AEEB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467419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BA1B-7083-4A73-8D58-01DFE4EA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01D704-01E2-8D41-718F-0637D8923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5368580-F171-E0E4-E6D4-65BA4F62E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GB" dirty="0"/>
              <a:t>Часто к вам будут приходить плохие данные. Модели либо не умеют работать с плохими данными, либо же плохо работают с ними. Следовательно нужно что-то с ними делать. </a:t>
            </a:r>
            <a:br>
              <a:rPr lang="ru-GB" dirty="0"/>
            </a:br>
            <a:br>
              <a:rPr lang="ru-GB" dirty="0"/>
            </a:br>
            <a:r>
              <a:rPr lang="ru-GB" dirty="0"/>
              <a:t>Например, кто-то не заполнил имя в форме или указал возраст словами и т.д.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8EAB84-B154-CEE2-DC10-920242E7B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605360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AB026-44E3-B747-F233-048DDCDE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D118F27-1E09-3BAD-D161-021562D02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FFB60B8-ABC0-AC91-7BC5-96B002138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496A78-8105-463C-9450-760BEC6FC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91135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A7073-22D3-4604-B6E1-8ECF60CC8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7186B5-62F6-B963-43F8-3A5F7ECCC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90AEA8-689E-18D5-B7B9-7B3C8CF5A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F7FA8B-F2C4-1E50-280D-129FDF5D3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8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555850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954C-E834-E31D-0174-E3EC0C02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EAD5BF-75FF-7DAB-E436-BFD06451B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241C066-77A4-A854-DF78-8042929E9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D0F091-A0D2-3FFF-9C8B-402582A15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692905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89F8-59C3-1CF0-7B9F-7C678474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0B1ECE9-895A-F1CB-3B71-B0C2BAFEC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88A7DBD-4143-D366-BC94-A028360B0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238DA0-BA10-F79B-01F9-0E71AC406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10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244685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5FF4-D1CC-9E1B-E23B-36E9C25A3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A8842C-863B-962C-65F8-3241C39A8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140AFC5-9C17-FE55-49D3-0A165FCD0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i="0" dirty="0">
                <a:solidFill>
                  <a:srgbClr val="222222"/>
                </a:solidFill>
                <a:effectLst/>
                <a:latin typeface="Roboto" panose="020F0502020204030204" pitchFamily="34" charset="0"/>
              </a:rPr>
              <a:t>Заполнение пропуска с помощью другой модели</a:t>
            </a:r>
          </a:p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3AB590-A487-730C-5050-08990DF00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11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722496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D02B0-1340-AE0F-BA4B-F3C4E7BB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C56EC9-C911-F49F-43E3-8E1DA40DA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22AD045-97CC-5583-4F89-5120914B3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9F23C7-73BA-131F-6A5F-837D6583E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12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63375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</a:t>
            </a:r>
            <a:r>
              <a:rPr lang="ru-GB" dirty="0"/>
              <a:t>ыбросы можно удалять, но в ноутбуке мы логарифмируем.</a:t>
            </a:r>
            <a:br>
              <a:rPr lang="ru-GB" dirty="0"/>
            </a:br>
            <a:br>
              <a:rPr lang="ru-GB" dirty="0"/>
            </a:br>
            <a:r>
              <a:rPr lang="ru-RU" dirty="0"/>
              <a:t>К</a:t>
            </a:r>
            <a:r>
              <a:rPr lang="ru-GB" dirty="0"/>
              <a:t>ак определять выбросы отдельная история, их определяют либо через </a:t>
            </a:r>
            <a:r>
              <a:rPr lang="en-US" dirty="0"/>
              <a:t>boxplot, z-score, </a:t>
            </a:r>
            <a:r>
              <a:rPr lang="ru-RU" dirty="0" err="1"/>
              <a:t>экспертно</a:t>
            </a:r>
            <a:r>
              <a:rPr lang="ru-RU" dirty="0"/>
              <a:t>, либо же моделями.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13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459924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GB" dirty="0"/>
              <a:t>Есть проблема, что вы лету присвоили большее значение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15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189782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B420F-B5E8-929A-7C3B-26A54CDB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88C5757-95FC-1ACF-91C3-5B36A8692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19E4F8-D0D8-F425-CADB-DE595F1B7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GB" dirty="0"/>
              <a:t>Есть проблема, что вы лету присвоили большее значение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038098-E334-C5AB-5963-E96B4D121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16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408540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E28C0-6E67-BAFA-EF81-C922384D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0D5821-8307-E91B-8992-9D47864AC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455D5AB-4913-4AE1-17BC-952F836BB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В этом подходе мы делаем следующее: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создаем столько новых колонок, сколько различных категорий присутствует в категориальном признаке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каждая колонка отвечает за отдельную категорию (например, колонка 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Red 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отвечает за то, является ли цвет красным)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берем категорию объекта и ставим в соответствующей колонке 1, а во всех остальных 0 (например, если объект зеленый, то в колонке 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Green 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ставим 1, а в остальных 0)</a:t>
            </a:r>
          </a:p>
          <a:p>
            <a:br>
              <a:rPr lang="ru-RU" dirty="0"/>
            </a:b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9BE583-860E-7747-8BED-82DB9B557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17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587799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F8168-1879-0D0F-A65F-BC4CB950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3B2D40E-5D59-B477-07E8-97CD019C2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791B8A5-5995-65E4-66F4-5C4E997A2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В этом подходе мы делаем следующее: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создаем столько новых колонок, сколько различных категорий присутствует в категориальном признаке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каждая колонка отвечает за отдельную категорию (например, колонка 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Red 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отвечает за то, является ли цвет красным)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берем категорию объекта и ставим в соответствующей колонке 1, а во всех остальных 0 (например, если объект зеленый, то в колонке 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Green </a:t>
            </a: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ставим 1, а в остальных 0)</a:t>
            </a:r>
          </a:p>
          <a:p>
            <a:br>
              <a:rPr lang="ru-RU" dirty="0"/>
            </a:b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FC0B4F-95A2-3CB3-284D-5E823C4F7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18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686780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F2C2-1233-F3AD-9D7A-6FA451EC9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40A500D-234B-208D-6B8C-90834AC71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0C27ADD-4107-8A30-A9F4-37A4B655E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21758F-F0A9-81FF-0AE4-86C0D590D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19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97898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D0B8-593D-9B1E-57DE-151B30B7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ECC349-29AC-E8A7-F6D3-34DCE6914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CE1732-75ED-3B94-12F3-4F70A57CF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FE1BFD-E2C1-9118-72C0-77083511A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20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522613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BDDF-8239-89D9-580E-352DEFCF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C338C9B-0A35-536F-2653-C43BAF2F8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BAB1D06-A4EA-ECE5-D32D-0208D23FA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5DA9B8-7792-C6C0-68ED-638B816EF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21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406153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AEF3-6F3D-E6FA-989E-7726C068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81279A8-1CA3-9BB6-B95A-84C80219D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49FE45-4B94-B891-B489-2BAA9EEE7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ru-RU" sz="1200" dirty="0"/>
              <a:t>Нормализация приводит все признаки к одному масштабу.</a:t>
            </a: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200" b="1" dirty="0"/>
              <a:t>Нормализация позволяет честно сравнивать коэффициенты между собой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200" dirty="0"/>
              <a:t>Если рост измерять в метрах (1.8), вес — в граммах (70000), то коэффициент у веса будет 0.00001, а у роста — 10. На первый взгляд кажется, что рост важен, а вес — нет.</a:t>
            </a: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Регуляризация</a:t>
            </a: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L1 </a:t>
            </a:r>
            <a:r>
              <a:rPr lang="ru-RU" sz="1200" dirty="0"/>
              <a:t>и </a:t>
            </a:r>
            <a:r>
              <a:rPr lang="en-US" sz="1200" dirty="0"/>
              <a:t>L2 </a:t>
            </a:r>
            <a:r>
              <a:rPr lang="ru-RU" sz="1200" dirty="0"/>
              <a:t>регуляризация штрафуют большие веса. Если признаки имеют разный масштаб, регуляризация будет несправедливо штрафовать признаки с маленькими значениями (у них и так вес маленький) или плохо работать с большими. Нормализация делает регуляризацию корректной.</a:t>
            </a:r>
            <a:endParaRPr lang="ru-GB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2A4EF1-839A-81F5-623E-4E74F0B77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22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78387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04D6A-1C67-7A07-10E3-EEE85D242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E6462B-7555-6EC0-4E07-09B81A133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32120A-BBCC-B16C-6720-E491FC54E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ru-GB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C4A61E-3E7E-E7E1-7312-2961D8103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23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239019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7B56-B41B-274B-14D6-C6694356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48CCAB3-F958-4301-74CD-E60F57F55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C716EFA-D579-99AA-0A2E-2F14ED4A2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ru-GB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7A1649-CA3B-F9EF-10A9-259363B2A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24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3431362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4755-02EF-8DC3-A857-0541F42C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02A6455-206B-B47F-41D4-AD126B545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FCACBA-82DD-8F52-948A-90D5B6571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ru-GB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1648D8-7154-1E40-DC34-DF655AB7C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1702-2A34-C345-9253-5AB8A1B7154F}" type="slidenum">
              <a:rPr lang="ru-GB" smtClean="0"/>
              <a:t>25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33662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520B5-33E3-4688-7427-4EA4CFF8C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AADEC1-33BA-14A5-FB20-0FA2AFBEE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B46BDA-6EF8-4453-FE2B-DB489953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41C61C-04C8-3A65-388F-4F2B9753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BC03C0-423F-F7C9-883F-BDBCD60A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79010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1BB16-7580-4739-077E-BB99CC9CE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55DFF5-32EF-D03F-5B7E-6D8E23C06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C1DA8C-FE39-C952-F3CC-A9FF42E3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B48799-C8F3-2EBB-FE99-1047A00E9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B9BEEF-1F69-C4E3-ACFC-FC82B32D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48463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EDDF6-898B-DB0C-9732-0381178C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329555-F159-E54E-5D08-3B6CB0526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205B81-EF13-C7F1-DF80-1EC6D4A1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B4CB9E-297F-2C14-4371-6FAE3671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F4F9AB-CC3A-43B4-6DBA-C0E0BB5C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00336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7FE4A8-CA5F-7003-5DDD-81BA6C65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2332E2-9AF1-6FC1-894A-3C978F3A4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386AC2-BF83-CA96-C5A4-A0FEA9DAF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976EBD-E03C-A867-C497-50E7334C6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846BE4-E0AB-B158-DEC5-73723DC3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605CFB-D019-593B-F8D0-D07C4338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00374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0CDFB-A0EA-6218-ECE8-A729F341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F12A19-7FD8-FA49-5EE1-0FB4448A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297409-FB08-AB24-29EE-E60D7996B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90959C4-5837-6719-B574-C69D635CC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E50F0B2-27CE-DF3E-87AE-8F159F257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D260121-49C0-8CBA-A7D1-CA2B5CFB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E770B3-AF26-1528-C6FD-BF319A02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6CC060-5076-445F-8137-1AED70B0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80388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78AF0-8905-948C-7E7E-825310EE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37F5A22-E976-5E77-ECAE-766D59BE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1E213-DCBC-077A-AADC-3E2C5391C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1CAA35-0EEA-26BB-A45D-875AD164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95190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BD77733-67D4-CB47-4B15-01C01C1B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729FAE-B2F6-B070-E316-5479D6F9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924D0F-67C1-BE64-941F-2ED2290E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15113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CBF95-D36F-2AA0-BDB3-74A4FFEB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6EF272-30B5-70FF-3C73-3D42806A0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336094-667B-AEF2-91AE-FE2913F34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533D1F-6C43-6FFB-44E1-0D9F97D17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1C835E-FC51-5EC1-6CE8-0327E6DE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A0F201-9910-9044-30C9-A3ACF7D2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14763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586C2-66CC-82CB-3F49-28C9C677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14CA63-CC7C-73FA-627F-6586AD0F3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BE4B6C-41BB-959C-7B76-2E4A9C25B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A3FDB0-0291-B4A7-65D9-634C98C0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E46F4-6F27-7612-A8F3-3DFCA38B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39F88D-D913-E377-C017-F2F9A5B7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271850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623B3-EDD7-ABCB-33E9-2BB04FF99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4AD6C7-3440-075E-1E9B-02D410B0D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7F171D-7950-E6CD-61A2-92569D67C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2E750B-3DB4-C2A6-579B-B3D7EF0A3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563DAC-7E02-F8E0-E084-A3F765E4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7203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54CADB1-CF97-8633-CF47-614AA6B7E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9D9361-D6EC-D86A-EBBE-AEA30F56B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AB6AC6-17F6-52C1-6074-1705B850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1DB27E-DD1F-BE2E-978F-1B781FFA6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C07E3E-33E7-E22A-4F10-974C78FA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57333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FC13B-F838-9178-7989-9EA93617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AC58D2-33F9-CFF0-D6B3-45BEFC78B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1FA838-CD71-6DC4-402A-8335A7C01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9F56E-F629-FC40-BDDA-965E220B0194}" type="datetimeFigureOut">
              <a:rPr lang="ru-GB" smtClean="0"/>
              <a:t>13/02/2026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5A8684-A44C-4574-8873-521C6FD4A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4F0EF4-D72D-92E6-0C19-C488E2226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054DB-1B94-1742-973E-B34ACCD3DA11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25697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9BF8-0D2F-2644-E59A-B74F5847A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Предобработка данных</a:t>
            </a:r>
            <a:endParaRPr lang="ru-GB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33C932-F10E-1ACE-CE4F-B009DF7DF7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GB" dirty="0"/>
              <a:t>Семинар 4</a:t>
            </a:r>
          </a:p>
        </p:txBody>
      </p:sp>
    </p:spTree>
    <p:extLst>
      <p:ext uri="{BB962C8B-B14F-4D97-AF65-F5344CB8AC3E}">
        <p14:creationId xmlns:p14="http://schemas.microsoft.com/office/powerpoint/2010/main" val="89597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7F0E9-9BD1-F20D-22F2-C7591159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Будем курить данные*</a:t>
            </a:r>
          </a:p>
        </p:txBody>
      </p:sp>
      <p:pic>
        <p:nvPicPr>
          <p:cNvPr id="1030" name="Picture 6" descr="Создать мем &quot;макконахи курит сигарету мем, мэттью макконахи мем с сигаретой,  мэттью макконахи мем&quot; - Картинки - Meme-arsenal.com">
            <a:extLst>
              <a:ext uri="{FF2B5EF4-FFF2-40B4-BE49-F238E27FC236}">
                <a16:creationId xmlns:a16="http://schemas.microsoft.com/office/drawing/2014/main" id="{5E8291BA-1136-84FE-93F0-CF5118AC8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012" y="1914490"/>
            <a:ext cx="3270775" cy="326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Илон Маск покурил марихуану в прямом эфире и обвалил акции Tesla на 8% -  KP.RU">
            <a:extLst>
              <a:ext uri="{FF2B5EF4-FFF2-40B4-BE49-F238E27FC236}">
                <a16:creationId xmlns:a16="http://schemas.microsoft.com/office/drawing/2014/main" id="{9B689FF6-ECBF-11B6-A1A2-E7C82C18B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043" y="1588293"/>
            <a:ext cx="4321028" cy="324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Кто-нибудь знает источник этого рендера гусеницы, курящей сигарету? Я ищу  его так долго, но он до сих пор остается для меня загадкой. : r/HelpMeFind">
            <a:extLst>
              <a:ext uri="{FF2B5EF4-FFF2-40B4-BE49-F238E27FC236}">
                <a16:creationId xmlns:a16="http://schemas.microsoft.com/office/drawing/2014/main" id="{4C41F2EB-3D2D-B225-F359-3C8ABA7C0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612" y="3088471"/>
            <a:ext cx="3270775" cy="261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D8E543-F40D-18EC-D0BC-538DDED023D6}"/>
              </a:ext>
            </a:extLst>
          </p:cNvPr>
          <p:cNvSpPr txBox="1"/>
          <p:nvPr/>
        </p:nvSpPr>
        <p:spPr>
          <a:xfrm>
            <a:off x="838200" y="6226847"/>
            <a:ext cx="9660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GB" dirty="0"/>
              <a:t>*курить данные – копаться в данных</a:t>
            </a:r>
            <a:r>
              <a:rPr lang="en-US" dirty="0"/>
              <a:t>/</a:t>
            </a:r>
            <a:r>
              <a:rPr lang="ru-RU" dirty="0"/>
              <a:t>глубокое, детальное и внимательное изучение данных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172449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1B4B9-EC43-8948-817A-0EEF1A05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7A31A-A1CC-D6D2-A05A-3DDA89E4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Если что мы такое не поддерживаем</a:t>
            </a:r>
          </a:p>
        </p:txBody>
      </p:sp>
    </p:spTree>
    <p:extLst>
      <p:ext uri="{BB962C8B-B14F-4D97-AF65-F5344CB8AC3E}">
        <p14:creationId xmlns:p14="http://schemas.microsoft.com/office/powerpoint/2010/main" val="179784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483DF-A288-F79D-82E7-FC0ABDB1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3AF395-2D26-3841-9765-9E4DBFC91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Мотивация</a:t>
            </a:r>
          </a:p>
          <a:p>
            <a:r>
              <a:rPr lang="ru-RU" dirty="0"/>
              <a:t>Какие признаки бывают?</a:t>
            </a:r>
          </a:p>
          <a:p>
            <a:r>
              <a:rPr lang="ru-RU" dirty="0"/>
              <a:t>Пропущенные значения</a:t>
            </a:r>
          </a:p>
          <a:p>
            <a:r>
              <a:rPr lang="ru-RU" dirty="0"/>
              <a:t>Выбросы</a:t>
            </a:r>
          </a:p>
          <a:p>
            <a:r>
              <a:rPr lang="ru-RU" dirty="0"/>
              <a:t>Обработка категориальных фичей</a:t>
            </a:r>
          </a:p>
          <a:p>
            <a:r>
              <a:rPr lang="ru-RU" dirty="0"/>
              <a:t>Обработка числовых фичей</a:t>
            </a:r>
          </a:p>
          <a:p>
            <a:r>
              <a:rPr lang="ru-RU" dirty="0"/>
              <a:t>Нормализация</a:t>
            </a:r>
          </a:p>
          <a:p>
            <a:r>
              <a:rPr lang="ru-RU" dirty="0"/>
              <a:t>Чуть </a:t>
            </a:r>
            <a:r>
              <a:rPr lang="en-US" dirty="0"/>
              <a:t>NLP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89740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9FB20-693C-95B1-F28A-A7749582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79B4D-5943-2DA4-1511-9B1D0E40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Мотивация</a:t>
            </a:r>
            <a:endParaRPr lang="ru-GB" b="1" dirty="0"/>
          </a:p>
        </p:txBody>
      </p:sp>
      <p:pic>
        <p:nvPicPr>
          <p:cNvPr id="5122" name="Picture 2" descr="What are the most critical skills for a data scientist? – Data Quality  Matters">
            <a:extLst>
              <a:ext uri="{FF2B5EF4-FFF2-40B4-BE49-F238E27FC236}">
                <a16:creationId xmlns:a16="http://schemas.microsoft.com/office/drawing/2014/main" id="{F19D9B8A-20A1-A60F-5E87-A0500FE19C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3177"/>
            <a:ext cx="9400674" cy="399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28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7E35-28F8-4B13-FB69-00882B4F7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CDEE2-9F82-D6E7-5E46-66BC7E84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Мотивация</a:t>
            </a:r>
            <a:endParaRPr lang="ru-GB" b="1" dirty="0"/>
          </a:p>
        </p:txBody>
      </p:sp>
      <p:pic>
        <p:nvPicPr>
          <p:cNvPr id="5" name="Объект 4" descr="Изображение выглядит как Контейнер для отходов, Локализация отходов, Мусорная корзина, корз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D241BE8-0C90-A275-3DF0-90D54C24D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9956800" cy="4318000"/>
          </a:xfrm>
        </p:spPr>
      </p:pic>
    </p:spTree>
    <p:extLst>
      <p:ext uri="{BB962C8B-B14F-4D97-AF65-F5344CB8AC3E}">
        <p14:creationId xmlns:p14="http://schemas.microsoft.com/office/powerpoint/2010/main" val="2204088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48D0-5FE8-ACBD-9F79-0FDA0283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2BF7C-9252-1C4B-8B0F-4A93A468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Какие признаки бывают?</a:t>
            </a:r>
            <a:endParaRPr lang="ru-GB" b="1" dirty="0"/>
          </a:p>
        </p:txBody>
      </p:sp>
      <p:pic>
        <p:nvPicPr>
          <p:cNvPr id="3078" name="Picture 6" descr="Ваш выход — Chevrolet Niva (1G), 1,7 л, 2004 года | тюнинг | DRIVE2">
            <a:extLst>
              <a:ext uri="{FF2B5EF4-FFF2-40B4-BE49-F238E27FC236}">
                <a16:creationId xmlns:a16="http://schemas.microsoft.com/office/drawing/2014/main" id="{66F740E7-AD6B-7B68-A174-D4747D428D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286794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562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0E64-99F8-4A49-DA94-E2184946E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8D40FE-CC0E-5D09-1F82-644C7F04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Какие признаки бывают?</a:t>
            </a:r>
            <a:endParaRPr lang="ru-GB" b="1" dirty="0"/>
          </a:p>
        </p:txBody>
      </p:sp>
      <p:pic>
        <p:nvPicPr>
          <p:cNvPr id="7" name="Объект 6" descr="Изображение выглядит как текст, снимок экрана, Шрифт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B49C3D3-D228-687E-4855-91C483F3A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10287000" cy="1612900"/>
          </a:xfrm>
        </p:spPr>
      </p:pic>
    </p:spTree>
    <p:extLst>
      <p:ext uri="{BB962C8B-B14F-4D97-AF65-F5344CB8AC3E}">
        <p14:creationId xmlns:p14="http://schemas.microsoft.com/office/powerpoint/2010/main" val="1224898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9DC1-FFC2-A8C6-829C-0DF070F6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, че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395C434-B1EA-7B92-6628-B3AA12A5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690688"/>
            <a:ext cx="10658087" cy="35921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7F6E1-C754-5381-4C20-003F6007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Какие признаки бывают?</a:t>
            </a:r>
            <a:endParaRPr lang="ru-GB" b="1" dirty="0"/>
          </a:p>
        </p:txBody>
      </p:sp>
    </p:spTree>
    <p:extLst>
      <p:ext uri="{BB962C8B-B14F-4D97-AF65-F5344CB8AC3E}">
        <p14:creationId xmlns:p14="http://schemas.microsoft.com/office/powerpoint/2010/main" val="4035769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6A00-4784-27D3-1DF5-B619F4069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2FDF9-C31D-8F0E-C3DD-CA1C0194E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Пропущенные значения</a:t>
            </a:r>
          </a:p>
        </p:txBody>
      </p:sp>
      <p:pic>
        <p:nvPicPr>
          <p:cNvPr id="4" name="Объект 3" descr="Изображение выглядит как текст, Шрифт, снимок экрана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3394BBB-964A-8622-6C7D-BF5FFE74D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10109200" cy="1943100"/>
          </a:xfrm>
        </p:spPr>
      </p:pic>
    </p:spTree>
    <p:extLst>
      <p:ext uri="{BB962C8B-B14F-4D97-AF65-F5344CB8AC3E}">
        <p14:creationId xmlns:p14="http://schemas.microsoft.com/office/powerpoint/2010/main" val="1220344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916F-BD57-7AAB-A0E2-453B2C01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CB75DAB-184D-97F4-B5CC-15E019CACF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1"/>
          <a:stretch/>
        </p:blipFill>
        <p:spPr>
          <a:xfrm>
            <a:off x="838200" y="1732599"/>
            <a:ext cx="10515600" cy="418275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0F846-8067-BC7C-D058-4D5CD8B7F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Пропущенные значения</a:t>
            </a:r>
          </a:p>
        </p:txBody>
      </p:sp>
    </p:spTree>
    <p:extLst>
      <p:ext uri="{BB962C8B-B14F-4D97-AF65-F5344CB8AC3E}">
        <p14:creationId xmlns:p14="http://schemas.microsoft.com/office/powerpoint/2010/main" val="811693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D83BC-67A9-6EDA-53FA-87EEB9E72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4FC-DAC7-38D2-C838-C95BEBB8D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Пропущенные значения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7373D22-FA62-4AAE-B85B-D3E537074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</a:t>
            </a:r>
            <a:r>
              <a:rPr lang="en-US" dirty="0"/>
              <a:t>&gt; </a:t>
            </a:r>
            <a:r>
              <a:rPr lang="ru-RU" dirty="0"/>
              <a:t>ноутбук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3446100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D0D63-9BAD-AFCF-F67B-91B1C8ED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Выбросы</a:t>
            </a:r>
            <a:endParaRPr lang="ru-GB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9AEEA8-6F1A-E6C3-6904-00F42218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-&gt; </a:t>
            </a:r>
            <a:r>
              <a:rPr lang="ru-RU" dirty="0"/>
              <a:t>ноутбук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4094999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83E50-92F6-8A77-82E5-C82F7330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EEC2C-58AB-8F4B-4DCC-3389E071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Обработка категориальных фичей</a:t>
            </a:r>
            <a:endParaRPr lang="ru-GB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677984-B907-CE68-76BA-BCCB2A8C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3"/>
            <a:ext cx="3318164" cy="7513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Label Encoding</a:t>
            </a: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GB" b="1" dirty="0"/>
          </a:p>
        </p:txBody>
      </p:sp>
      <p:pic>
        <p:nvPicPr>
          <p:cNvPr id="5" name="Рисунок 4" descr="Изображение выглядит как текст, снимок экрана, диаграмма, Прямоуголь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2C652BD-D30B-B092-E3CB-57A858F0D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9722"/>
            <a:ext cx="51943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49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8718F-E5AD-C61F-D0E0-CB36AA30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1E9614-A69F-4DB0-BFD1-0E819C4D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Обработка категориальных фичей</a:t>
            </a:r>
            <a:endParaRPr lang="ru-GB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E32023-6071-CFCF-B1D2-C3274A899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3"/>
            <a:ext cx="3318164" cy="7513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Label Encoding</a:t>
            </a: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GB" b="1" dirty="0"/>
          </a:p>
        </p:txBody>
      </p:sp>
      <p:pic>
        <p:nvPicPr>
          <p:cNvPr id="6" name="Рисунок 5" descr="Изображение выглядит как текст, снимок экрана, диаграмма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D43C11E-6513-A1FC-FED3-47077C710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73275"/>
            <a:ext cx="76073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30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31589-BF1E-88F2-BD9F-EC6636063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3CBC66-03E6-6175-D2D9-9D2C4BF1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Обработка категориальных фичей</a:t>
            </a:r>
            <a:endParaRPr lang="ru-GB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314793-BF96-5EB8-B8A1-D4C9DDCEE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3"/>
            <a:ext cx="3318164" cy="7513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Label Encoding</a:t>
            </a: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GB" b="1" dirty="0"/>
          </a:p>
        </p:txBody>
      </p:sp>
      <p:pic>
        <p:nvPicPr>
          <p:cNvPr id="6" name="Рисунок 5" descr="Изображение выглядит как текст, снимок экрана, диаграмма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7F38719-7BAE-3DAD-88DE-0FCF0F66D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73275"/>
            <a:ext cx="7607300" cy="441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D2B6D0-3CE6-C5E7-A260-814E80AC2E19}"/>
              </a:ext>
            </a:extLst>
          </p:cNvPr>
          <p:cNvSpPr txBox="1"/>
          <p:nvPr/>
        </p:nvSpPr>
        <p:spPr>
          <a:xfrm>
            <a:off x="8286750" y="2676667"/>
            <a:ext cx="3745923" cy="1812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Какие проблемы?</a:t>
            </a:r>
          </a:p>
          <a:p>
            <a:endParaRPr lang="ru-RU" dirty="0"/>
          </a:p>
          <a:p>
            <a:r>
              <a:rPr lang="ru-RU" dirty="0"/>
              <a:t>Появляется порядок и неизвестно как отразится на итоговом обучении (модель будет искать зависимость)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702371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918BF-6DBF-9714-E0EF-7A3A2A7C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406BB-1035-41D5-BC1F-6991B2A4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Обработка категориальных фичей</a:t>
            </a:r>
            <a:endParaRPr lang="ru-GB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860B9-650F-AEDC-62C9-4ABBF9C8E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3"/>
            <a:ext cx="3318164" cy="7513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One Hot Encoding</a:t>
            </a:r>
            <a:endParaRPr lang="ru-RU" b="1" dirty="0"/>
          </a:p>
          <a:p>
            <a:pPr marL="0" indent="0">
              <a:buNone/>
            </a:pPr>
            <a:endParaRPr lang="ru-GB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F997E1-D505-BE06-3AB9-C6A1B760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33927"/>
            <a:ext cx="8430491" cy="2380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5414FD-576B-57CF-C3FD-A326AED491A1}"/>
              </a:ext>
            </a:extLst>
          </p:cNvPr>
          <p:cNvSpPr txBox="1"/>
          <p:nvPr/>
        </p:nvSpPr>
        <p:spPr>
          <a:xfrm>
            <a:off x="838199" y="4976336"/>
            <a:ext cx="1051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GB" b="1" dirty="0"/>
              <a:t>Но есть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162734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14E5B-87C3-6DB9-EC72-68E91723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8B605-4CA3-55D5-A12C-53A7BEC04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Обработка категориальных фичей</a:t>
            </a:r>
            <a:endParaRPr lang="ru-GB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693F81-5ACE-70F9-1753-2BD6398F3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3"/>
            <a:ext cx="3318164" cy="7513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One Hot Encoding</a:t>
            </a:r>
            <a:endParaRPr lang="ru-RU" b="1" dirty="0"/>
          </a:p>
          <a:p>
            <a:pPr marL="0" indent="0">
              <a:buNone/>
            </a:pPr>
            <a:endParaRPr lang="ru-GB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24490D-8F46-907D-B5BB-0554F5634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33927"/>
            <a:ext cx="8160327" cy="2304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65D08-7C40-F5EC-EE30-32EA8768B1B4}"/>
              </a:ext>
            </a:extLst>
          </p:cNvPr>
          <p:cNvSpPr txBox="1"/>
          <p:nvPr/>
        </p:nvSpPr>
        <p:spPr>
          <a:xfrm>
            <a:off x="838199" y="4976336"/>
            <a:ext cx="10515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GB" b="1" dirty="0"/>
              <a:t>Но есть проблемы</a:t>
            </a:r>
          </a:p>
          <a:p>
            <a:r>
              <a:rPr lang="ru-RU" dirty="0"/>
              <a:t>- Если в новых данных появятся новые категории, то мы не сможем передать информацию о них модели.</a:t>
            </a:r>
            <a:br>
              <a:rPr lang="ru-RU" dirty="0"/>
            </a:br>
            <a:r>
              <a:rPr lang="ru-RU" dirty="0"/>
              <a:t>- Необходимо много мощностей для обучения</a:t>
            </a:r>
            <a:r>
              <a:rPr lang="en-US" dirty="0"/>
              <a:t>/</a:t>
            </a:r>
            <a:r>
              <a:rPr lang="ru-RU" dirty="0" err="1"/>
              <a:t>инференса</a:t>
            </a:r>
            <a:endParaRPr lang="ru-RU" dirty="0"/>
          </a:p>
          <a:p>
            <a:r>
              <a:rPr lang="ru-RU" dirty="0"/>
              <a:t>- Линейная зависимость (</a:t>
            </a:r>
            <a:r>
              <a:rPr lang="ru-RU" dirty="0" err="1"/>
              <a:t>Мультиколлинеарность</a:t>
            </a:r>
            <a:r>
              <a:rPr lang="ru-RU" dirty="0"/>
              <a:t>)</a:t>
            </a:r>
            <a:r>
              <a:rPr lang="en-US" dirty="0"/>
              <a:t> -&gt;</a:t>
            </a:r>
            <a:r>
              <a:rPr lang="ru-GB" dirty="0"/>
              <a:t> нет решения лин рег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4314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E1FF6-3CFE-9A29-18C7-054EED96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3D461-1C1B-D1AA-F7A7-3BC7DF1E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Обработка категориальных фичей</a:t>
            </a:r>
            <a:endParaRPr lang="ru-GB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C84868-2CEC-D88C-6643-7F9EF61C7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3"/>
            <a:ext cx="3318164" cy="7513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Target encoding</a:t>
            </a:r>
            <a:endParaRPr lang="ru-GB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FFD44C-51FA-C694-C476-0741D2C98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94" y="2348345"/>
            <a:ext cx="5182506" cy="3900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5C6B99-0A40-D04A-B8D8-51E3CF627617}"/>
              </a:ext>
            </a:extLst>
          </p:cNvPr>
          <p:cNvSpPr txBox="1"/>
          <p:nvPr/>
        </p:nvSpPr>
        <p:spPr>
          <a:xfrm>
            <a:off x="6961909" y="2410691"/>
            <a:ext cx="4211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каждой категории мы считаем среднее значение </a:t>
            </a:r>
            <a:r>
              <a:rPr lang="ru-RU" dirty="0" err="1"/>
              <a:t>таргета</a:t>
            </a:r>
            <a:r>
              <a:rPr lang="ru-RU" dirty="0"/>
              <a:t> и кодируем категорию этим числом. 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3864623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3DE5B-A594-EEBB-1803-0E014101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9D173-8E47-4461-4931-E6E27589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Обработка числовых фичей</a:t>
            </a:r>
            <a:endParaRPr lang="ru-GB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A9DB71-50AF-797D-BCD5-4420428FC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3"/>
            <a:ext cx="3318164" cy="7513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Бинаризация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-&gt;</a:t>
            </a:r>
            <a:r>
              <a:rPr lang="ru-RU" dirty="0"/>
              <a:t>ноутбук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1759110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06CBC-5393-5D87-C5AC-B5B505F1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C9EB1-E4A2-F790-A683-A813B233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Нормализация</a:t>
            </a:r>
            <a:endParaRPr lang="ru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830A53-1CE1-910A-1A85-D30083AC7207}"/>
              </a:ext>
            </a:extLst>
          </p:cNvPr>
          <p:cNvSpPr txBox="1"/>
          <p:nvPr/>
        </p:nvSpPr>
        <p:spPr>
          <a:xfrm>
            <a:off x="838200" y="1690688"/>
            <a:ext cx="2672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Зачем она нужна?</a:t>
            </a:r>
            <a:endParaRPr lang="ru-GB" sz="2000" b="1" dirty="0"/>
          </a:p>
        </p:txBody>
      </p:sp>
    </p:spTree>
    <p:extLst>
      <p:ext uri="{BB962C8B-B14F-4D97-AF65-F5344CB8AC3E}">
        <p14:creationId xmlns:p14="http://schemas.microsoft.com/office/powerpoint/2010/main" val="4257670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6FE5-9A3A-49FA-A5E8-A2251E20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21A5B-3CB5-F3CC-C84A-13432C51DDA1}"/>
              </a:ext>
            </a:extLst>
          </p:cNvPr>
          <p:cNvSpPr txBox="1"/>
          <p:nvPr/>
        </p:nvSpPr>
        <p:spPr>
          <a:xfrm>
            <a:off x="838199" y="1690688"/>
            <a:ext cx="10908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Зачем она нужна?</a:t>
            </a:r>
          </a:p>
          <a:p>
            <a:endParaRPr lang="ru-RU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Повышает устойчивость к выбросам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Алгоритмы, основанные на расстояниях (</a:t>
            </a:r>
            <a:r>
              <a:rPr lang="en-US" sz="2000" dirty="0"/>
              <a:t>KNN, K-Means, SVM, PCA),</a:t>
            </a:r>
            <a:r>
              <a:rPr lang="ru-RU" sz="2000" dirty="0"/>
              <a:t> которые</a:t>
            </a:r>
            <a:r>
              <a:rPr lang="en-US" sz="2000" dirty="0"/>
              <a:t> </a:t>
            </a:r>
            <a:r>
              <a:rPr lang="ru-RU" sz="2000" dirty="0"/>
              <a:t>вычисляют евклидово расстояние, проигнорирует признаки с маленькими значениями.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Нормализация позволяет честно сравнивать коэффициенты между собой</a:t>
            </a:r>
            <a:br>
              <a:rPr lang="en-US" sz="2000" dirty="0"/>
            </a:br>
            <a:r>
              <a:rPr lang="ru-RU" sz="2000" dirty="0"/>
              <a:t>Нормализация делает регуляризацию корректной.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88322-9F7C-5F85-E5A8-7ED2BEC4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Нормализация</a:t>
            </a:r>
            <a:endParaRPr lang="ru-GB" b="1" dirty="0"/>
          </a:p>
        </p:txBody>
      </p:sp>
    </p:spTree>
    <p:extLst>
      <p:ext uri="{BB962C8B-B14F-4D97-AF65-F5344CB8AC3E}">
        <p14:creationId xmlns:p14="http://schemas.microsoft.com/office/powerpoint/2010/main" val="1946567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5E944-20BC-851E-4608-21B32D6D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665AEA-62A0-FDD7-2FC1-E02FE00565D0}"/>
              </a:ext>
            </a:extLst>
          </p:cNvPr>
          <p:cNvSpPr txBox="1"/>
          <p:nvPr/>
        </p:nvSpPr>
        <p:spPr>
          <a:xfrm>
            <a:off x="838199" y="1690688"/>
            <a:ext cx="10908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-&gt; </a:t>
            </a:r>
            <a:r>
              <a:rPr lang="ru-RU" sz="2000" b="1" dirty="0"/>
              <a:t>ноутбук</a:t>
            </a:r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72089-6416-A0D8-C2D7-0325BA98B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Нормализация</a:t>
            </a:r>
            <a:endParaRPr lang="ru-GB" b="1" dirty="0"/>
          </a:p>
        </p:txBody>
      </p:sp>
    </p:spTree>
    <p:extLst>
      <p:ext uri="{BB962C8B-B14F-4D97-AF65-F5344CB8AC3E}">
        <p14:creationId xmlns:p14="http://schemas.microsoft.com/office/powerpoint/2010/main" val="666452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7EFE-BD12-FF14-72AC-91543578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416E8-2A70-FB81-0147-C1762DADFCAA}"/>
              </a:ext>
            </a:extLst>
          </p:cNvPr>
          <p:cNvSpPr txBox="1"/>
          <p:nvPr/>
        </p:nvSpPr>
        <p:spPr>
          <a:xfrm>
            <a:off x="838199" y="1690688"/>
            <a:ext cx="10908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-&gt; </a:t>
            </a:r>
            <a:r>
              <a:rPr lang="ru-RU" sz="2000" b="1" dirty="0"/>
              <a:t>ноутбук</a:t>
            </a:r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97245-0D04-96C5-6CC5-6C7C3FE62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Чуть </a:t>
            </a:r>
            <a:r>
              <a:rPr lang="en-US" b="1" dirty="0"/>
              <a:t>NLP</a:t>
            </a:r>
          </a:p>
        </p:txBody>
      </p:sp>
      <p:pic>
        <p:nvPicPr>
          <p:cNvPr id="1026" name="Picture 2" descr="Исцеление с помощью НЛП - Институт Инновационных Психотехнологий (ИИП)">
            <a:extLst>
              <a:ext uri="{FF2B5EF4-FFF2-40B4-BE49-F238E27FC236}">
                <a16:creationId xmlns:a16="http://schemas.microsoft.com/office/drawing/2014/main" id="{5D119AD4-C050-2C82-97B2-6716BBB88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692" y="1027906"/>
            <a:ext cx="2747108" cy="432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700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DBEF9-A6DA-0B7C-6E2F-1D3931944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2D0290-6D45-C15C-8985-E693406F4A48}"/>
              </a:ext>
            </a:extLst>
          </p:cNvPr>
          <p:cNvSpPr txBox="1"/>
          <p:nvPr/>
        </p:nvSpPr>
        <p:spPr>
          <a:xfrm>
            <a:off x="838199" y="1690688"/>
            <a:ext cx="10908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-&gt; </a:t>
            </a:r>
            <a:r>
              <a:rPr lang="ru-RU" sz="2000" b="1" dirty="0"/>
              <a:t>ноутбук</a:t>
            </a:r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BC3B3-A060-C4FF-8F43-F81A8DA2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Чуть </a:t>
            </a:r>
            <a:r>
              <a:rPr lang="en-US" b="1" dirty="0"/>
              <a:t>NLP</a:t>
            </a:r>
          </a:p>
        </p:txBody>
      </p:sp>
      <p:pic>
        <p:nvPicPr>
          <p:cNvPr id="1026" name="Picture 2" descr="Исцеление с помощью НЛП - Институт Инновационных Психотехнологий (ИИП)">
            <a:extLst>
              <a:ext uri="{FF2B5EF4-FFF2-40B4-BE49-F238E27FC236}">
                <a16:creationId xmlns:a16="http://schemas.microsoft.com/office/drawing/2014/main" id="{33883BBD-588B-D0A0-EFE3-5B74065A5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692" y="1027906"/>
            <a:ext cx="2747108" cy="432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 descr="Изображение выглядит как текст, Шрифт, снимок экрана, че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77E42AE-DF77-66A0-9FB8-E25FF4FB6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92" y="2353469"/>
            <a:ext cx="7772400" cy="314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328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10001</TotalTime>
  <Words>656</Words>
  <Application>Microsoft Macintosh PowerPoint</Application>
  <PresentationFormat>Широкоэкранный</PresentationFormat>
  <Paragraphs>106</Paragraphs>
  <Slides>25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quote-cjk-patch</vt:lpstr>
      <vt:lpstr>Roboto</vt:lpstr>
      <vt:lpstr>Тема Office</vt:lpstr>
      <vt:lpstr>Предобработка данных</vt:lpstr>
      <vt:lpstr>Будем курить данные*</vt:lpstr>
      <vt:lpstr>Если что мы такое не поддерживаем</vt:lpstr>
      <vt:lpstr>План</vt:lpstr>
      <vt:lpstr>Мотивация</vt:lpstr>
      <vt:lpstr>Мотивация</vt:lpstr>
      <vt:lpstr>Какие признаки бывают?</vt:lpstr>
      <vt:lpstr>Какие признаки бывают?</vt:lpstr>
      <vt:lpstr>Какие признаки бывают?</vt:lpstr>
      <vt:lpstr>Пропущенные значения</vt:lpstr>
      <vt:lpstr>Пропущенные значения</vt:lpstr>
      <vt:lpstr>Пропущенные значения</vt:lpstr>
      <vt:lpstr>Выбросы</vt:lpstr>
      <vt:lpstr>Обработка категориальных фичей</vt:lpstr>
      <vt:lpstr>Обработка категориальных фичей</vt:lpstr>
      <vt:lpstr>Обработка категориальных фичей</vt:lpstr>
      <vt:lpstr>Обработка категориальных фичей</vt:lpstr>
      <vt:lpstr>Обработка категориальных фичей</vt:lpstr>
      <vt:lpstr>Обработка категориальных фичей</vt:lpstr>
      <vt:lpstr>Обработка числовых фичей</vt:lpstr>
      <vt:lpstr>Нормализация</vt:lpstr>
      <vt:lpstr>Нормализация</vt:lpstr>
      <vt:lpstr>Нормализация</vt:lpstr>
      <vt:lpstr>Чуть NLP</vt:lpstr>
      <vt:lpstr>Чуть NLP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c77904</dc:creator>
  <cp:lastModifiedBy>c77904</cp:lastModifiedBy>
  <cp:revision>2</cp:revision>
  <dcterms:created xsi:type="dcterms:W3CDTF">2026-02-12T22:17:24Z</dcterms:created>
  <dcterms:modified xsi:type="dcterms:W3CDTF">2026-02-19T21:10:12Z</dcterms:modified>
</cp:coreProperties>
</file>