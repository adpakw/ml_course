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3" r:id="rId18"/>
    <p:sldId id="27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86425"/>
  </p:normalViewPr>
  <p:slideViewPr>
    <p:cSldViewPr snapToGrid="0">
      <p:cViewPr varScale="1">
        <p:scale>
          <a:sx n="98" d="100"/>
          <a:sy n="98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6F35B-EBEE-D944-BFD6-F60837496E30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DE5B3-C2EE-8E44-8368-6FF2F83646BB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271208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F9FAFB"/>
                </a:solidFill>
                <a:effectLst/>
                <a:latin typeface="quote-cjk-patch"/>
              </a:rPr>
              <a:t>Взвешенная сумма признаков</a:t>
            </a:r>
          </a:p>
          <a:p>
            <a:endParaRPr lang="ru-RU" b="0" i="0" u="none" strike="noStrike" dirty="0">
              <a:solidFill>
                <a:srgbClr val="F9FAFB"/>
              </a:solidFill>
              <a:effectLst/>
              <a:latin typeface="quote-cjk-patch"/>
            </a:endParaRPr>
          </a:p>
          <a:p>
            <a:endParaRPr lang="ru-RU" b="0" i="0" u="none" strike="noStrike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dirty="0"/>
              <a:t>В реальных данных всегда есть шум. Представьте, что в обучающей выборке случайно оказалась точка с выбросом:</a:t>
            </a:r>
          </a:p>
          <a:p>
            <a:endParaRPr lang="ru-RU" dirty="0"/>
          </a:p>
          <a:p>
            <a:r>
              <a:rPr lang="ru-RU" dirty="0"/>
              <a:t>Нормальная точка: </a:t>
            </a:r>
            <a:r>
              <a:rPr lang="en-US" dirty="0"/>
              <a:t>x=5, </a:t>
            </a:r>
            <a:r>
              <a:rPr lang="ru-RU" dirty="0"/>
              <a:t>истинное значение </a:t>
            </a:r>
            <a:r>
              <a:rPr lang="en-US" dirty="0"/>
              <a:t>y=10</a:t>
            </a:r>
          </a:p>
          <a:p>
            <a:r>
              <a:rPr lang="ru-RU" dirty="0"/>
              <a:t>Выброс: </a:t>
            </a:r>
            <a:r>
              <a:rPr lang="en-US" dirty="0"/>
              <a:t>x=5, </a:t>
            </a:r>
            <a:r>
              <a:rPr lang="ru-RU" dirty="0"/>
              <a:t>но из-за ошибки измерения </a:t>
            </a:r>
            <a:r>
              <a:rPr lang="en-US" dirty="0"/>
              <a:t>y=15</a:t>
            </a:r>
          </a:p>
          <a:p>
            <a:endParaRPr lang="en-US" dirty="0"/>
          </a:p>
          <a:p>
            <a:r>
              <a:rPr lang="ru-RU" dirty="0"/>
              <a:t>Чтобы идеально предсказать этот выброс, модели придется</a:t>
            </a:r>
            <a:r>
              <a:rPr lang="en-US" dirty="0"/>
              <a:t> </a:t>
            </a:r>
            <a:r>
              <a:rPr lang="ru-RU" dirty="0"/>
              <a:t>создать огромный вес для какого-то признака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8164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4ABE-087C-3F08-5C83-180C10FF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0A69F7D-FCDB-D491-4D65-BA6E14043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CCE10EC-1954-BF23-053F-AC97C7D1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C1E199-6111-9E3A-176B-13CC602B5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35125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5159-A010-FE55-D357-8D135C82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13954C-B32C-2874-D08A-83AA1262F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B0A4D7-7A9F-75D6-E4E4-489945B3C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102F15-063B-B48B-1C29-B456C3CB1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860684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8E3F-E86E-93CC-B3DB-9AAE49EC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396DE2-1E09-9277-68A1-17EFE808A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DA7317-C1D1-BDA7-4A0D-EBC390B3D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8B24D5-55AC-028E-77C5-838CEBFDE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94580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858C-9F8F-DF4A-B9CC-858D7651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018E12-8F34-2F18-C468-7B244E273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D2BDA2-415F-6FD2-A30C-DDCFBB716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FCA744-CDC8-1FE4-07C3-E41A7B843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848136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8BBE2-B98C-489C-AF49-E25CAFAEB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F17B0F-1D27-DCA4-5023-C847AFC96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031CE19-52D1-E5B6-0717-D60207C38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7BC7E6-1AAB-595E-FB24-5A5013998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57412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AC3F-062E-E788-607A-9EAAFC3D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D4BDB6-9A34-3D25-79E4-E5CDDDF8E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456E68-2FCC-6083-E2DA-3C327E7EB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F8DF6E-DC01-048D-89E3-F1C8E8D2B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02719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A8AB-C3EB-9220-1918-08316336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3A0B1E3-D2F9-5334-AD84-3BFA2B1E0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EC0286-ADF0-D1AB-CC96-F62B90DEC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E9E271-7667-39D8-64C6-3ACD46F31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28178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715C-E242-77BB-B778-B4309D2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44E15D-BA10-3CB1-9464-BB32C6FA1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1A696A1-0059-BCE8-B5B3-F2E921DD4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C70EEB-EFAC-1946-E81B-816979CE5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4184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F037-22B3-CC20-B825-BDD26FA1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C4BBAE-D026-E810-9379-66475AF05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92FC06-9626-B6F6-A00C-7367A1EA0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предыдущем уроке нам удалось ускорить градиентный спуск за счет использования </a:t>
            </a:r>
            <a:r>
              <a:rPr lang="en-US" dirty="0"/>
              <a:t>mini-batch </a:t>
            </a:r>
            <a:r>
              <a:rPr lang="ru-RU" dirty="0"/>
              <a:t>версии метода (</a:t>
            </a:r>
            <a:r>
              <a:rPr lang="en-US" dirty="0"/>
              <a:t>SGD</a:t>
            </a:r>
            <a:r>
              <a:rPr lang="ru-RU" dirty="0"/>
              <a:t>). Однако у метода все еще есть несколько значительных проблем: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512DF9-BAA5-F293-9ED8-F116FEF30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046393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0F7E-108F-2749-C2A4-EA41B453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F1F24C-4487-0D20-11D5-25D87A99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A9320B-DC73-48F4-93EB-3DC220AC4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то есть по некоторым весам метод может быстро двигаться к минимуму, а по некоторым - медленно, и из-за этого сложно или даже невозможно подобрать хороший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learning rate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1F8560-3BDB-D6E2-F58F-F853ED31E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118387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BF0D-5DB1-7B4F-C88D-6F96D827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1EB601-BF39-A9D1-6611-8D63F1166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0CF182-1DD5-AE97-57F9-8BFD59FC6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Для решения проблемы застревания в локальных минимумах используется принцип момента (инерции):</a:t>
            </a:r>
            <a:endParaRPr lang="en-US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endParaRPr lang="en-US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r>
              <a:rPr lang="ru-RU" dirty="0"/>
              <a:t>Может оказаться, что направление антиградиента сильно меняется от шага к шагу.</a:t>
            </a:r>
          </a:p>
          <a:p>
            <a:r>
              <a:rPr lang="ru-RU" dirty="0"/>
              <a:t>Например, если линии уровня функционала сильно вытянуты, то из-за ортогональности градиента линиям уровня</a:t>
            </a:r>
            <a:r>
              <a:rPr lang="en-US" dirty="0"/>
              <a:t> </a:t>
            </a:r>
            <a:r>
              <a:rPr lang="ru-RU" dirty="0"/>
              <a:t>он будет менять направление на почти противоположное на каждом шаге.</a:t>
            </a:r>
          </a:p>
          <a:p>
            <a:r>
              <a:rPr lang="ru-RU" dirty="0"/>
              <a:t>Такие осцилляции будут вносить сильный шум в движение, и процесс оптимизации займёт много итераций.</a:t>
            </a:r>
          </a:p>
          <a:p>
            <a:r>
              <a:rPr lang="ru-RU" dirty="0"/>
              <a:t>Чтобы избежать этого, можно усреднять векторы антиградиента с нескольких предыдущих шагов в этом</a:t>
            </a:r>
            <a:r>
              <a:rPr lang="en-US" dirty="0"/>
              <a:t> </a:t>
            </a:r>
            <a:r>
              <a:rPr lang="ru-RU" dirty="0"/>
              <a:t>случае шум уменьшится, и такой средний вектор будет указывать в сторону общего направления движения.</a:t>
            </a:r>
          </a:p>
          <a:p>
            <a:r>
              <a:rPr lang="ru-RU" dirty="0"/>
              <a:t>Введём для этого вектор инерции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GB" dirty="0"/>
              <a:t>alpha параметр метода, определяющей скорость затухания градиентов с предыдущих шагов</a:t>
            </a:r>
          </a:p>
          <a:p>
            <a:endParaRPr lang="ru-GB" dirty="0"/>
          </a:p>
          <a:p>
            <a:r>
              <a:rPr lang="ru-RU" dirty="0"/>
              <a:t>Заметим, что если по какой-то координате градиент постоянно меняет знак, то в результате усреднения</a:t>
            </a:r>
          </a:p>
          <a:p>
            <a:r>
              <a:rPr lang="ru-RU" dirty="0"/>
              <a:t>градиентов в векторе инерции эта координата окажется близкой к нулю.</a:t>
            </a:r>
          </a:p>
          <a:p>
            <a:r>
              <a:rPr lang="ru-RU" dirty="0"/>
              <a:t>Если же по координате знак градиента всегда одинаковый, то величина соответствующей координаты</a:t>
            </a:r>
          </a:p>
          <a:p>
            <a:r>
              <a:rPr lang="ru-RU" dirty="0"/>
              <a:t>в векторе инерции будет большой, и мы будем делать большие шаги в соответствующем направлении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224875-6469-B9F9-C38F-48600494E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617319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2F44-857A-CFAC-A825-139C077E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E19E50-7F0E-1B15-8A62-CE6D96BDE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70642-8732-B290-B439-54F13E6B6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CD8DF6-D924-8986-4510-E09710B71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35978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B6F1-5203-FF74-8532-836BB00D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A0D401-099E-76E5-F603-76F672F3A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BD9BAE-E1BE-238B-01CE-5640C7EE7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все равно делаем шаг (</a:t>
            </a:r>
            <a:r>
              <a:rPr lang="en-US" dirty="0"/>
              <a:t>momentum step</a:t>
            </a:r>
            <a:r>
              <a:rPr lang="ru-RU" dirty="0"/>
              <a:t>), тогда можно считать градиент в точке после </a:t>
            </a:r>
            <a:r>
              <a:rPr lang="en-US" dirty="0"/>
              <a:t>momentum step</a:t>
            </a:r>
            <a:r>
              <a:rPr lang="ru-RU" dirty="0"/>
              <a:t>. 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B4A205-9A03-94F9-6C3C-5A8A32CB6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547075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CF21D-B9A5-3EF0-B8A5-F537C8C4A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FF8A35-09E8-E1A0-C0FB-F16049017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F8C746-8AEF-99F9-0310-043B4F920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проблему застревания в локальных минимумах теоретически удалось решить. Осталась проблема разной скорости сходимости по каждому весу (по каждой координате).</a:t>
            </a:r>
          </a:p>
          <a:p>
            <a:endParaRPr lang="ru-RU" dirty="0"/>
          </a:p>
          <a:p>
            <a:r>
              <a:rPr lang="ru-RU" dirty="0"/>
              <a:t>В качестве решения проблемы предлагается подбирать градиентный шаг для каждой координаты в отдельности с той идеей, что если мы быстро двигаемся к минимуму по некоторому весу, то градиентный шаг должен сильно уменьшаться, а при медленном движении к минимуму и шаг должен уменьшаться медленно.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Посчитаем для каждого веса сумму квадратов скоростей сдвигов по координате</a:t>
            </a:r>
            <a:r>
              <a:rPr lang="en-US" dirty="0"/>
              <a:t> </a:t>
            </a:r>
            <a:r>
              <a:rPr lang="ru-RU" dirty="0"/>
              <a:t>к текущему моменту </a:t>
            </a:r>
            <a:r>
              <a:rPr lang="en-US" dirty="0"/>
              <a:t>t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pPr algn="l" rtl="0"/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Формулы интерпретируются следующим образом: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чем больше мы на предыдущих итерациях сдвигались по какой-то координате (чем больше величина </a:t>
            </a:r>
            <a:r>
              <a:rPr lang="en-US" b="0" i="0" dirty="0">
                <a:solidFill>
                  <a:srgbClr val="222222"/>
                </a:solidFill>
                <a:effectLst/>
                <a:latin typeface="KaTeX_Main"/>
              </a:rPr>
              <a:t>G</a:t>
            </a:r>
            <a:r>
              <a:rPr lang="ru-RU" b="0" i="0" dirty="0">
                <a:solidFill>
                  <a:srgbClr val="222222"/>
                </a:solidFill>
                <a:effectLst/>
                <a:latin typeface="KaTeX_Main"/>
              </a:rPr>
              <a:t>),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тем меньше будет текущий градиентный шаг: больше знаменатель, значит, меньше дробь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pPr marL="0" indent="0" algn="l" rtl="0">
              <a:buFont typeface="Arial" panose="020B0604020202020204" pitchFamily="34" charset="0"/>
              <a:buNone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Тем самым, мы можем нормализовать скорость оптимизации по всем весам и сделать сходимость более стабильной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04B907-F4D8-80CE-10E5-A012E1BB0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19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245499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86BF-6E46-75EB-10FA-4E500C09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116F90-C17A-5B59-492A-DE281CBC1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CF1F1D-4FAB-00F4-8405-4D88D4A07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У метода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AdaGrad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есть недостаток: градиентный шаг все время уменьшается (так как знаменатель все время растет), поэтому можем остановиться раньше времени, и обучение застопорится. </a:t>
            </a:r>
          </a:p>
          <a:p>
            <a:endParaRPr lang="ru-RU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Существует модификация, при которой градиентный шаг может как уменьшаться, так и увеличиваться в зависимости от скорости движения на различных итерациях:</a:t>
            </a:r>
            <a:endParaRPr lang="en-US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endParaRPr lang="en-US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 этом случае размер шага по координате зависит в основном от того, насколько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быстро мы двигались по ней на последних итерациях.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3E6D46-75FA-2D74-F81C-A42F8F75C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20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56240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44E17-8A28-28CA-B1DA-F9669CFE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47DD44F-5FD6-220A-A679-A22BEEAEC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1D4420-F7B4-AAD7-3D3B-D3FFC61C1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F2B54-0E39-7A79-D230-5CE7339A3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DE5B3-C2EE-8E44-8368-6FF2F83646BB}" type="slidenum">
              <a:rPr lang="ru-GB" smtClean="0"/>
              <a:t>21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829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CFA12-4FCD-91CB-5E68-2396AAF1A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62DD17-F1E0-189C-5811-1876CFC74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D18F12-9C21-AF75-3F03-CF3B2951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F7CE5-156F-02A6-628B-2C305916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A58AF3-9E9A-B6BE-6640-6DC16100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9540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942AF-9B51-0310-B516-389DD63C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025948-7D30-67B0-2DBE-50964A7B3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20863C-5CE4-F906-9D1B-E7D326A8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FB8F9F-D40E-A5F2-A95C-E09447C0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4FDEAF-3BA4-BE42-A0B1-3FF6090B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90517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3D883-BB1F-5899-8266-A7B821A6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13B285-0CBE-9DCF-E9EF-F83F7BF8C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F89905-19B1-C4C1-CE0E-4ED0A46AB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A050BC-0376-E4BE-76B0-D9026765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8F524D-8790-3601-40A0-5AA05D39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9746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13C30-2DFB-1F28-26C7-1D19FA52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AD011-943A-6672-2199-E8D350A8B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A66CE7-F016-C350-D87B-13FF7AAF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5A685-97E9-4443-8401-F6AE256D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82BA36-39FE-786E-FD39-BEC77F2C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297305-67C2-2B8A-D479-6B578076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43953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52FD3-922C-531C-4C1E-76D1F384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1BF358-3800-1857-1BD1-322D3A139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74FC65-63BB-EEB3-B69D-2A9A12FF8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5A6475-7357-4882-6756-DF629F623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DFBED5-3EC6-79DE-C754-631CDBFC9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9992AD-FF71-0780-E546-A2E8CDFE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C4B0A65-84D0-2614-CB43-7EBCB20F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ED7535-1F90-BF83-7FE5-2B8996E6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038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F5F23-CBE5-08BC-4016-28E3A678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023E1F-D8AE-55C7-C38F-7120B573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8F5FE3-7678-9A34-D4A8-9147A507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370132-C585-6A09-8559-B71041EF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57634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914853-BED5-ACD9-9B62-71961E17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3F65FB-88B8-1F1A-CC33-6AEABBC57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CB0C62-322C-0A24-84A4-070D3052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4978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3392D-8C3F-785E-BFF4-9583B794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D82FE2-7A4D-25A7-2C33-9CE417009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7849A0-3832-BAF4-6C63-0F963DE99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60295-C914-266F-F2DC-ACEAF93B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288418-EC70-B8E9-02DF-89F8937F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8B0859-28C8-034C-B93A-7275DA22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7274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AF366-CB17-0BA9-5DF2-72F74AAC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E0D07C7-7DE0-8015-503F-43FC4E013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87D71C-2669-0A80-BDA3-BC602DFD2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F9BF57-F83A-4C34-1A7F-0B9F18E5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879DE6-9823-A6CE-E601-11E52A39C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93E109-BA84-8A18-2D75-EA0CD5AF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0863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46EC9-B0B0-886F-E2CB-09DCDB18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C288A1-B567-CE42-367F-859ADB02C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E4FA6D-AE68-99BC-8B7A-36B0F222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3642C6-81AF-B3D9-B3F0-98AD2CE9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22A064-B4EF-47D7-01C1-F427DB3B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00372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C21E2-2964-4884-4C5C-C67400ACD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0BE6D5-72A4-4B99-3EEE-FC5B28F3F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E3A4A2-DDFC-5500-D139-747D20A2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1C1C90-1D19-2575-7C56-390FACFE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3374F5-CED4-229F-D4F7-DF052E05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43076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F3924-12CD-1C5B-065A-A4CC3DD9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5013B0-D823-23E5-BBEB-FF6DDC563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7D74D-E89D-C373-AA8B-3A16C2CA9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6FAAB-5804-494A-9D03-8632F5DF4586}" type="datetimeFigureOut">
              <a:rPr lang="ru-GB" smtClean="0"/>
              <a:t>20/02/2026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30C8DC-8D75-1DFB-1437-D197A654C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46C0AB-1027-34AA-7281-CD05A65B2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0C05E-6B7D-0647-97D9-FE65BD95339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369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3E49F-91A8-FB59-7566-2732EDE01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GB" b="1" dirty="0"/>
              <a:t>Модификации </a:t>
            </a:r>
            <a:r>
              <a:rPr lang="en-US" b="1" dirty="0"/>
              <a:t>GD</a:t>
            </a:r>
            <a:endParaRPr lang="ru-GB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5D809A-74BB-FE0E-5025-EF24DF5AC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GB" dirty="0"/>
              <a:t>Семинар 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EE4C0B-A9D4-BE9B-36B1-D90182B3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10" y="5025163"/>
            <a:ext cx="10990379" cy="116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8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49519-D356-52FC-0101-1640FD44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91C73-BE30-5BBF-06D5-420F25EFE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GB" dirty="0"/>
              <a:t>Разбор проверочной</a:t>
            </a:r>
          </a:p>
          <a:p>
            <a:r>
              <a:rPr lang="ru-GB" dirty="0"/>
              <a:t>Модификации </a:t>
            </a:r>
            <a:r>
              <a:rPr lang="en-US" dirty="0"/>
              <a:t>GD</a:t>
            </a:r>
          </a:p>
          <a:p>
            <a:r>
              <a:rPr lang="ru-RU" dirty="0"/>
              <a:t>Метрики классификации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93158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B1E96-89D4-A40A-10AD-DEB63092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pic>
        <p:nvPicPr>
          <p:cNvPr id="5" name="Объект 4" descr="Изображение выглядит как текст, Шрифт, снимок экрана, алгеб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CE8C821-45A1-01AE-3CC3-0DCC3FB6E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899566" cy="252639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3F62BA-D702-4286-1BB5-EA5673C73F02}"/>
              </a:ext>
            </a:extLst>
          </p:cNvPr>
          <p:cNvSpPr txBox="1"/>
          <p:nvPr/>
        </p:nvSpPr>
        <p:spPr>
          <a:xfrm>
            <a:off x="838200" y="4428648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Объект:</a:t>
            </a:r>
            <a:r>
              <a:rPr lang="ru-RU" dirty="0"/>
              <a:t> Заказ</a:t>
            </a:r>
            <a:r>
              <a:rPr lang="en-US" dirty="0"/>
              <a:t>/</a:t>
            </a:r>
            <a:r>
              <a:rPr lang="ru-RU" dirty="0"/>
              <a:t>доставка</a:t>
            </a:r>
          </a:p>
          <a:p>
            <a:r>
              <a:rPr lang="ru-RU" b="1" dirty="0"/>
              <a:t>Целевая переменная:</a:t>
            </a:r>
            <a:r>
              <a:rPr lang="ru-RU" dirty="0"/>
              <a:t> Время доставки </a:t>
            </a:r>
          </a:p>
          <a:p>
            <a:r>
              <a:rPr lang="ru-RU" b="1" dirty="0"/>
              <a:t>Тип задачи:</a:t>
            </a:r>
            <a:r>
              <a:rPr lang="ru-RU" dirty="0"/>
              <a:t> Регрессия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205256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52FF-17CC-4C42-F6CA-476BFA73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55C34-A656-EDC7-2156-9C80FC8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A52E3-4D32-5E1D-A973-FF416A0B9F07}"/>
              </a:ext>
            </a:extLst>
          </p:cNvPr>
          <p:cNvSpPr txBox="1"/>
          <p:nvPr/>
        </p:nvSpPr>
        <p:spPr>
          <a:xfrm>
            <a:off x="838200" y="3730839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Объект:</a:t>
            </a:r>
            <a:r>
              <a:rPr lang="ru-RU" dirty="0"/>
              <a:t> Сообщение</a:t>
            </a:r>
          </a:p>
          <a:p>
            <a:r>
              <a:rPr lang="ru-RU" b="1" dirty="0"/>
              <a:t>Целевая переменная:</a:t>
            </a:r>
            <a:r>
              <a:rPr lang="ru-RU" dirty="0"/>
              <a:t> </a:t>
            </a:r>
            <a:r>
              <a:rPr lang="ru-RU" dirty="0" err="1"/>
              <a:t>Фрод</a:t>
            </a:r>
            <a:r>
              <a:rPr lang="ru-RU" dirty="0"/>
              <a:t>/не </a:t>
            </a:r>
            <a:r>
              <a:rPr lang="ru-RU" dirty="0" err="1"/>
              <a:t>фрод</a:t>
            </a:r>
            <a:endParaRPr lang="ru-RU" dirty="0"/>
          </a:p>
          <a:p>
            <a:r>
              <a:rPr lang="ru-RU" b="1" dirty="0"/>
              <a:t>Тип задачи:</a:t>
            </a:r>
            <a:r>
              <a:rPr lang="ru-RU" dirty="0"/>
              <a:t> Бинарная классификация</a:t>
            </a:r>
            <a:endParaRPr lang="ru-GB" dirty="0"/>
          </a:p>
        </p:txBody>
      </p:sp>
      <p:pic>
        <p:nvPicPr>
          <p:cNvPr id="12" name="Объект 11" descr="Изображение выглядит как текст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47B01FF-C8C1-78A6-5A12-9774C8F5D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080169" cy="1436474"/>
          </a:xfrm>
        </p:spPr>
      </p:pic>
    </p:spTree>
    <p:extLst>
      <p:ext uri="{BB962C8B-B14F-4D97-AF65-F5344CB8AC3E}">
        <p14:creationId xmlns:p14="http://schemas.microsoft.com/office/powerpoint/2010/main" val="29064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47EC-6927-4CCE-6FB5-3646E596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68B4F-09B0-AA7A-7685-943A3B93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pic>
        <p:nvPicPr>
          <p:cNvPr id="6" name="Объект 5" descr="Изображение выглядит как текст, Шрифт, чек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62DC79-552D-E0FC-E182-DD3900BA7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1690687"/>
            <a:ext cx="9030196" cy="1718738"/>
          </a:xfrm>
        </p:spPr>
      </p:pic>
      <p:pic>
        <p:nvPicPr>
          <p:cNvPr id="14" name="Рисунок 13" descr="Изображение выглядит как Шрифт, белый, текст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E70DF1-0EDC-A098-9062-0CB2B7884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17" y="3346408"/>
            <a:ext cx="2243580" cy="88934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0498FD7-B575-5EE9-BD86-9D35B280E1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057" t="-4634" b="-1"/>
          <a:stretch/>
        </p:blipFill>
        <p:spPr>
          <a:xfrm>
            <a:off x="3009933" y="3510596"/>
            <a:ext cx="1042394" cy="5488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77B855-4B40-9789-7557-EBC2613C6A92}"/>
                  </a:ext>
                </a:extLst>
              </p:cNvPr>
              <p:cNvSpPr txBox="1"/>
              <p:nvPr/>
            </p:nvSpPr>
            <p:spPr>
              <a:xfrm>
                <a:off x="941717" y="4235755"/>
                <a:ext cx="1338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𝑋𝑤</m:t>
                      </m:r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77B855-4B40-9789-7557-EBC2613C6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17" y="4235755"/>
                <a:ext cx="13384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C287F0-16AE-FF51-0F87-2E8EB6122100}"/>
                  </a:ext>
                </a:extLst>
              </p:cNvPr>
              <p:cNvSpPr txBox="1"/>
              <p:nvPr/>
            </p:nvSpPr>
            <p:spPr>
              <a:xfrm>
                <a:off x="941717" y="4605087"/>
                <a:ext cx="1977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C287F0-16AE-FF51-0F87-2E8EB6122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17" y="4605087"/>
                <a:ext cx="197708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82B5B1F-D107-4BC0-D4C0-30EF7FFC0E44}"/>
              </a:ext>
            </a:extLst>
          </p:cNvPr>
          <p:cNvSpPr txBox="1"/>
          <p:nvPr/>
        </p:nvSpPr>
        <p:spPr>
          <a:xfrm>
            <a:off x="1002240" y="5167313"/>
            <a:ext cx="8029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Большие веса </a:t>
            </a:r>
            <a:r>
              <a:rPr lang="ru-RU" dirty="0"/>
              <a:t>- это признак переобучения. </a:t>
            </a:r>
          </a:p>
          <a:p>
            <a:r>
              <a:rPr lang="ru-RU" dirty="0"/>
              <a:t>Модель придает очень большое значение определенным признакам, небольшое изменение такого признака приведет к огромному изменению предсказания.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53607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7430-1878-B8EF-645E-202B303C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23AE7-D2E4-618A-CFA6-2B6CD2B8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7CC89B-59AB-0D4D-3E29-17D93025C881}"/>
                  </a:ext>
                </a:extLst>
              </p:cNvPr>
              <p:cNvSpPr txBox="1"/>
              <p:nvPr/>
            </p:nvSpPr>
            <p:spPr>
              <a:xfrm>
                <a:off x="1002240" y="2574607"/>
                <a:ext cx="2221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7CC89B-59AB-0D4D-3E29-17D93025C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40" y="2574607"/>
                <a:ext cx="222124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43F9951-597C-664B-003F-37842F26F187}"/>
              </a:ext>
            </a:extLst>
          </p:cNvPr>
          <p:cNvSpPr txBox="1"/>
          <p:nvPr/>
        </p:nvSpPr>
        <p:spPr>
          <a:xfrm>
            <a:off x="1002240" y="5167313"/>
            <a:ext cx="8029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MAE </a:t>
            </a:r>
            <a:r>
              <a:rPr lang="ru-RU" dirty="0"/>
              <a:t>более устойчива к выбросам,</a:t>
            </a:r>
            <a:r>
              <a:rPr lang="en-US" dirty="0"/>
              <a:t> </a:t>
            </a:r>
            <a:r>
              <a:rPr lang="ru-RU" dirty="0"/>
              <a:t>а </a:t>
            </a:r>
            <a:r>
              <a:rPr lang="en-US" dirty="0"/>
              <a:t>MSE </a:t>
            </a:r>
            <a:r>
              <a:rPr lang="ru-RU" dirty="0"/>
              <a:t>с точки зрения оптимизации</a:t>
            </a:r>
            <a:endParaRPr lang="ru-GB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0CF5C6E-4788-81C2-3B6B-923CE4E2A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199" y="1685260"/>
            <a:ext cx="10386296" cy="8893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1E9B5C-151A-B598-D605-C81D7FAE3CC9}"/>
                  </a:ext>
                </a:extLst>
              </p:cNvPr>
              <p:cNvSpPr txBox="1"/>
              <p:nvPr/>
            </p:nvSpPr>
            <p:spPr>
              <a:xfrm>
                <a:off x="1002240" y="2943939"/>
                <a:ext cx="2093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1E9B5C-151A-B598-D605-C81D7FAE3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40" y="2943939"/>
                <a:ext cx="2093072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 descr="Изображение выглядит как рукописный текст, Шрифт, текст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539D160-F298-D724-2DEF-82EEAD2DF2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260"/>
          <a:stretch/>
        </p:blipFill>
        <p:spPr>
          <a:xfrm>
            <a:off x="2447779" y="3429000"/>
            <a:ext cx="3410215" cy="13088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9A3DB7-4F07-6507-0F37-7E79B651026E}"/>
                  </a:ext>
                </a:extLst>
              </p:cNvPr>
              <p:cNvSpPr txBox="1"/>
              <p:nvPr/>
            </p:nvSpPr>
            <p:spPr>
              <a:xfrm>
                <a:off x="901839" y="3870960"/>
                <a:ext cx="17569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𝐻𝑢𝑏𝑒𝑟𝐿𝑜𝑠𝑠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9A3DB7-4F07-6507-0F37-7E79B6510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39" y="3870960"/>
                <a:ext cx="175695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AEE6080-0614-0736-378C-C7EA5B2B9012}"/>
              </a:ext>
            </a:extLst>
          </p:cNvPr>
          <p:cNvSpPr txBox="1"/>
          <p:nvPr/>
        </p:nvSpPr>
        <p:spPr>
          <a:xfrm>
            <a:off x="1002240" y="5536645"/>
            <a:ext cx="10351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в данных много выбросов</a:t>
            </a:r>
            <a:r>
              <a:rPr lang="en-US" dirty="0"/>
              <a:t>, </a:t>
            </a:r>
            <a:r>
              <a:rPr lang="ru-RU" dirty="0"/>
              <a:t>то </a:t>
            </a:r>
            <a:r>
              <a:rPr lang="en-US" dirty="0"/>
              <a:t>MSE </a:t>
            </a:r>
            <a:r>
              <a:rPr lang="ru-RU" dirty="0"/>
              <a:t>будет пытаться переобучиться на них, сильно искажая модель. В таком случае </a:t>
            </a:r>
            <a:r>
              <a:rPr lang="en-US" dirty="0"/>
              <a:t>Huber Loss </a:t>
            </a:r>
            <a:r>
              <a:rPr lang="ru-RU" dirty="0"/>
              <a:t>или </a:t>
            </a:r>
            <a:r>
              <a:rPr lang="en-US" dirty="0"/>
              <a:t>MAE </a:t>
            </a:r>
            <a:r>
              <a:rPr lang="ru-RU" dirty="0"/>
              <a:t>будут работать лучше, так как они не придают выбросам слишком большого значения.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791058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1C73-DEE4-425B-3023-E55BF902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6B9294-2A78-FFF9-E68F-A07B9B33C3B6}"/>
                  </a:ext>
                </a:extLst>
              </p:cNvPr>
              <p:cNvSpPr txBox="1"/>
              <p:nvPr/>
            </p:nvSpPr>
            <p:spPr>
              <a:xfrm>
                <a:off x="838199" y="5561638"/>
                <a:ext cx="2391552" cy="848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6B9294-2A78-FFF9-E68F-A07B9B33C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561638"/>
                <a:ext cx="2391552" cy="848758"/>
              </a:xfrm>
              <a:prstGeom prst="rect">
                <a:avLst/>
              </a:prstGeom>
              <a:blipFill>
                <a:blip r:embed="rId3"/>
                <a:stretch>
                  <a:fillRect t="-98529" r="-1053" b="-152941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DD6796C-69D6-8A7C-11F1-829C711B1FE5}"/>
              </a:ext>
            </a:extLst>
          </p:cNvPr>
          <p:cNvSpPr txBox="1"/>
          <p:nvPr/>
        </p:nvSpPr>
        <p:spPr>
          <a:xfrm>
            <a:off x="838199" y="4501689"/>
            <a:ext cx="9909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Регуляризация</a:t>
            </a:r>
            <a:r>
              <a:rPr lang="ru-RU" dirty="0"/>
              <a:t> - метод борьбы с переобучением путем штрафа за большие веса модели. Регуляризация добавляет в функцию потерь штрафное слагаемое, которое заставляет веса быть маленькими</a:t>
            </a:r>
            <a:r>
              <a:rPr lang="en-US" dirty="0"/>
              <a:t>.</a:t>
            </a:r>
            <a:endParaRPr lang="ru-GB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F82EF-E75B-8F90-260B-2CA2643C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08C46E-5B89-88D2-424F-EEE49482ADF8}"/>
                  </a:ext>
                </a:extLst>
              </p:cNvPr>
              <p:cNvSpPr txBox="1"/>
              <p:nvPr/>
            </p:nvSpPr>
            <p:spPr>
              <a:xfrm>
                <a:off x="3595467" y="5561638"/>
                <a:ext cx="2389180" cy="848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08C46E-5B89-88D2-424F-EEE49482A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467" y="5561638"/>
                <a:ext cx="2389180" cy="848758"/>
              </a:xfrm>
              <a:prstGeom prst="rect">
                <a:avLst/>
              </a:prstGeom>
              <a:blipFill>
                <a:blip r:embed="rId4"/>
                <a:stretch>
                  <a:fillRect t="-98529" r="-3175" b="-152941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Объект 5" descr="Изображение выглядит как текст, Шрифт, алгеб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0783240-402D-4B59-47D6-A1E376D3D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8200" y="1691759"/>
            <a:ext cx="9585960" cy="1612876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145DAC-3946-2410-E1B4-2F7D7CFB6F91}"/>
              </a:ext>
            </a:extLst>
          </p:cNvPr>
          <p:cNvSpPr txBox="1"/>
          <p:nvPr/>
        </p:nvSpPr>
        <p:spPr>
          <a:xfrm>
            <a:off x="838199" y="3304635"/>
            <a:ext cx="9909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Переобучение</a:t>
            </a:r>
            <a:r>
              <a:rPr lang="ru-RU" dirty="0"/>
              <a:t> - ситуация, когда модель слишком хорошо запоминает обучающие данные, улавливая не только основные закономерности, но и шум и выбросы. В результате модель отлично показывает себя на обучающей выборке, но плохо работает на новых, невиданных ранее данных.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27693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61E8A-0189-858E-1C27-CBF0F20C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0889DA-15A8-52DC-CC2F-215BCD52B275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2391552" cy="848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0889DA-15A8-52DC-CC2F-215BCD52B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2391552" cy="848758"/>
              </a:xfrm>
              <a:prstGeom prst="rect">
                <a:avLst/>
              </a:prstGeom>
              <a:blipFill>
                <a:blip r:embed="rId3"/>
                <a:stretch>
                  <a:fillRect t="-101493" r="-1058" b="-155224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EDD2D-F637-F967-D512-9E6F474D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BA141-130B-DC9A-587A-D7230FA029CB}"/>
                  </a:ext>
                </a:extLst>
              </p:cNvPr>
              <p:cNvSpPr txBox="1"/>
              <p:nvPr/>
            </p:nvSpPr>
            <p:spPr>
              <a:xfrm>
                <a:off x="3595468" y="3429000"/>
                <a:ext cx="2389180" cy="848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BA141-130B-DC9A-587A-D7230FA02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468" y="3429000"/>
                <a:ext cx="2389180" cy="848758"/>
              </a:xfrm>
              <a:prstGeom prst="rect">
                <a:avLst/>
              </a:prstGeom>
              <a:blipFill>
                <a:blip r:embed="rId4"/>
                <a:stretch>
                  <a:fillRect t="-101493" r="-3175" b="-155224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Объект 5" descr="Изображение выглядит как текст, Шрифт, алгеб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6138A82-D588-BECE-1C3C-CAE80B8A6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8200" y="1691759"/>
            <a:ext cx="9585960" cy="161287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018067-67B8-69CE-F921-1B42A2A497DD}"/>
              </a:ext>
            </a:extLst>
          </p:cNvPr>
          <p:cNvSpPr txBox="1"/>
          <p:nvPr/>
        </p:nvSpPr>
        <p:spPr>
          <a:xfrm>
            <a:off x="838201" y="4402124"/>
            <a:ext cx="9585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</a:t>
            </a:r>
            <a:r>
              <a:rPr lang="ru-RU" dirty="0"/>
              <a:t> регуляризация может обнулять веса</a:t>
            </a:r>
            <a:r>
              <a:rPr lang="en-US" dirty="0"/>
              <a:t>, L2</a:t>
            </a:r>
            <a:r>
              <a:rPr lang="ru-RU" dirty="0"/>
              <a:t> регуляризация стремится сделать веса равномерно маленькими, но редко обнуляет их полностью</a:t>
            </a:r>
            <a:r>
              <a:rPr lang="en-US" dirty="0"/>
              <a:t>.</a:t>
            </a:r>
            <a:endParaRPr lang="ru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C568A-D128-DD75-650E-D75ADA01AA56}"/>
              </a:ext>
            </a:extLst>
          </p:cNvPr>
          <p:cNvSpPr txBox="1"/>
          <p:nvPr/>
        </p:nvSpPr>
        <p:spPr>
          <a:xfrm>
            <a:off x="838199" y="5172821"/>
            <a:ext cx="7883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λ</a:t>
            </a:r>
            <a:r>
              <a:rPr lang="ru-RU" dirty="0"/>
              <a:t> - </a:t>
            </a:r>
            <a:r>
              <a:rPr lang="ru-RU" dirty="0" err="1"/>
              <a:t>гиперпараметр</a:t>
            </a:r>
            <a:r>
              <a:rPr lang="ru-RU" dirty="0"/>
              <a:t>, который контролирует силу регуляризации.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2036429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2A90-7838-B86B-03F2-BCA19CE1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F52B1-4D85-C272-917A-E070843F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pic>
        <p:nvPicPr>
          <p:cNvPr id="7" name="Объект 6" descr="Изображение выглядит как текст, диаграмма, снимок экран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2B0CE8-E262-845B-ECBE-82B9251C4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7530" y="1690688"/>
            <a:ext cx="4015153" cy="281938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линия, снимок экрана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FE749BB-418E-9646-C98E-7B3B0A179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857" y="1690688"/>
            <a:ext cx="3642840" cy="2819383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линия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C989D93-A77B-5CFA-434C-8DE3BD49D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872" y="1690687"/>
            <a:ext cx="3994128" cy="281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23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689D-9B58-8DAA-D019-628D99E5F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0BD0D-78BC-0290-3DEF-CA444DD8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5B97B02-064F-E046-9D7E-479F77A15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67130"/>
            <a:ext cx="9038416" cy="10947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AB75E6-91BB-10FB-0699-0B9E68572CE6}"/>
              </a:ext>
            </a:extLst>
          </p:cNvPr>
          <p:cNvSpPr txBox="1"/>
          <p:nvPr/>
        </p:nvSpPr>
        <p:spPr>
          <a:xfrm>
            <a:off x="838200" y="2393965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</a:t>
            </a:r>
            <a:r>
              <a:rPr lang="en-US" dirty="0"/>
              <a:t> - </a:t>
            </a:r>
            <a:r>
              <a:rPr lang="ru-RU" dirty="0"/>
              <a:t>для обучения модели, для подбора параметров модели(например, весов </a:t>
            </a:r>
          </a:p>
          <a:p>
            <a:r>
              <a:rPr lang="en-US" dirty="0"/>
              <a:t>w </a:t>
            </a:r>
            <a:r>
              <a:rPr lang="ru-RU" dirty="0"/>
              <a:t>в линейной регрессии).</a:t>
            </a:r>
          </a:p>
          <a:p>
            <a:r>
              <a:rPr lang="en-US" b="1" dirty="0"/>
              <a:t>Val</a:t>
            </a:r>
            <a:r>
              <a:rPr lang="en-US" dirty="0"/>
              <a:t> - </a:t>
            </a:r>
            <a:r>
              <a:rPr lang="ru-RU" dirty="0"/>
              <a:t>для оценки качества модели после обучения и для настройки ее </a:t>
            </a:r>
            <a:r>
              <a:rPr lang="ru-RU" dirty="0" err="1"/>
              <a:t>гиперпараметров</a:t>
            </a:r>
            <a:r>
              <a:rPr lang="ru-RU" dirty="0"/>
              <a:t> (например, </a:t>
            </a:r>
            <a:r>
              <a:rPr lang="el-GR" dirty="0"/>
              <a:t>λ</a:t>
            </a:r>
            <a:r>
              <a:rPr lang="en-US" dirty="0"/>
              <a:t>)</a:t>
            </a:r>
          </a:p>
          <a:p>
            <a:r>
              <a:rPr lang="ru-RU" dirty="0"/>
              <a:t>Если оценивать модель на тех же данных, на которых она обучалась, мы получим слишком оптимистичную оценку. Мы не узнаем, как модель поведет себя в реальном мире. Тестовая выборка нужна для честной оценки способности модели к обобщению.</a:t>
            </a:r>
          </a:p>
          <a:p>
            <a:endParaRPr lang="el-GR" dirty="0"/>
          </a:p>
        </p:txBody>
      </p:sp>
      <p:pic>
        <p:nvPicPr>
          <p:cNvPr id="5122" name="Picture 2" descr="Train/Test Split and Cross Validation - A Python Tutorial - AlgoTrading101  Blog">
            <a:extLst>
              <a:ext uri="{FF2B5EF4-FFF2-40B4-BE49-F238E27FC236}">
                <a16:creationId xmlns:a16="http://schemas.microsoft.com/office/drawing/2014/main" id="{91F2FE0D-F22F-2717-B8B9-43362E978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484" y="4396156"/>
            <a:ext cx="4613031" cy="248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46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8404-242A-9CA3-28A3-66E8B23F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7035C-07B5-ED7A-E690-47B4CFA6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1AEE34F-F87F-19B6-0836-6D757E60F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67130"/>
            <a:ext cx="9038416" cy="10947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E087E1-17E7-E486-DC06-6DB4E0DFCF12}"/>
              </a:ext>
            </a:extLst>
          </p:cNvPr>
          <p:cNvSpPr txBox="1"/>
          <p:nvPr/>
        </p:nvSpPr>
        <p:spPr>
          <a:xfrm>
            <a:off x="838200" y="2393965"/>
            <a:ext cx="525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Плюсы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Более надежная оценка качества модели</a:t>
            </a:r>
            <a:endParaRPr lang="en-US" dirty="0"/>
          </a:p>
          <a:p>
            <a:r>
              <a:rPr lang="ru-RU" b="1" dirty="0"/>
              <a:t>Минусы: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Высокая вычислительная стоимость, так как модель нужно обучать </a:t>
            </a:r>
            <a:r>
              <a:rPr lang="en-US" dirty="0"/>
              <a:t>k </a:t>
            </a:r>
            <a:r>
              <a:rPr lang="ru-RU" dirty="0"/>
              <a:t>раз</a:t>
            </a:r>
            <a:endParaRPr lang="en-US" dirty="0"/>
          </a:p>
        </p:txBody>
      </p:sp>
      <p:pic>
        <p:nvPicPr>
          <p:cNvPr id="6146" name="Picture 2" descr="3.1. Cross-validation: evaluating estimator performance — scikit-learn  1.8.0 documentation">
            <a:extLst>
              <a:ext uri="{FF2B5EF4-FFF2-40B4-BE49-F238E27FC236}">
                <a16:creationId xmlns:a16="http://schemas.microsoft.com/office/drawing/2014/main" id="{5C4895CA-6F36-1908-46F7-B483DC217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61845"/>
            <a:ext cx="5828637" cy="403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83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C465-4950-3FD1-6FC6-CF76B642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0C2FC-23D0-5DAD-1C6E-3489C54B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Разбор проверочной</a:t>
            </a:r>
          </a:p>
        </p:txBody>
      </p:sp>
      <p:pic>
        <p:nvPicPr>
          <p:cNvPr id="10" name="Объект 9" descr="Изображение выглядит как текст, снимок экрана, Шрифт, док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26260E0-F357-BB2B-CFA4-1FAB6C9B7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1690688"/>
            <a:ext cx="6237849" cy="465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62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6EB4-31AD-B59C-7D69-79890341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8EB89-8328-64CE-3066-61DE100B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Модификации </a:t>
            </a:r>
            <a:r>
              <a:rPr lang="en-US" b="1" dirty="0"/>
              <a:t>GD</a:t>
            </a:r>
          </a:p>
        </p:txBody>
      </p:sp>
      <p:pic>
        <p:nvPicPr>
          <p:cNvPr id="9" name="Объект 8" descr="Изображение выглядит как Шрифт, рукописный текст, каллиграфия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8BE0FD-B0E1-BEB6-B603-60C965527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7"/>
            <a:ext cx="3782886" cy="6304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682D5EE-03DE-A328-446F-D4F1B5381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5577"/>
            <a:ext cx="3944816" cy="6624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A400B5-D149-4C6F-7854-78392B83A4C4}"/>
              </a:ext>
            </a:extLst>
          </p:cNvPr>
          <p:cNvSpPr txBox="1"/>
          <p:nvPr/>
        </p:nvSpPr>
        <p:spPr>
          <a:xfrm>
            <a:off x="5289453" y="1821262"/>
            <a:ext cx="122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Vanilla GD</a:t>
            </a:r>
            <a:endParaRPr lang="ru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3C85B-D55A-AF0B-1A80-9B1B61C39F8E}"/>
              </a:ext>
            </a:extLst>
          </p:cNvPr>
          <p:cNvSpPr txBox="1"/>
          <p:nvPr/>
        </p:nvSpPr>
        <p:spPr>
          <a:xfrm>
            <a:off x="5289453" y="2662155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SGD</a:t>
            </a:r>
            <a:endParaRPr lang="ru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D185F3-D00E-AA43-EE0C-E07418D51025}"/>
              </a:ext>
            </a:extLst>
          </p:cNvPr>
          <p:cNvSpPr txBox="1"/>
          <p:nvPr/>
        </p:nvSpPr>
        <p:spPr>
          <a:xfrm>
            <a:off x="5289453" y="3457686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Mini-batch SGD</a:t>
            </a:r>
            <a:endParaRPr lang="ru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0C9825-B6A9-FA84-E98B-4B8B95A1B383}"/>
                  </a:ext>
                </a:extLst>
              </p:cNvPr>
              <p:cNvSpPr txBox="1"/>
              <p:nvPr/>
            </p:nvSpPr>
            <p:spPr>
              <a:xfrm>
                <a:off x="838200" y="3420815"/>
                <a:ext cx="381367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GB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GB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0C9825-B6A9-FA84-E98B-4B8B95A1B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0815"/>
                <a:ext cx="3813673" cy="412934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Рисунок 23" descr="Изображение выглядит как Шрифт, белый, текст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EEB1726-1D79-156B-40DC-C47A84050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308" y="3876599"/>
            <a:ext cx="2883530" cy="84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814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FADD-2581-86DE-A442-B14DEDFF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37AF7-BBA0-AD30-E3ED-B920BA20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Модификации </a:t>
            </a:r>
            <a:r>
              <a:rPr lang="en-US" b="1" dirty="0"/>
              <a:t>GD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87017E-FAE0-7092-1879-2D4053C92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Проблемы:</a:t>
            </a:r>
          </a:p>
          <a:p>
            <a:r>
              <a:rPr lang="ru-RU" dirty="0"/>
              <a:t>метод может застревать в локальных минимумах, и у нас </a:t>
            </a:r>
            <a:r>
              <a:rPr lang="ru-RU" b="1" dirty="0"/>
              <a:t>нет никакой гарантии попадания в глобальный минимум</a:t>
            </a:r>
            <a:endParaRPr lang="en-US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E025DA-1C95-6ABE-43A0-A5BA9BB7E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900" y="3203575"/>
            <a:ext cx="74422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FAB2-0690-1471-3DFF-B49F09C5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67B85-B5C4-21CD-4DC6-8B1B63DE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Модификации </a:t>
            </a:r>
            <a:r>
              <a:rPr lang="en-US" b="1" dirty="0"/>
              <a:t>GD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6F6432-FE81-9602-FBB3-539EF6D9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Проблемы:</a:t>
            </a:r>
          </a:p>
          <a:p>
            <a:r>
              <a:rPr lang="ru-RU" b="1" dirty="0"/>
              <a:t>метод может медленно сходиться </a:t>
            </a:r>
            <a:r>
              <a:rPr lang="ru-RU" dirty="0"/>
              <a:t>из-за разной скорости оптимизации по каждому весу в отдельности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210653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A9C2-B77C-6AC7-8CA8-18272DF8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CCECB-EEE0-2D7D-549F-7B610314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momentum</a:t>
            </a:r>
          </a:p>
        </p:txBody>
      </p:sp>
      <p:pic>
        <p:nvPicPr>
          <p:cNvPr id="6" name="Объект 5" descr="Изображение выглядит как Шрифт, текст, белый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3E58FD4-BD0D-0968-31F5-8E613D180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4010794" cy="113691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EE99F6-46BE-1738-6B9F-4DF8FCE78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60" y="2827605"/>
            <a:ext cx="2388383" cy="6568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A32270-4E4B-B80D-DEC6-4DC5B0C94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660" y="3484410"/>
            <a:ext cx="9190592" cy="2831984"/>
          </a:xfrm>
          <a:prstGeom prst="rect">
            <a:avLst/>
          </a:prstGeom>
        </p:spPr>
      </p:pic>
      <p:pic>
        <p:nvPicPr>
          <p:cNvPr id="10242" name="Picture 2" descr="Momentum - Cornell University Computational Optimization Open Textbook -  Optimization Wiki">
            <a:extLst>
              <a:ext uri="{FF2B5EF4-FFF2-40B4-BE49-F238E27FC236}">
                <a16:creationId xmlns:a16="http://schemas.microsoft.com/office/drawing/2014/main" id="{F69BF41A-2683-5722-AC23-086F3638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96" y="1252025"/>
            <a:ext cx="4532275" cy="173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190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C563-8590-27E8-397D-28E717FA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6E724-D2A1-6B91-364E-FE00EC7A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momentum</a:t>
            </a:r>
          </a:p>
        </p:txBody>
      </p:sp>
      <p:pic>
        <p:nvPicPr>
          <p:cNvPr id="12290" name="Picture 2" descr="Stochastic Gradient Descent with momentum | by Vitaly Bushaev | TDS Archive  | Medium">
            <a:extLst>
              <a:ext uri="{FF2B5EF4-FFF2-40B4-BE49-F238E27FC236}">
                <a16:creationId xmlns:a16="http://schemas.microsoft.com/office/drawing/2014/main" id="{87C97398-A00F-19B7-8BDB-4644CD013F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92"/>
          <a:stretch/>
        </p:blipFill>
        <p:spPr bwMode="auto">
          <a:xfrm>
            <a:off x="7319498" y="1816100"/>
            <a:ext cx="4034302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Gradient Descent with Momentum, RMSprop And Adam Optimizer | by Harsh  Khandewal | Analytics Vidhya | Medium">
            <a:extLst>
              <a:ext uri="{FF2B5EF4-FFF2-40B4-BE49-F238E27FC236}">
                <a16:creationId xmlns:a16="http://schemas.microsoft.com/office/drawing/2014/main" id="{3AE0842E-DAA4-CB5B-D3EE-9284FFA0A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16100"/>
            <a:ext cx="6350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277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EEA9-BECE-1BE1-E4EE-459D22F2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64AB4-DCFF-A665-F1B8-7C1D3328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Nesterov momentum</a:t>
            </a:r>
          </a:p>
        </p:txBody>
      </p:sp>
      <p:pic>
        <p:nvPicPr>
          <p:cNvPr id="12290" name="Picture 2" descr="Stochastic Gradient Descent with momentum | by Vitaly Bushaev | TDS Archive  | Medium">
            <a:extLst>
              <a:ext uri="{FF2B5EF4-FFF2-40B4-BE49-F238E27FC236}">
                <a16:creationId xmlns:a16="http://schemas.microsoft.com/office/drawing/2014/main" id="{D17E1681-249A-CBB5-C4BF-4F5723980C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77"/>
          <a:stretch/>
        </p:blipFill>
        <p:spPr bwMode="auto">
          <a:xfrm>
            <a:off x="5514534" y="2388394"/>
            <a:ext cx="5661465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1D378C-1DE3-19F4-19F1-BAC61B62E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4521591" cy="6201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2CE6A-947D-B1F2-E7F1-3236C2FE0EE7}"/>
                  </a:ext>
                </a:extLst>
              </p:cNvPr>
              <p:cNvSpPr txBox="1"/>
              <p:nvPr/>
            </p:nvSpPr>
            <p:spPr>
              <a:xfrm>
                <a:off x="838200" y="5014029"/>
                <a:ext cx="610035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На практике обычно используют следующие значения </a:t>
                </a:r>
                <a:r>
                  <a:rPr lang="ru-RU" dirty="0" err="1"/>
                  <a:t>гиперпараметров</a:t>
                </a:r>
                <a:r>
                  <a:rPr lang="ru-RU" dirty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2CE6A-947D-B1F2-E7F1-3236C2FE0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14029"/>
                <a:ext cx="6100354" cy="1200329"/>
              </a:xfrm>
              <a:prstGeom prst="rect">
                <a:avLst/>
              </a:prstGeom>
              <a:blipFill>
                <a:blip r:embed="rId5"/>
                <a:stretch>
                  <a:fillRect l="-1040" t="-3158" b="-5263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656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0755-A9A1-5AF9-4D55-977A6635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38ED-7C95-DEF5-9D19-C16B80CD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AdaGrad</a:t>
            </a:r>
            <a:endParaRPr lang="en-US" b="1" dirty="0"/>
          </a:p>
        </p:txBody>
      </p:sp>
      <p:pic>
        <p:nvPicPr>
          <p:cNvPr id="6" name="Объект 5" descr="Изображение выглядит как текст, Шрифт, рукописный текст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F9795A8-EA95-7BCE-5F07-487E406DE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1690688"/>
            <a:ext cx="5903109" cy="1488610"/>
          </a:xfrm>
        </p:spPr>
      </p:pic>
    </p:spTree>
    <p:extLst>
      <p:ext uri="{BB962C8B-B14F-4D97-AF65-F5344CB8AC3E}">
        <p14:creationId xmlns:p14="http://schemas.microsoft.com/office/powerpoint/2010/main" val="1089639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0E99-D70F-5D73-9D08-0DAA20D2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6ABA9-B8B0-F3C3-9CA7-0A4CA98C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RMSProp</a:t>
            </a:r>
            <a:endParaRPr lang="en-US" b="1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3EA3C8A-2106-4957-366A-03D22AB3F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50987"/>
            <a:ext cx="4835064" cy="6043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05110E-B1FB-F1FF-703D-44A20C5BE73B}"/>
                  </a:ext>
                </a:extLst>
              </p:cNvPr>
              <p:cNvSpPr txBox="1"/>
              <p:nvPr/>
            </p:nvSpPr>
            <p:spPr>
              <a:xfrm>
                <a:off x="838200" y="2596051"/>
                <a:ext cx="610035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На практике обычно используют следующие значения </a:t>
                </a:r>
                <a:r>
                  <a:rPr lang="ru-RU" dirty="0" err="1"/>
                  <a:t>гиперпараметров</a:t>
                </a:r>
                <a:r>
                  <a:rPr lang="ru-RU" dirty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05110E-B1FB-F1FF-703D-44A20C5BE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96051"/>
                <a:ext cx="6100354" cy="1200329"/>
              </a:xfrm>
              <a:prstGeom prst="rect">
                <a:avLst/>
              </a:prstGeom>
              <a:blipFill>
                <a:blip r:embed="rId4"/>
                <a:stretch>
                  <a:fillRect l="-1040" t="-2083" b="-5208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255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5C92-C04A-3ACC-1D8E-800EA304F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E9D8E38F-6A89-70C4-A4D6-F06CB1A8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Nesterov momentum + </a:t>
            </a:r>
            <a:r>
              <a:rPr lang="en-US" b="1" dirty="0" err="1"/>
              <a:t>RMSProp</a:t>
            </a:r>
            <a:r>
              <a:rPr lang="en-US" b="1" dirty="0"/>
              <a:t> = Adam</a:t>
            </a:r>
            <a:endParaRPr lang="ru-GB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470D1-BE89-7A1F-7412-126093DF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Adam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B65570-A684-1D58-D3EC-2DF1C0261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113"/>
          <a:stretch/>
        </p:blipFill>
        <p:spPr>
          <a:xfrm>
            <a:off x="838199" y="3328851"/>
            <a:ext cx="9311641" cy="147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52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1007</Words>
  <Application>Microsoft Macintosh PowerPoint</Application>
  <PresentationFormat>Широкоэкранный</PresentationFormat>
  <Paragraphs>130</Paragraphs>
  <Slides>21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KaTeX_Main</vt:lpstr>
      <vt:lpstr>quote-cjk-patch</vt:lpstr>
      <vt:lpstr>Roboto</vt:lpstr>
      <vt:lpstr>Тема Office</vt:lpstr>
      <vt:lpstr>Модификации GD</vt:lpstr>
      <vt:lpstr>План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Разбор проверочной</vt:lpstr>
      <vt:lpstr>Модификации GD</vt:lpstr>
      <vt:lpstr>Модификации GD</vt:lpstr>
      <vt:lpstr>Модификации GD</vt:lpstr>
      <vt:lpstr>momentum</vt:lpstr>
      <vt:lpstr>momentum</vt:lpstr>
      <vt:lpstr>Nesterov momentum</vt:lpstr>
      <vt:lpstr>AdaGrad</vt:lpstr>
      <vt:lpstr>RMSProp</vt:lpstr>
      <vt:lpstr>Adam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c77904</dc:creator>
  <cp:lastModifiedBy>c77904</cp:lastModifiedBy>
  <cp:revision>1</cp:revision>
  <dcterms:created xsi:type="dcterms:W3CDTF">2026-02-19T22:07:24Z</dcterms:created>
  <dcterms:modified xsi:type="dcterms:W3CDTF">2026-02-20T13:41:07Z</dcterms:modified>
</cp:coreProperties>
</file>