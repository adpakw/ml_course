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1" r:id="rId17"/>
    <p:sldId id="273" r:id="rId18"/>
    <p:sldId id="274" r:id="rId19"/>
    <p:sldId id="275" r:id="rId20"/>
    <p:sldId id="277" r:id="rId21"/>
    <p:sldId id="276" r:id="rId22"/>
    <p:sldId id="278" r:id="rId23"/>
    <p:sldId id="279" r:id="rId24"/>
    <p:sldId id="281" r:id="rId25"/>
    <p:sldId id="280" r:id="rId26"/>
    <p:sldId id="282" r:id="rId27"/>
    <p:sldId id="285" r:id="rId28"/>
    <p:sldId id="286" r:id="rId29"/>
    <p:sldId id="287" r:id="rId30"/>
    <p:sldId id="288" r:id="rId31"/>
    <p:sldId id="289" r:id="rId32"/>
    <p:sldId id="290" r:id="rId33"/>
    <p:sldId id="291" r:id="rId34"/>
    <p:sldId id="292" r:id="rId35"/>
  </p:sldIdLst>
  <p:sldSz cx="12192000" cy="6858000"/>
  <p:notesSz cx="6858000" cy="9144000"/>
  <p:defaultTextStyle>
    <a:defPPr>
      <a:defRPr lang="ru-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71795"/>
  </p:normalViewPr>
  <p:slideViewPr>
    <p:cSldViewPr snapToGrid="0">
      <p:cViewPr varScale="1">
        <p:scale>
          <a:sx n="80" d="100"/>
          <a:sy n="80" d="100"/>
        </p:scale>
        <p:origin x="6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GB"/>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BEBF00-5E8D-264A-97EB-3271BEE203CE}" type="datetimeFigureOut">
              <a:rPr lang="ru-GB" smtClean="0"/>
              <a:t>27/02/2026</a:t>
            </a:fld>
            <a:endParaRPr lang="ru-GB"/>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GB"/>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GB"/>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GB"/>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7AE5BE-D43F-D646-9368-4EA0133E6314}" type="slidenum">
              <a:rPr lang="ru-GB" smtClean="0"/>
              <a:t>‹#›</a:t>
            </a:fld>
            <a:endParaRPr lang="ru-GB"/>
          </a:p>
        </p:txBody>
      </p:sp>
    </p:spTree>
    <p:extLst>
      <p:ext uri="{BB962C8B-B14F-4D97-AF65-F5344CB8AC3E}">
        <p14:creationId xmlns:p14="http://schemas.microsoft.com/office/powerpoint/2010/main" val="2815787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Bef>
                <a:spcPts val="1200"/>
              </a:spcBef>
              <a:spcAft>
                <a:spcPts val="600"/>
              </a:spcAft>
              <a:buFont typeface="Arial" panose="020B0604020202020204" pitchFamily="34" charset="0"/>
              <a:buNone/>
            </a:pPr>
            <a:r>
              <a:rPr lang="ru-RU" dirty="0"/>
              <a:t>В задаче регрессии, у нас все функции потерь и метрики одинаковы</a:t>
            </a:r>
            <a:r>
              <a:rPr lang="en-US" dirty="0"/>
              <a:t>, </a:t>
            </a:r>
            <a:r>
              <a:rPr lang="ru-RU" dirty="0"/>
              <a:t>но какие метрики и функции потерь есть для классификации</a:t>
            </a:r>
            <a:br>
              <a:rPr lang="ru-RU" dirty="0"/>
            </a:br>
            <a:endParaRPr lang="en-US" dirty="0"/>
          </a:p>
          <a:p>
            <a:pPr algn="l">
              <a:spcBef>
                <a:spcPts val="1200"/>
              </a:spcBef>
              <a:spcAft>
                <a:spcPts val="600"/>
              </a:spcAft>
              <a:buFont typeface="Arial" panose="020B0604020202020204" pitchFamily="34" charset="0"/>
              <a:buNone/>
            </a:pPr>
            <a:r>
              <a:rPr lang="ru-RU" b="0" i="0" dirty="0">
                <a:solidFill>
                  <a:srgbClr val="323232"/>
                </a:solidFill>
                <a:effectLst/>
                <a:latin typeface="YSText"/>
              </a:rPr>
              <a:t>Функция потерь возникает в тот момент, когда мы сводим задачу построения модели к задаче оптимизации. Обычно требуется, чтобы она обладала хорошими свойствами (например, дифференцируемостью).</a:t>
            </a:r>
            <a:endParaRPr lang="en-US" b="0" i="0" dirty="0">
              <a:solidFill>
                <a:srgbClr val="323232"/>
              </a:solidFill>
              <a:effectLst/>
              <a:latin typeface="YSText"/>
            </a:endParaRPr>
          </a:p>
          <a:p>
            <a:pPr algn="l">
              <a:spcBef>
                <a:spcPts val="1200"/>
              </a:spcBef>
              <a:spcAft>
                <a:spcPts val="600"/>
              </a:spcAft>
              <a:buFont typeface="Arial" panose="020B0604020202020204" pitchFamily="34" charset="0"/>
              <a:buNone/>
            </a:pPr>
            <a:r>
              <a:rPr lang="ru-RU" b="0" i="0" dirty="0">
                <a:solidFill>
                  <a:srgbClr val="323232"/>
                </a:solidFill>
                <a:effectLst/>
                <a:latin typeface="YSText"/>
              </a:rPr>
              <a:t>Метрика — внешний, объективный критерий качества, обычно зависящий не от параметров модели, а только от предсказанных меток.</a:t>
            </a:r>
          </a:p>
          <a:p>
            <a:endParaRPr lang="ru-GB" dirty="0"/>
          </a:p>
          <a:p>
            <a:endParaRPr lang="ru-GB" dirty="0"/>
          </a:p>
        </p:txBody>
      </p:sp>
      <p:sp>
        <p:nvSpPr>
          <p:cNvPr id="4" name="Номер слайда 3"/>
          <p:cNvSpPr>
            <a:spLocks noGrp="1"/>
          </p:cNvSpPr>
          <p:nvPr>
            <p:ph type="sldNum" sz="quarter" idx="5"/>
          </p:nvPr>
        </p:nvSpPr>
        <p:spPr/>
        <p:txBody>
          <a:bodyPr/>
          <a:lstStyle/>
          <a:p>
            <a:fld id="{CC7AE5BE-D43F-D646-9368-4EA0133E6314}" type="slidenum">
              <a:rPr lang="ru-GB" smtClean="0"/>
              <a:t>3</a:t>
            </a:fld>
            <a:endParaRPr lang="ru-GB"/>
          </a:p>
        </p:txBody>
      </p:sp>
    </p:spTree>
    <p:extLst>
      <p:ext uri="{BB962C8B-B14F-4D97-AF65-F5344CB8AC3E}">
        <p14:creationId xmlns:p14="http://schemas.microsoft.com/office/powerpoint/2010/main" val="3699086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D0925-64CD-75A3-E7E4-28B76B46E30C}"/>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73E2A01B-4546-D337-74EC-69E4C7FFDC7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3ACF96C-436B-D6CD-7B35-AE6B1E758083}"/>
              </a:ext>
            </a:extLst>
          </p:cNvPr>
          <p:cNvSpPr>
            <a:spLocks noGrp="1"/>
          </p:cNvSpPr>
          <p:nvPr>
            <p:ph type="body" idx="1"/>
          </p:nvPr>
        </p:nvSpPr>
        <p:spPr/>
        <p:txBody>
          <a:bodyPr/>
          <a:lstStyle/>
          <a:p>
            <a:endParaRPr lang="ru-GB" dirty="0"/>
          </a:p>
        </p:txBody>
      </p:sp>
      <p:sp>
        <p:nvSpPr>
          <p:cNvPr id="4" name="Номер слайда 3">
            <a:extLst>
              <a:ext uri="{FF2B5EF4-FFF2-40B4-BE49-F238E27FC236}">
                <a16:creationId xmlns:a16="http://schemas.microsoft.com/office/drawing/2014/main" id="{5E8B81DE-BCB2-C553-E385-C2CE9D534A98}"/>
              </a:ext>
            </a:extLst>
          </p:cNvPr>
          <p:cNvSpPr>
            <a:spLocks noGrp="1"/>
          </p:cNvSpPr>
          <p:nvPr>
            <p:ph type="sldNum" sz="quarter" idx="5"/>
          </p:nvPr>
        </p:nvSpPr>
        <p:spPr/>
        <p:txBody>
          <a:bodyPr/>
          <a:lstStyle/>
          <a:p>
            <a:fld id="{CC7AE5BE-D43F-D646-9368-4EA0133E6314}" type="slidenum">
              <a:rPr lang="ru-GB" smtClean="0"/>
              <a:t>4</a:t>
            </a:fld>
            <a:endParaRPr lang="ru-GB"/>
          </a:p>
        </p:txBody>
      </p:sp>
    </p:spTree>
    <p:extLst>
      <p:ext uri="{BB962C8B-B14F-4D97-AF65-F5344CB8AC3E}">
        <p14:creationId xmlns:p14="http://schemas.microsoft.com/office/powerpoint/2010/main" val="3527573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2C6BC-F273-990A-35AE-C6916383D360}"/>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0C89409-391F-2FC4-06D6-8AFE7A1628A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D89888F0-6E6D-1718-F628-45A23E6C7B12}"/>
              </a:ext>
            </a:extLst>
          </p:cNvPr>
          <p:cNvSpPr>
            <a:spLocks noGrp="1"/>
          </p:cNvSpPr>
          <p:nvPr>
            <p:ph type="body" idx="1"/>
          </p:nvPr>
        </p:nvSpPr>
        <p:spPr/>
        <p:txBody>
          <a:bodyPr/>
          <a:lstStyle/>
          <a:p>
            <a:endParaRPr lang="ru-GB" dirty="0"/>
          </a:p>
        </p:txBody>
      </p:sp>
      <p:sp>
        <p:nvSpPr>
          <p:cNvPr id="4" name="Номер слайда 3">
            <a:extLst>
              <a:ext uri="{FF2B5EF4-FFF2-40B4-BE49-F238E27FC236}">
                <a16:creationId xmlns:a16="http://schemas.microsoft.com/office/drawing/2014/main" id="{E61AE9A4-C887-7494-5851-806BD1AAB3A2}"/>
              </a:ext>
            </a:extLst>
          </p:cNvPr>
          <p:cNvSpPr>
            <a:spLocks noGrp="1"/>
          </p:cNvSpPr>
          <p:nvPr>
            <p:ph type="sldNum" sz="quarter" idx="5"/>
          </p:nvPr>
        </p:nvSpPr>
        <p:spPr/>
        <p:txBody>
          <a:bodyPr/>
          <a:lstStyle/>
          <a:p>
            <a:fld id="{CC7AE5BE-D43F-D646-9368-4EA0133E6314}" type="slidenum">
              <a:rPr lang="ru-GB" smtClean="0"/>
              <a:t>5</a:t>
            </a:fld>
            <a:endParaRPr lang="ru-GB"/>
          </a:p>
        </p:txBody>
      </p:sp>
    </p:spTree>
    <p:extLst>
      <p:ext uri="{BB962C8B-B14F-4D97-AF65-F5344CB8AC3E}">
        <p14:creationId xmlns:p14="http://schemas.microsoft.com/office/powerpoint/2010/main" val="3144934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FC7A-DC27-F11B-3D64-006AA7D0215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A624433-596A-9438-B629-6A766CB94334}"/>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C57DA9E-0CD6-9C33-6D36-4E4BE6B6443A}"/>
              </a:ext>
            </a:extLst>
          </p:cNvPr>
          <p:cNvSpPr>
            <a:spLocks noGrp="1"/>
          </p:cNvSpPr>
          <p:nvPr>
            <p:ph type="body" idx="1"/>
          </p:nvPr>
        </p:nvSpPr>
        <p:spPr/>
        <p:txBody>
          <a:bodyPr/>
          <a:lstStyle/>
          <a:p>
            <a:endParaRPr lang="ru-GB" dirty="0"/>
          </a:p>
        </p:txBody>
      </p:sp>
      <p:sp>
        <p:nvSpPr>
          <p:cNvPr id="4" name="Номер слайда 3">
            <a:extLst>
              <a:ext uri="{FF2B5EF4-FFF2-40B4-BE49-F238E27FC236}">
                <a16:creationId xmlns:a16="http://schemas.microsoft.com/office/drawing/2014/main" id="{B5E87930-55A3-02FB-B156-028AFD24458D}"/>
              </a:ext>
            </a:extLst>
          </p:cNvPr>
          <p:cNvSpPr>
            <a:spLocks noGrp="1"/>
          </p:cNvSpPr>
          <p:nvPr>
            <p:ph type="sldNum" sz="quarter" idx="5"/>
          </p:nvPr>
        </p:nvSpPr>
        <p:spPr/>
        <p:txBody>
          <a:bodyPr/>
          <a:lstStyle/>
          <a:p>
            <a:fld id="{CC7AE5BE-D43F-D646-9368-4EA0133E6314}" type="slidenum">
              <a:rPr lang="ru-GB" smtClean="0"/>
              <a:t>6</a:t>
            </a:fld>
            <a:endParaRPr lang="ru-GB"/>
          </a:p>
        </p:txBody>
      </p:sp>
    </p:spTree>
    <p:extLst>
      <p:ext uri="{BB962C8B-B14F-4D97-AF65-F5344CB8AC3E}">
        <p14:creationId xmlns:p14="http://schemas.microsoft.com/office/powerpoint/2010/main" val="3413838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4E403-C8C7-29A6-5577-338F8D28AFBD}"/>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745FC44E-701F-5B13-8FDD-6396E1441ED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D154850-58CB-F6CD-5884-2D33250BE280}"/>
              </a:ext>
            </a:extLst>
          </p:cNvPr>
          <p:cNvSpPr>
            <a:spLocks noGrp="1"/>
          </p:cNvSpPr>
          <p:nvPr>
            <p:ph type="body" idx="1"/>
          </p:nvPr>
        </p:nvSpPr>
        <p:spPr/>
        <p:txBody>
          <a:bodyPr/>
          <a:lstStyle/>
          <a:p>
            <a:endParaRPr lang="ru-GB" dirty="0"/>
          </a:p>
        </p:txBody>
      </p:sp>
      <p:sp>
        <p:nvSpPr>
          <p:cNvPr id="4" name="Номер слайда 3">
            <a:extLst>
              <a:ext uri="{FF2B5EF4-FFF2-40B4-BE49-F238E27FC236}">
                <a16:creationId xmlns:a16="http://schemas.microsoft.com/office/drawing/2014/main" id="{77F05238-7133-77FE-5D15-D3B2779C46A0}"/>
              </a:ext>
            </a:extLst>
          </p:cNvPr>
          <p:cNvSpPr>
            <a:spLocks noGrp="1"/>
          </p:cNvSpPr>
          <p:nvPr>
            <p:ph type="sldNum" sz="quarter" idx="5"/>
          </p:nvPr>
        </p:nvSpPr>
        <p:spPr/>
        <p:txBody>
          <a:bodyPr/>
          <a:lstStyle/>
          <a:p>
            <a:fld id="{CC7AE5BE-D43F-D646-9368-4EA0133E6314}" type="slidenum">
              <a:rPr lang="ru-GB" smtClean="0"/>
              <a:t>7</a:t>
            </a:fld>
            <a:endParaRPr lang="ru-GB"/>
          </a:p>
        </p:txBody>
      </p:sp>
    </p:spTree>
    <p:extLst>
      <p:ext uri="{BB962C8B-B14F-4D97-AF65-F5344CB8AC3E}">
        <p14:creationId xmlns:p14="http://schemas.microsoft.com/office/powerpoint/2010/main" val="1414573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08119-C9DC-915D-20B7-4E2A5041A837}"/>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E8C3298-F00A-90A7-323B-E07EEB56A751}"/>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C360E6D0-2A3F-057B-B6C4-6DDF3C501001}"/>
              </a:ext>
            </a:extLst>
          </p:cNvPr>
          <p:cNvSpPr>
            <a:spLocks noGrp="1"/>
          </p:cNvSpPr>
          <p:nvPr>
            <p:ph type="body" idx="1"/>
          </p:nvPr>
        </p:nvSpPr>
        <p:spPr/>
        <p:txBody>
          <a:bodyPr/>
          <a:lstStyle/>
          <a:p>
            <a:r>
              <a:rPr lang="ru-RU" b="0" i="0" u="none" strike="noStrike" dirty="0">
                <a:solidFill>
                  <a:srgbClr val="F9FAFB"/>
                </a:solidFill>
                <a:effectLst/>
                <a:latin typeface="quote-cjk-patch"/>
              </a:rPr>
              <a:t>Матрица ошибок — это действительно фундамент, на котором строятся все остальные метрики. Без четкого понимания этого квадрата 2х2 невозможно осознанно использовать </a:t>
            </a:r>
            <a:r>
              <a:rPr lang="en-US" b="0" i="0" u="none" strike="noStrike" dirty="0">
                <a:solidFill>
                  <a:srgbClr val="F9FAFB"/>
                </a:solidFill>
                <a:effectLst/>
                <a:latin typeface="quote-cjk-patch"/>
              </a:rPr>
              <a:t>Precision, Recall </a:t>
            </a:r>
            <a:r>
              <a:rPr lang="ru-RU" b="0" i="0" u="none" strike="noStrike" dirty="0">
                <a:solidFill>
                  <a:srgbClr val="F9FAFB"/>
                </a:solidFill>
                <a:effectLst/>
                <a:latin typeface="quote-cjk-patch"/>
              </a:rPr>
              <a:t>или </a:t>
            </a:r>
            <a:r>
              <a:rPr lang="en-US" b="0" i="0" u="none" strike="noStrike" dirty="0">
                <a:solidFill>
                  <a:srgbClr val="F9FAFB"/>
                </a:solidFill>
                <a:effectLst/>
                <a:latin typeface="quote-cjk-patch"/>
              </a:rPr>
              <a:t>F1.</a:t>
            </a:r>
            <a:br>
              <a:rPr lang="ru-RU" b="0" i="0" u="none" strike="noStrike" dirty="0">
                <a:solidFill>
                  <a:srgbClr val="F9FAFB"/>
                </a:solidFill>
                <a:effectLst/>
                <a:latin typeface="quote-cjk-patch"/>
              </a:rPr>
            </a:br>
            <a:br>
              <a:rPr lang="ru-RU" b="0" i="0" u="none" strike="noStrike" dirty="0">
                <a:solidFill>
                  <a:srgbClr val="F9FAFB"/>
                </a:solidFill>
                <a:effectLst/>
                <a:latin typeface="quote-cjk-patch"/>
              </a:rPr>
            </a:br>
            <a:endParaRPr lang="ru-GB" dirty="0"/>
          </a:p>
        </p:txBody>
      </p:sp>
      <p:sp>
        <p:nvSpPr>
          <p:cNvPr id="4" name="Номер слайда 3">
            <a:extLst>
              <a:ext uri="{FF2B5EF4-FFF2-40B4-BE49-F238E27FC236}">
                <a16:creationId xmlns:a16="http://schemas.microsoft.com/office/drawing/2014/main" id="{B33CBB18-18AE-882A-0646-A9DD6C9584A0}"/>
              </a:ext>
            </a:extLst>
          </p:cNvPr>
          <p:cNvSpPr>
            <a:spLocks noGrp="1"/>
          </p:cNvSpPr>
          <p:nvPr>
            <p:ph type="sldNum" sz="quarter" idx="5"/>
          </p:nvPr>
        </p:nvSpPr>
        <p:spPr/>
        <p:txBody>
          <a:bodyPr/>
          <a:lstStyle/>
          <a:p>
            <a:fld id="{CC7AE5BE-D43F-D646-9368-4EA0133E6314}" type="slidenum">
              <a:rPr lang="ru-GB" smtClean="0"/>
              <a:t>8</a:t>
            </a:fld>
            <a:endParaRPr lang="ru-GB"/>
          </a:p>
        </p:txBody>
      </p:sp>
    </p:spTree>
    <p:extLst>
      <p:ext uri="{BB962C8B-B14F-4D97-AF65-F5344CB8AC3E}">
        <p14:creationId xmlns:p14="http://schemas.microsoft.com/office/powerpoint/2010/main" val="4222193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803CA-46DE-BE65-F4E2-C83D5F655EBC}"/>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657C037-4F82-2892-FFA4-A1FA22231DD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EC7BAF73-ABE6-C6FF-F591-F0126735A193}"/>
              </a:ext>
            </a:extLst>
          </p:cNvPr>
          <p:cNvSpPr>
            <a:spLocks noGrp="1"/>
          </p:cNvSpPr>
          <p:nvPr>
            <p:ph type="body" idx="1"/>
          </p:nvPr>
        </p:nvSpPr>
        <p:spPr/>
        <p:txBody>
          <a:bodyPr/>
          <a:lstStyle/>
          <a:p>
            <a:endParaRPr lang="ru-GB" dirty="0"/>
          </a:p>
        </p:txBody>
      </p:sp>
      <p:sp>
        <p:nvSpPr>
          <p:cNvPr id="4" name="Номер слайда 3">
            <a:extLst>
              <a:ext uri="{FF2B5EF4-FFF2-40B4-BE49-F238E27FC236}">
                <a16:creationId xmlns:a16="http://schemas.microsoft.com/office/drawing/2014/main" id="{56B03A9B-EE8E-39B3-3D3D-956DBAE02A8E}"/>
              </a:ext>
            </a:extLst>
          </p:cNvPr>
          <p:cNvSpPr>
            <a:spLocks noGrp="1"/>
          </p:cNvSpPr>
          <p:nvPr>
            <p:ph type="sldNum" sz="quarter" idx="5"/>
          </p:nvPr>
        </p:nvSpPr>
        <p:spPr/>
        <p:txBody>
          <a:bodyPr/>
          <a:lstStyle/>
          <a:p>
            <a:fld id="{CC7AE5BE-D43F-D646-9368-4EA0133E6314}" type="slidenum">
              <a:rPr lang="ru-GB" smtClean="0"/>
              <a:t>9</a:t>
            </a:fld>
            <a:endParaRPr lang="ru-GB"/>
          </a:p>
        </p:txBody>
      </p:sp>
    </p:spTree>
    <p:extLst>
      <p:ext uri="{BB962C8B-B14F-4D97-AF65-F5344CB8AC3E}">
        <p14:creationId xmlns:p14="http://schemas.microsoft.com/office/powerpoint/2010/main" val="65980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2F09-B607-ABCC-16FF-C58BDAC93A8D}"/>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38697AB-9302-A16B-7C04-E6C811D6E559}"/>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B5F16180-7098-FA87-73A6-925AD9B3DE47}"/>
              </a:ext>
            </a:extLst>
          </p:cNvPr>
          <p:cNvSpPr>
            <a:spLocks noGrp="1"/>
          </p:cNvSpPr>
          <p:nvPr>
            <p:ph type="body" idx="1"/>
          </p:nvPr>
        </p:nvSpPr>
        <p:spPr/>
        <p:txBody>
          <a:bodyPr/>
          <a:lstStyle/>
          <a:p>
            <a:endParaRPr lang="ru-GB" dirty="0"/>
          </a:p>
        </p:txBody>
      </p:sp>
      <p:sp>
        <p:nvSpPr>
          <p:cNvPr id="4" name="Номер слайда 3">
            <a:extLst>
              <a:ext uri="{FF2B5EF4-FFF2-40B4-BE49-F238E27FC236}">
                <a16:creationId xmlns:a16="http://schemas.microsoft.com/office/drawing/2014/main" id="{9C237798-6C8D-EBD2-EC6B-3A8731111EE6}"/>
              </a:ext>
            </a:extLst>
          </p:cNvPr>
          <p:cNvSpPr>
            <a:spLocks noGrp="1"/>
          </p:cNvSpPr>
          <p:nvPr>
            <p:ph type="sldNum" sz="quarter" idx="5"/>
          </p:nvPr>
        </p:nvSpPr>
        <p:spPr/>
        <p:txBody>
          <a:bodyPr/>
          <a:lstStyle/>
          <a:p>
            <a:fld id="{CC7AE5BE-D43F-D646-9368-4EA0133E6314}" type="slidenum">
              <a:rPr lang="ru-GB" smtClean="0"/>
              <a:t>10</a:t>
            </a:fld>
            <a:endParaRPr lang="ru-GB"/>
          </a:p>
        </p:txBody>
      </p:sp>
    </p:spTree>
    <p:extLst>
      <p:ext uri="{BB962C8B-B14F-4D97-AF65-F5344CB8AC3E}">
        <p14:creationId xmlns:p14="http://schemas.microsoft.com/office/powerpoint/2010/main" val="2266505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C214B-5798-95BD-A552-421FECFFB85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963AB1A4-AFF3-CB94-EC1F-514D60430D4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0D4A5F25-9B82-EBAC-3DD1-CFD8782D68E9}"/>
              </a:ext>
            </a:extLst>
          </p:cNvPr>
          <p:cNvSpPr>
            <a:spLocks noGrp="1"/>
          </p:cNvSpPr>
          <p:nvPr>
            <p:ph type="body" idx="1"/>
          </p:nvPr>
        </p:nvSpPr>
        <p:spPr/>
        <p:txBody>
          <a:bodyPr/>
          <a:lstStyle/>
          <a:p>
            <a:r>
              <a:rPr lang="ru-RU" b="1" i="0" dirty="0">
                <a:solidFill>
                  <a:srgbClr val="F9FAFB"/>
                </a:solidFill>
                <a:effectLst/>
                <a:latin typeface="quote-cjk-patch"/>
              </a:rPr>
              <a:t>(Ошибка </a:t>
            </a:r>
            <a:r>
              <a:rPr lang="en-US" b="1" i="0" dirty="0">
                <a:solidFill>
                  <a:srgbClr val="F9FAFB"/>
                </a:solidFill>
                <a:effectLst/>
                <a:latin typeface="quote-cjk-patch"/>
              </a:rPr>
              <a:t>I </a:t>
            </a:r>
            <a:r>
              <a:rPr lang="ru-RU" b="1" i="0" dirty="0">
                <a:solidFill>
                  <a:srgbClr val="F9FAFB"/>
                </a:solidFill>
                <a:effectLst/>
                <a:latin typeface="quote-cjk-patch"/>
              </a:rPr>
              <a:t>рода)</a:t>
            </a:r>
            <a:endParaRPr lang="ru-GB" dirty="0"/>
          </a:p>
        </p:txBody>
      </p:sp>
      <p:sp>
        <p:nvSpPr>
          <p:cNvPr id="4" name="Номер слайда 3">
            <a:extLst>
              <a:ext uri="{FF2B5EF4-FFF2-40B4-BE49-F238E27FC236}">
                <a16:creationId xmlns:a16="http://schemas.microsoft.com/office/drawing/2014/main" id="{9E78D6E4-D700-5B98-01B7-AD2B0B215CF4}"/>
              </a:ext>
            </a:extLst>
          </p:cNvPr>
          <p:cNvSpPr>
            <a:spLocks noGrp="1"/>
          </p:cNvSpPr>
          <p:nvPr>
            <p:ph type="sldNum" sz="quarter" idx="5"/>
          </p:nvPr>
        </p:nvSpPr>
        <p:spPr/>
        <p:txBody>
          <a:bodyPr/>
          <a:lstStyle/>
          <a:p>
            <a:fld id="{CC7AE5BE-D43F-D646-9368-4EA0133E6314}" type="slidenum">
              <a:rPr lang="ru-GB" smtClean="0"/>
              <a:t>11</a:t>
            </a:fld>
            <a:endParaRPr lang="ru-GB"/>
          </a:p>
        </p:txBody>
      </p:sp>
    </p:spTree>
    <p:extLst>
      <p:ext uri="{BB962C8B-B14F-4D97-AF65-F5344CB8AC3E}">
        <p14:creationId xmlns:p14="http://schemas.microsoft.com/office/powerpoint/2010/main" val="2165045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39D0C-B302-7AD2-7016-F22D340C7BF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0C6F50D8-7C2B-DE64-9F09-CCA8C1F6B98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C6148337-6493-47B9-A144-00BC8DD45D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1" i="0" dirty="0">
                <a:solidFill>
                  <a:srgbClr val="F9FAFB"/>
                </a:solidFill>
                <a:effectLst/>
                <a:latin typeface="quote-cjk-patch"/>
              </a:rPr>
              <a:t>(Ошибка </a:t>
            </a:r>
            <a:r>
              <a:rPr lang="en-US" b="1" i="0" dirty="0">
                <a:solidFill>
                  <a:srgbClr val="F9FAFB"/>
                </a:solidFill>
                <a:effectLst/>
                <a:latin typeface="quote-cjk-patch"/>
              </a:rPr>
              <a:t>II </a:t>
            </a:r>
            <a:r>
              <a:rPr lang="ru-RU" b="1" i="0" dirty="0">
                <a:solidFill>
                  <a:srgbClr val="F9FAFB"/>
                </a:solidFill>
                <a:effectLst/>
                <a:latin typeface="quote-cjk-patch"/>
              </a:rPr>
              <a:t>рода)</a:t>
            </a:r>
            <a:endParaRPr lang="ru-GB" dirty="0"/>
          </a:p>
        </p:txBody>
      </p:sp>
      <p:sp>
        <p:nvSpPr>
          <p:cNvPr id="4" name="Номер слайда 3">
            <a:extLst>
              <a:ext uri="{FF2B5EF4-FFF2-40B4-BE49-F238E27FC236}">
                <a16:creationId xmlns:a16="http://schemas.microsoft.com/office/drawing/2014/main" id="{6014219E-98B5-357A-1149-32AB23B57894}"/>
              </a:ext>
            </a:extLst>
          </p:cNvPr>
          <p:cNvSpPr>
            <a:spLocks noGrp="1"/>
          </p:cNvSpPr>
          <p:nvPr>
            <p:ph type="sldNum" sz="quarter" idx="5"/>
          </p:nvPr>
        </p:nvSpPr>
        <p:spPr/>
        <p:txBody>
          <a:bodyPr/>
          <a:lstStyle/>
          <a:p>
            <a:fld id="{CC7AE5BE-D43F-D646-9368-4EA0133E6314}" type="slidenum">
              <a:rPr lang="ru-GB" smtClean="0"/>
              <a:t>12</a:t>
            </a:fld>
            <a:endParaRPr lang="ru-GB"/>
          </a:p>
        </p:txBody>
      </p:sp>
    </p:spTree>
    <p:extLst>
      <p:ext uri="{BB962C8B-B14F-4D97-AF65-F5344CB8AC3E}">
        <p14:creationId xmlns:p14="http://schemas.microsoft.com/office/powerpoint/2010/main" val="617201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A1B80-FED4-1AE9-F686-8523B82128C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A9013DE7-9104-AEE3-18D4-EC892C9CF4A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1F975158-C86A-53CF-6F6B-7857BFE6E80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GB" dirty="0"/>
          </a:p>
        </p:txBody>
      </p:sp>
      <p:sp>
        <p:nvSpPr>
          <p:cNvPr id="4" name="Номер слайда 3">
            <a:extLst>
              <a:ext uri="{FF2B5EF4-FFF2-40B4-BE49-F238E27FC236}">
                <a16:creationId xmlns:a16="http://schemas.microsoft.com/office/drawing/2014/main" id="{F9011FB0-3892-8A82-6E89-849C5571DA29}"/>
              </a:ext>
            </a:extLst>
          </p:cNvPr>
          <p:cNvSpPr>
            <a:spLocks noGrp="1"/>
          </p:cNvSpPr>
          <p:nvPr>
            <p:ph type="sldNum" sz="quarter" idx="5"/>
          </p:nvPr>
        </p:nvSpPr>
        <p:spPr/>
        <p:txBody>
          <a:bodyPr/>
          <a:lstStyle/>
          <a:p>
            <a:fld id="{CC7AE5BE-D43F-D646-9368-4EA0133E6314}" type="slidenum">
              <a:rPr lang="ru-GB" smtClean="0"/>
              <a:t>13</a:t>
            </a:fld>
            <a:endParaRPr lang="ru-GB"/>
          </a:p>
        </p:txBody>
      </p:sp>
    </p:spTree>
    <p:extLst>
      <p:ext uri="{BB962C8B-B14F-4D97-AF65-F5344CB8AC3E}">
        <p14:creationId xmlns:p14="http://schemas.microsoft.com/office/powerpoint/2010/main" val="4264549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8879F-0A49-D46F-8043-7C217F17D659}"/>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6C51D222-D349-78E3-FEF8-416A48393D0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0566560F-5E9B-9635-975A-B78BD1750A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GB" dirty="0"/>
          </a:p>
        </p:txBody>
      </p:sp>
      <p:sp>
        <p:nvSpPr>
          <p:cNvPr id="4" name="Номер слайда 3">
            <a:extLst>
              <a:ext uri="{FF2B5EF4-FFF2-40B4-BE49-F238E27FC236}">
                <a16:creationId xmlns:a16="http://schemas.microsoft.com/office/drawing/2014/main" id="{007D5E54-4C8B-7851-BEB4-C4C593B8E94D}"/>
              </a:ext>
            </a:extLst>
          </p:cNvPr>
          <p:cNvSpPr>
            <a:spLocks noGrp="1"/>
          </p:cNvSpPr>
          <p:nvPr>
            <p:ph type="sldNum" sz="quarter" idx="5"/>
          </p:nvPr>
        </p:nvSpPr>
        <p:spPr/>
        <p:txBody>
          <a:bodyPr/>
          <a:lstStyle/>
          <a:p>
            <a:fld id="{CC7AE5BE-D43F-D646-9368-4EA0133E6314}" type="slidenum">
              <a:rPr lang="ru-GB" smtClean="0"/>
              <a:t>14</a:t>
            </a:fld>
            <a:endParaRPr lang="ru-GB"/>
          </a:p>
        </p:txBody>
      </p:sp>
    </p:spTree>
    <p:extLst>
      <p:ext uri="{BB962C8B-B14F-4D97-AF65-F5344CB8AC3E}">
        <p14:creationId xmlns:p14="http://schemas.microsoft.com/office/powerpoint/2010/main" val="1597174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9A27-F922-FD53-6181-A8B5D8556AE8}"/>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2D5AE7A-4F7F-A249-EC02-733A1872EA3B}"/>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CB03BC23-5B1C-9F44-4E7B-024C646CAF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GB" dirty="0"/>
              <a:t>Дисбаланс классов</a:t>
            </a:r>
          </a:p>
        </p:txBody>
      </p:sp>
      <p:sp>
        <p:nvSpPr>
          <p:cNvPr id="4" name="Номер слайда 3">
            <a:extLst>
              <a:ext uri="{FF2B5EF4-FFF2-40B4-BE49-F238E27FC236}">
                <a16:creationId xmlns:a16="http://schemas.microsoft.com/office/drawing/2014/main" id="{BA5144A3-1F0A-1197-5F42-0793BC597CF3}"/>
              </a:ext>
            </a:extLst>
          </p:cNvPr>
          <p:cNvSpPr>
            <a:spLocks noGrp="1"/>
          </p:cNvSpPr>
          <p:nvPr>
            <p:ph type="sldNum" sz="quarter" idx="5"/>
          </p:nvPr>
        </p:nvSpPr>
        <p:spPr/>
        <p:txBody>
          <a:bodyPr/>
          <a:lstStyle/>
          <a:p>
            <a:fld id="{CC7AE5BE-D43F-D646-9368-4EA0133E6314}" type="slidenum">
              <a:rPr lang="ru-GB" smtClean="0"/>
              <a:t>15</a:t>
            </a:fld>
            <a:endParaRPr lang="ru-GB"/>
          </a:p>
        </p:txBody>
      </p:sp>
    </p:spTree>
    <p:extLst>
      <p:ext uri="{BB962C8B-B14F-4D97-AF65-F5344CB8AC3E}">
        <p14:creationId xmlns:p14="http://schemas.microsoft.com/office/powerpoint/2010/main" val="19186429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51C43-E88B-6FC4-C6C7-E4A1184467A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78BE51E7-40A6-872E-F6BC-A2E0688B75CD}"/>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33EEA0BF-C00C-0705-8E9A-E1DA62AC770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GB" dirty="0"/>
          </a:p>
        </p:txBody>
      </p:sp>
      <p:sp>
        <p:nvSpPr>
          <p:cNvPr id="4" name="Номер слайда 3">
            <a:extLst>
              <a:ext uri="{FF2B5EF4-FFF2-40B4-BE49-F238E27FC236}">
                <a16:creationId xmlns:a16="http://schemas.microsoft.com/office/drawing/2014/main" id="{B4A8A1E8-1126-75E5-E052-B9E52B56EF78}"/>
              </a:ext>
            </a:extLst>
          </p:cNvPr>
          <p:cNvSpPr>
            <a:spLocks noGrp="1"/>
          </p:cNvSpPr>
          <p:nvPr>
            <p:ph type="sldNum" sz="quarter" idx="5"/>
          </p:nvPr>
        </p:nvSpPr>
        <p:spPr/>
        <p:txBody>
          <a:bodyPr/>
          <a:lstStyle/>
          <a:p>
            <a:fld id="{CC7AE5BE-D43F-D646-9368-4EA0133E6314}" type="slidenum">
              <a:rPr lang="ru-GB" smtClean="0"/>
              <a:t>16</a:t>
            </a:fld>
            <a:endParaRPr lang="ru-GB"/>
          </a:p>
        </p:txBody>
      </p:sp>
    </p:spTree>
    <p:extLst>
      <p:ext uri="{BB962C8B-B14F-4D97-AF65-F5344CB8AC3E}">
        <p14:creationId xmlns:p14="http://schemas.microsoft.com/office/powerpoint/2010/main" val="23906450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E8088-76E9-D51D-4DED-F03DE5EE675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983E6F12-2461-75A9-86DD-C62D66784C8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0A6E09AF-9BF4-FD0B-7573-3C26CA8E5807}"/>
              </a:ext>
            </a:extLst>
          </p:cNvPr>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Оценим, насколько точна модель среди тех клиентов, которым она выдала кредит?</a:t>
            </a:r>
            <a:br>
              <a:rPr lang="ru-RU" dirty="0"/>
            </a:br>
            <a:r>
              <a:rPr lang="ru-RU" b="0" i="0" u="none" strike="noStrike" dirty="0">
                <a:solidFill>
                  <a:srgbClr val="222222"/>
                </a:solidFill>
                <a:effectLst/>
                <a:latin typeface="Roboto" panose="02000000000000000000" pitchFamily="2" charset="0"/>
              </a:rPr>
              <a:t>То есть посчитаем долю правильных ответов модели среди всех её положительных предсказаний</a:t>
            </a:r>
            <a:endParaRPr lang="ru-GB" dirty="0"/>
          </a:p>
        </p:txBody>
      </p:sp>
      <p:sp>
        <p:nvSpPr>
          <p:cNvPr id="4" name="Номер слайда 3">
            <a:extLst>
              <a:ext uri="{FF2B5EF4-FFF2-40B4-BE49-F238E27FC236}">
                <a16:creationId xmlns:a16="http://schemas.microsoft.com/office/drawing/2014/main" id="{C015D7AD-F53C-1645-3561-6359E2D69B79}"/>
              </a:ext>
            </a:extLst>
          </p:cNvPr>
          <p:cNvSpPr>
            <a:spLocks noGrp="1"/>
          </p:cNvSpPr>
          <p:nvPr>
            <p:ph type="sldNum" sz="quarter" idx="5"/>
          </p:nvPr>
        </p:nvSpPr>
        <p:spPr/>
        <p:txBody>
          <a:bodyPr/>
          <a:lstStyle/>
          <a:p>
            <a:fld id="{CC7AE5BE-D43F-D646-9368-4EA0133E6314}" type="slidenum">
              <a:rPr lang="ru-GB" smtClean="0"/>
              <a:t>17</a:t>
            </a:fld>
            <a:endParaRPr lang="ru-GB"/>
          </a:p>
        </p:txBody>
      </p:sp>
    </p:spTree>
    <p:extLst>
      <p:ext uri="{BB962C8B-B14F-4D97-AF65-F5344CB8AC3E}">
        <p14:creationId xmlns:p14="http://schemas.microsoft.com/office/powerpoint/2010/main" val="3305888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92C7A-D67E-09D5-240C-7019D2AFF6BA}"/>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0D046EE4-0C6C-3D35-11E0-200C0EF400A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8CF8155-5C7A-B8F3-5A22-B1246C2555DB}"/>
              </a:ext>
            </a:extLst>
          </p:cNvPr>
          <p:cNvSpPr>
            <a:spLocks noGrp="1"/>
          </p:cNvSpPr>
          <p:nvPr>
            <p:ph type="body" idx="1"/>
          </p:nvPr>
        </p:nvSpPr>
        <p:spPr/>
        <p:txBody>
          <a:bodyPr/>
          <a:lstStyle/>
          <a:p>
            <a:pPr algn="l" rtl="0"/>
            <a:r>
              <a:rPr lang="ru-RU" b="0" i="0" dirty="0">
                <a:solidFill>
                  <a:srgbClr val="222222"/>
                </a:solidFill>
                <a:effectLst/>
                <a:latin typeface="Roboto" panose="02000000000000000000" pitchFamily="2" charset="0"/>
              </a:rPr>
              <a:t>Вторая модель имеет гораздо более высокую точность</a:t>
            </a:r>
            <a:br>
              <a:rPr lang="ru-RU" b="0" i="0" dirty="0">
                <a:solidFill>
                  <a:srgbClr val="222222"/>
                </a:solidFill>
                <a:effectLst/>
                <a:latin typeface="Roboto" panose="02000000000000000000" pitchFamily="2" charset="0"/>
              </a:rPr>
            </a:br>
            <a:r>
              <a:rPr lang="ru-RU" b="0" i="0" dirty="0">
                <a:solidFill>
                  <a:srgbClr val="222222"/>
                </a:solidFill>
                <a:effectLst/>
                <a:latin typeface="Roboto" panose="02000000000000000000" pitchFamily="2" charset="0"/>
              </a:rPr>
              <a:t>Это означает, что при применении второй модели будет очень мало клиентов, которым модель выдаст кредит, а они его не вернут.</a:t>
            </a:r>
          </a:p>
          <a:p>
            <a:br>
              <a:rPr lang="ru-RU" dirty="0"/>
            </a:br>
            <a:endParaRPr lang="ru-GB" dirty="0"/>
          </a:p>
        </p:txBody>
      </p:sp>
      <p:sp>
        <p:nvSpPr>
          <p:cNvPr id="4" name="Номер слайда 3">
            <a:extLst>
              <a:ext uri="{FF2B5EF4-FFF2-40B4-BE49-F238E27FC236}">
                <a16:creationId xmlns:a16="http://schemas.microsoft.com/office/drawing/2014/main" id="{30F2C1A2-01D8-5927-7C89-7C0E34EBA421}"/>
              </a:ext>
            </a:extLst>
          </p:cNvPr>
          <p:cNvSpPr>
            <a:spLocks noGrp="1"/>
          </p:cNvSpPr>
          <p:nvPr>
            <p:ph type="sldNum" sz="quarter" idx="5"/>
          </p:nvPr>
        </p:nvSpPr>
        <p:spPr/>
        <p:txBody>
          <a:bodyPr/>
          <a:lstStyle/>
          <a:p>
            <a:fld id="{CC7AE5BE-D43F-D646-9368-4EA0133E6314}" type="slidenum">
              <a:rPr lang="ru-GB" smtClean="0"/>
              <a:t>18</a:t>
            </a:fld>
            <a:endParaRPr lang="ru-GB"/>
          </a:p>
        </p:txBody>
      </p:sp>
    </p:spTree>
    <p:extLst>
      <p:ext uri="{BB962C8B-B14F-4D97-AF65-F5344CB8AC3E}">
        <p14:creationId xmlns:p14="http://schemas.microsoft.com/office/powerpoint/2010/main" val="2993601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6273C-ACCD-AE1C-F410-6760CA9E2587}"/>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F43C789C-D9B7-322D-3425-1E0CC234A93C}"/>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4D16678-13C5-41CE-D4F6-CE65C73F2183}"/>
              </a:ext>
            </a:extLst>
          </p:cNvPr>
          <p:cNvSpPr>
            <a:spLocks noGrp="1"/>
          </p:cNvSpPr>
          <p:nvPr>
            <p:ph type="body" idx="1"/>
          </p:nvPr>
        </p:nvSpPr>
        <p:spPr/>
        <p:txBody>
          <a:bodyPr/>
          <a:lstStyle/>
          <a:p>
            <a:pPr algn="l" rtl="0"/>
            <a:endParaRPr lang="ru-GB" dirty="0"/>
          </a:p>
        </p:txBody>
      </p:sp>
      <p:sp>
        <p:nvSpPr>
          <p:cNvPr id="4" name="Номер слайда 3">
            <a:extLst>
              <a:ext uri="{FF2B5EF4-FFF2-40B4-BE49-F238E27FC236}">
                <a16:creationId xmlns:a16="http://schemas.microsoft.com/office/drawing/2014/main" id="{30BC7818-3ED5-23C3-80F3-ED55F1614710}"/>
              </a:ext>
            </a:extLst>
          </p:cNvPr>
          <p:cNvSpPr>
            <a:spLocks noGrp="1"/>
          </p:cNvSpPr>
          <p:nvPr>
            <p:ph type="sldNum" sz="quarter" idx="5"/>
          </p:nvPr>
        </p:nvSpPr>
        <p:spPr/>
        <p:txBody>
          <a:bodyPr/>
          <a:lstStyle/>
          <a:p>
            <a:fld id="{CC7AE5BE-D43F-D646-9368-4EA0133E6314}" type="slidenum">
              <a:rPr lang="ru-GB" smtClean="0"/>
              <a:t>19</a:t>
            </a:fld>
            <a:endParaRPr lang="ru-GB"/>
          </a:p>
        </p:txBody>
      </p:sp>
    </p:spTree>
    <p:extLst>
      <p:ext uri="{BB962C8B-B14F-4D97-AF65-F5344CB8AC3E}">
        <p14:creationId xmlns:p14="http://schemas.microsoft.com/office/powerpoint/2010/main" val="31363104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BC30D-E6B8-C028-C6D7-789C447C08AC}"/>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8A8BF26-E64B-8616-E717-4221645AA3C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04F26732-120E-7FEF-1D3D-7402271A293E}"/>
              </a:ext>
            </a:extLst>
          </p:cNvPr>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У первой модели полнота больше, при этом полнота второй модели довольно низкая. Это означает, что если использовать вторую модель, то очень многие клиенты, которые могут вернуть кредит, по решению модели его не получат. Это плохо.</a:t>
            </a:r>
            <a:br>
              <a:rPr lang="ru-RU" dirty="0"/>
            </a:br>
            <a:endParaRPr lang="ru-GB" dirty="0"/>
          </a:p>
        </p:txBody>
      </p:sp>
      <p:sp>
        <p:nvSpPr>
          <p:cNvPr id="4" name="Номер слайда 3">
            <a:extLst>
              <a:ext uri="{FF2B5EF4-FFF2-40B4-BE49-F238E27FC236}">
                <a16:creationId xmlns:a16="http://schemas.microsoft.com/office/drawing/2014/main" id="{EA6ADABE-AE98-4B2E-4D0B-F5FB0C844EDE}"/>
              </a:ext>
            </a:extLst>
          </p:cNvPr>
          <p:cNvSpPr>
            <a:spLocks noGrp="1"/>
          </p:cNvSpPr>
          <p:nvPr>
            <p:ph type="sldNum" sz="quarter" idx="5"/>
          </p:nvPr>
        </p:nvSpPr>
        <p:spPr/>
        <p:txBody>
          <a:bodyPr/>
          <a:lstStyle/>
          <a:p>
            <a:fld id="{CC7AE5BE-D43F-D646-9368-4EA0133E6314}" type="slidenum">
              <a:rPr lang="ru-GB" smtClean="0"/>
              <a:t>20</a:t>
            </a:fld>
            <a:endParaRPr lang="ru-GB"/>
          </a:p>
        </p:txBody>
      </p:sp>
    </p:spTree>
    <p:extLst>
      <p:ext uri="{BB962C8B-B14F-4D97-AF65-F5344CB8AC3E}">
        <p14:creationId xmlns:p14="http://schemas.microsoft.com/office/powerpoint/2010/main" val="12142476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C9CB2-87E7-3A5A-9B67-18202003E577}"/>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607DA6BB-EBF3-32D1-1436-ED359539EF4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17054901-CED4-3D3C-4458-F3AE81EA40D5}"/>
              </a:ext>
            </a:extLst>
          </p:cNvPr>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У первой модели полнота больше, при этом полнота второй модели довольно низкая. Это означает, что если использовать вторую модель, то очень многие клиенты, которые могут вернуть кредит, по решению модели его не получат. Это плохо.</a:t>
            </a:r>
            <a:br>
              <a:rPr lang="ru-RU" dirty="0"/>
            </a:br>
            <a:endParaRPr lang="ru-GB" dirty="0"/>
          </a:p>
        </p:txBody>
      </p:sp>
      <p:sp>
        <p:nvSpPr>
          <p:cNvPr id="4" name="Номер слайда 3">
            <a:extLst>
              <a:ext uri="{FF2B5EF4-FFF2-40B4-BE49-F238E27FC236}">
                <a16:creationId xmlns:a16="http://schemas.microsoft.com/office/drawing/2014/main" id="{7B8126A9-7432-31CF-1453-FA05E247223D}"/>
              </a:ext>
            </a:extLst>
          </p:cNvPr>
          <p:cNvSpPr>
            <a:spLocks noGrp="1"/>
          </p:cNvSpPr>
          <p:nvPr>
            <p:ph type="sldNum" sz="quarter" idx="5"/>
          </p:nvPr>
        </p:nvSpPr>
        <p:spPr/>
        <p:txBody>
          <a:bodyPr/>
          <a:lstStyle/>
          <a:p>
            <a:fld id="{CC7AE5BE-D43F-D646-9368-4EA0133E6314}" type="slidenum">
              <a:rPr lang="ru-GB" smtClean="0"/>
              <a:t>21</a:t>
            </a:fld>
            <a:endParaRPr lang="ru-GB"/>
          </a:p>
        </p:txBody>
      </p:sp>
    </p:spTree>
    <p:extLst>
      <p:ext uri="{BB962C8B-B14F-4D97-AF65-F5344CB8AC3E}">
        <p14:creationId xmlns:p14="http://schemas.microsoft.com/office/powerpoint/2010/main" val="13582183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91D3F-5DDF-65C3-731E-3FDA719184E8}"/>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9992122B-250A-121C-778E-7653292F4651}"/>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2AAB9DF-5002-5655-BA52-8F595782E7DE}"/>
              </a:ext>
            </a:extLst>
          </p:cNvPr>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У первой модели полнота больше, при этом полнота второй модели довольно низкая. Это означает, что если использовать вторую модель, то очень многие клиенты, которые могут вернуть кредит, по решению модели его не получат. Это плохо.</a:t>
            </a:r>
            <a:br>
              <a:rPr lang="ru-RU" dirty="0"/>
            </a:br>
            <a:endParaRPr lang="ru-GB" dirty="0"/>
          </a:p>
        </p:txBody>
      </p:sp>
      <p:sp>
        <p:nvSpPr>
          <p:cNvPr id="4" name="Номер слайда 3">
            <a:extLst>
              <a:ext uri="{FF2B5EF4-FFF2-40B4-BE49-F238E27FC236}">
                <a16:creationId xmlns:a16="http://schemas.microsoft.com/office/drawing/2014/main" id="{DFD69D0D-B5D5-D30B-37BC-BB2CC435C0E8}"/>
              </a:ext>
            </a:extLst>
          </p:cNvPr>
          <p:cNvSpPr>
            <a:spLocks noGrp="1"/>
          </p:cNvSpPr>
          <p:nvPr>
            <p:ph type="sldNum" sz="quarter" idx="5"/>
          </p:nvPr>
        </p:nvSpPr>
        <p:spPr/>
        <p:txBody>
          <a:bodyPr/>
          <a:lstStyle/>
          <a:p>
            <a:fld id="{CC7AE5BE-D43F-D646-9368-4EA0133E6314}" type="slidenum">
              <a:rPr lang="ru-GB" smtClean="0"/>
              <a:t>22</a:t>
            </a:fld>
            <a:endParaRPr lang="ru-GB"/>
          </a:p>
        </p:txBody>
      </p:sp>
    </p:spTree>
    <p:extLst>
      <p:ext uri="{BB962C8B-B14F-4D97-AF65-F5344CB8AC3E}">
        <p14:creationId xmlns:p14="http://schemas.microsoft.com/office/powerpoint/2010/main" val="3011896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A40D3-19BF-8B2D-CCDA-820AEC54AF0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AAC2D26-869E-0C78-F4BE-5ECDE4B45D7C}"/>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8AB1D66E-27F3-17EE-B34A-A72A91CE6465}"/>
              </a:ext>
            </a:extLst>
          </p:cNvPr>
          <p:cNvSpPr>
            <a:spLocks noGrp="1"/>
          </p:cNvSpPr>
          <p:nvPr>
            <p:ph type="body" idx="1"/>
          </p:nvPr>
        </p:nvSpPr>
        <p:spPr/>
        <p:txBody>
          <a:bodyPr/>
          <a:lstStyle/>
          <a:p>
            <a:pPr algn="l" rtl="0"/>
            <a:endParaRPr lang="ru-RU" b="0" i="0" dirty="0">
              <a:solidFill>
                <a:srgbClr val="222222"/>
              </a:solidFill>
              <a:effectLst/>
              <a:latin typeface="Roboto" panose="02000000000000000000" pitchFamily="2" charset="0"/>
            </a:endParaRPr>
          </a:p>
        </p:txBody>
      </p:sp>
      <p:sp>
        <p:nvSpPr>
          <p:cNvPr id="4" name="Номер слайда 3">
            <a:extLst>
              <a:ext uri="{FF2B5EF4-FFF2-40B4-BE49-F238E27FC236}">
                <a16:creationId xmlns:a16="http://schemas.microsoft.com/office/drawing/2014/main" id="{D3BBB637-46E4-9F30-3576-47FD07BA174B}"/>
              </a:ext>
            </a:extLst>
          </p:cNvPr>
          <p:cNvSpPr>
            <a:spLocks noGrp="1"/>
          </p:cNvSpPr>
          <p:nvPr>
            <p:ph type="sldNum" sz="quarter" idx="5"/>
          </p:nvPr>
        </p:nvSpPr>
        <p:spPr/>
        <p:txBody>
          <a:bodyPr/>
          <a:lstStyle/>
          <a:p>
            <a:fld id="{CC7AE5BE-D43F-D646-9368-4EA0133E6314}" type="slidenum">
              <a:rPr lang="ru-GB" smtClean="0"/>
              <a:t>23</a:t>
            </a:fld>
            <a:endParaRPr lang="ru-GB"/>
          </a:p>
        </p:txBody>
      </p:sp>
    </p:spTree>
    <p:extLst>
      <p:ext uri="{BB962C8B-B14F-4D97-AF65-F5344CB8AC3E}">
        <p14:creationId xmlns:p14="http://schemas.microsoft.com/office/powerpoint/2010/main" val="36422382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83A15-614A-635E-A1B1-482CFF5969C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88AD895-C289-1660-1F57-FA459170020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1D737E0F-1BEF-9CF4-4BCA-93E0C61678FD}"/>
              </a:ext>
            </a:extLst>
          </p:cNvPr>
          <p:cNvSpPr>
            <a:spLocks noGrp="1"/>
          </p:cNvSpPr>
          <p:nvPr>
            <p:ph type="body" idx="1"/>
          </p:nvPr>
        </p:nvSpPr>
        <p:spPr/>
        <p:txBody>
          <a:bodyPr/>
          <a:lstStyle/>
          <a:p>
            <a:pPr algn="l" rtl="0"/>
            <a:endParaRPr lang="ru-RU" b="0" i="0" dirty="0">
              <a:solidFill>
                <a:srgbClr val="222222"/>
              </a:solidFill>
              <a:effectLst/>
              <a:latin typeface="Roboto" panose="02000000000000000000" pitchFamily="2" charset="0"/>
            </a:endParaRPr>
          </a:p>
        </p:txBody>
      </p:sp>
      <p:sp>
        <p:nvSpPr>
          <p:cNvPr id="4" name="Номер слайда 3">
            <a:extLst>
              <a:ext uri="{FF2B5EF4-FFF2-40B4-BE49-F238E27FC236}">
                <a16:creationId xmlns:a16="http://schemas.microsoft.com/office/drawing/2014/main" id="{5A5D3BA4-7F05-3E87-41FA-C96D1F5984BE}"/>
              </a:ext>
            </a:extLst>
          </p:cNvPr>
          <p:cNvSpPr>
            <a:spLocks noGrp="1"/>
          </p:cNvSpPr>
          <p:nvPr>
            <p:ph type="sldNum" sz="quarter" idx="5"/>
          </p:nvPr>
        </p:nvSpPr>
        <p:spPr/>
        <p:txBody>
          <a:bodyPr/>
          <a:lstStyle/>
          <a:p>
            <a:fld id="{CC7AE5BE-D43F-D646-9368-4EA0133E6314}" type="slidenum">
              <a:rPr lang="ru-GB" smtClean="0"/>
              <a:t>24</a:t>
            </a:fld>
            <a:endParaRPr lang="ru-GB"/>
          </a:p>
        </p:txBody>
      </p:sp>
    </p:spTree>
    <p:extLst>
      <p:ext uri="{BB962C8B-B14F-4D97-AF65-F5344CB8AC3E}">
        <p14:creationId xmlns:p14="http://schemas.microsoft.com/office/powerpoint/2010/main" val="38816456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AB489-EFF2-D562-9608-DDF40B2DCE9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352B797-E702-D8A0-B7E0-54F0A20B810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C4BD677F-5ED4-3055-BD2F-C833EC0EB98E}"/>
              </a:ext>
            </a:extLst>
          </p:cNvPr>
          <p:cNvSpPr>
            <a:spLocks noGrp="1"/>
          </p:cNvSpPr>
          <p:nvPr>
            <p:ph type="body" idx="1"/>
          </p:nvPr>
        </p:nvSpPr>
        <p:spPr/>
        <p:txBody>
          <a:bodyPr/>
          <a:lstStyle/>
          <a:p>
            <a:pPr algn="l" rtl="0"/>
            <a:endParaRPr lang="ru-RU" b="0" i="0" dirty="0">
              <a:solidFill>
                <a:srgbClr val="222222"/>
              </a:solidFill>
              <a:effectLst/>
              <a:latin typeface="Roboto" panose="02000000000000000000" pitchFamily="2" charset="0"/>
            </a:endParaRPr>
          </a:p>
        </p:txBody>
      </p:sp>
      <p:sp>
        <p:nvSpPr>
          <p:cNvPr id="4" name="Номер слайда 3">
            <a:extLst>
              <a:ext uri="{FF2B5EF4-FFF2-40B4-BE49-F238E27FC236}">
                <a16:creationId xmlns:a16="http://schemas.microsoft.com/office/drawing/2014/main" id="{A73BFE5D-18A7-A54D-0816-9D6D48CAA9D6}"/>
              </a:ext>
            </a:extLst>
          </p:cNvPr>
          <p:cNvSpPr>
            <a:spLocks noGrp="1"/>
          </p:cNvSpPr>
          <p:nvPr>
            <p:ph type="sldNum" sz="quarter" idx="5"/>
          </p:nvPr>
        </p:nvSpPr>
        <p:spPr/>
        <p:txBody>
          <a:bodyPr/>
          <a:lstStyle/>
          <a:p>
            <a:fld id="{CC7AE5BE-D43F-D646-9368-4EA0133E6314}" type="slidenum">
              <a:rPr lang="ru-GB" smtClean="0"/>
              <a:t>25</a:t>
            </a:fld>
            <a:endParaRPr lang="ru-GB"/>
          </a:p>
        </p:txBody>
      </p:sp>
    </p:spTree>
    <p:extLst>
      <p:ext uri="{BB962C8B-B14F-4D97-AF65-F5344CB8AC3E}">
        <p14:creationId xmlns:p14="http://schemas.microsoft.com/office/powerpoint/2010/main" val="1369178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GB" dirty="0"/>
          </a:p>
        </p:txBody>
      </p:sp>
      <p:sp>
        <p:nvSpPr>
          <p:cNvPr id="4" name="Номер слайда 3"/>
          <p:cNvSpPr>
            <a:spLocks noGrp="1"/>
          </p:cNvSpPr>
          <p:nvPr>
            <p:ph type="sldNum" sz="quarter" idx="5"/>
          </p:nvPr>
        </p:nvSpPr>
        <p:spPr/>
        <p:txBody>
          <a:bodyPr/>
          <a:lstStyle/>
          <a:p>
            <a:fld id="{CC7AE5BE-D43F-D646-9368-4EA0133E6314}" type="slidenum">
              <a:rPr lang="ru-GB" smtClean="0"/>
              <a:t>26</a:t>
            </a:fld>
            <a:endParaRPr lang="ru-GB"/>
          </a:p>
        </p:txBody>
      </p:sp>
    </p:spTree>
    <p:extLst>
      <p:ext uri="{BB962C8B-B14F-4D97-AF65-F5344CB8AC3E}">
        <p14:creationId xmlns:p14="http://schemas.microsoft.com/office/powerpoint/2010/main" val="2927081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Теперь поговорим о метриках, которые учитывают все возможные пороги и не зависят от конкретного значения порога. Такие метрики называются </a:t>
            </a:r>
            <a:r>
              <a:rPr lang="ru-RU" b="0" i="1" dirty="0">
                <a:solidFill>
                  <a:srgbClr val="222222"/>
                </a:solidFill>
                <a:effectLst/>
                <a:latin typeface="Roboto" panose="02000000000000000000" pitchFamily="2" charset="0"/>
              </a:rPr>
              <a:t>интегральными</a:t>
            </a:r>
            <a:r>
              <a:rPr lang="ru-RU" b="0" i="0" u="none" strike="noStrike" dirty="0">
                <a:solidFill>
                  <a:srgbClr val="222222"/>
                </a:solidFill>
                <a:effectLst/>
                <a:latin typeface="Roboto" panose="02000000000000000000" pitchFamily="2" charset="0"/>
              </a:rPr>
              <a:t>.</a:t>
            </a:r>
            <a:br>
              <a:rPr lang="en-US" b="0" i="0" u="none" strike="noStrike" dirty="0">
                <a:solidFill>
                  <a:srgbClr val="222222"/>
                </a:solidFill>
                <a:effectLst/>
                <a:latin typeface="Roboto" panose="02000000000000000000" pitchFamily="2" charset="0"/>
              </a:rPr>
            </a:br>
            <a:br>
              <a:rPr lang="en-US" b="0" i="0" u="none" strike="noStrike" dirty="0">
                <a:solidFill>
                  <a:srgbClr val="222222"/>
                </a:solidFill>
                <a:effectLst/>
                <a:latin typeface="Roboto" panose="02000000000000000000" pitchFamily="2" charset="0"/>
              </a:rPr>
            </a:br>
            <a:r>
              <a:rPr lang="ru-RU" b="0" i="0" dirty="0">
                <a:solidFill>
                  <a:srgbClr val="222222"/>
                </a:solidFill>
                <a:effectLst/>
                <a:latin typeface="Roboto" panose="02000000000000000000" pitchFamily="2" charset="0"/>
              </a:rPr>
              <a:t>Рассмотрим пример:</a:t>
            </a:r>
          </a:p>
          <a:p>
            <a:pPr algn="l" rtl="0">
              <a:buFont typeface="Arial" panose="020B0604020202020204" pitchFamily="34" charset="0"/>
              <a:buChar char="•"/>
            </a:pPr>
            <a:r>
              <a:rPr lang="ru-RU" b="0" i="0" dirty="0">
                <a:solidFill>
                  <a:srgbClr val="222222"/>
                </a:solidFill>
                <a:effectLst/>
                <a:latin typeface="Roboto" panose="02000000000000000000" pitchFamily="2" charset="0"/>
              </a:rPr>
              <a:t>На первом столбце представлена вероятность положительного класса, предсказанная моделью.</a:t>
            </a:r>
          </a:p>
          <a:p>
            <a:pPr algn="l" rtl="0">
              <a:buFont typeface="Arial" panose="020B0604020202020204" pitchFamily="34" charset="0"/>
              <a:buChar char="•"/>
            </a:pPr>
            <a:r>
              <a:rPr lang="ru-RU" b="0" i="0" dirty="0">
                <a:solidFill>
                  <a:srgbClr val="222222"/>
                </a:solidFill>
                <a:effectLst/>
                <a:latin typeface="Roboto" panose="02000000000000000000" pitchFamily="2" charset="0"/>
              </a:rPr>
              <a:t>На втором столбце указаны правильные ответы (классы).</a:t>
            </a:r>
          </a:p>
          <a:p>
            <a:pPr algn="l" rtl="0"/>
            <a:r>
              <a:rPr lang="ru-RU" b="0" i="0" dirty="0">
                <a:solidFill>
                  <a:srgbClr val="222222"/>
                </a:solidFill>
                <a:effectLst/>
                <a:latin typeface="Roboto" panose="02000000000000000000" pitchFamily="2" charset="0"/>
              </a:rPr>
              <a:t>Отсортируем таблицу по убыванию предсказанных вероятностей:</a:t>
            </a:r>
          </a:p>
          <a:p>
            <a:br>
              <a:rPr lang="ru-RU" dirty="0"/>
            </a:br>
            <a:r>
              <a:rPr lang="ru-RU" b="0" i="0" u="none" strike="noStrike" dirty="0">
                <a:solidFill>
                  <a:srgbClr val="222222"/>
                </a:solidFill>
                <a:effectLst/>
                <a:latin typeface="Roboto" panose="02000000000000000000" pitchFamily="2" charset="0"/>
              </a:rPr>
              <a:t>Как вы думаете, как выглядит отсортированная таблица для идеального алгоритма? </a:t>
            </a:r>
            <a:r>
              <a:rPr lang="en-US" b="0" i="0" u="none" strike="noStrike" dirty="0">
                <a:solidFill>
                  <a:srgbClr val="222222"/>
                </a:solidFill>
                <a:effectLst/>
                <a:latin typeface="Roboto" panose="02000000000000000000" pitchFamily="2" charset="0"/>
              </a:rPr>
              <a:t>(</a:t>
            </a:r>
            <a:r>
              <a:rPr lang="ru-RU" b="0" i="0" u="none" strike="noStrike" dirty="0">
                <a:solidFill>
                  <a:srgbClr val="5E5E5E"/>
                </a:solidFill>
                <a:effectLst/>
                <a:latin typeface="Roboto" panose="02000000000000000000" pitchFamily="2" charset="0"/>
              </a:rPr>
              <a:t>Все единички вверху таблицы, а уже потом нолики</a:t>
            </a:r>
            <a:r>
              <a:rPr lang="en-US" b="0" i="0" u="none" strike="noStrike" dirty="0">
                <a:solidFill>
                  <a:srgbClr val="222222"/>
                </a:solidFill>
                <a:effectLst/>
                <a:latin typeface="Roboto" panose="02000000000000000000" pitchFamily="2" charset="0"/>
              </a:rPr>
              <a:t>)</a:t>
            </a:r>
            <a:endParaRPr lang="ru-GB" dirty="0"/>
          </a:p>
        </p:txBody>
      </p:sp>
      <p:sp>
        <p:nvSpPr>
          <p:cNvPr id="4" name="Номер слайда 3"/>
          <p:cNvSpPr>
            <a:spLocks noGrp="1"/>
          </p:cNvSpPr>
          <p:nvPr>
            <p:ph type="sldNum" sz="quarter" idx="5"/>
          </p:nvPr>
        </p:nvSpPr>
        <p:spPr/>
        <p:txBody>
          <a:bodyPr/>
          <a:lstStyle/>
          <a:p>
            <a:fld id="{CC7AE5BE-D43F-D646-9368-4EA0133E6314}" type="slidenum">
              <a:rPr lang="ru-GB" smtClean="0"/>
              <a:t>27</a:t>
            </a:fld>
            <a:endParaRPr lang="ru-GB"/>
          </a:p>
        </p:txBody>
      </p:sp>
    </p:spTree>
    <p:extLst>
      <p:ext uri="{BB962C8B-B14F-4D97-AF65-F5344CB8AC3E}">
        <p14:creationId xmlns:p14="http://schemas.microsoft.com/office/powerpoint/2010/main" val="34309590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7369A-6332-B06C-61B5-E0694BBAA2F2}"/>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9BA33A24-4695-198C-B6E3-712D083E44E4}"/>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618CC901-9907-2332-6FE6-EFEF96572410}"/>
              </a:ext>
            </a:extLst>
          </p:cNvPr>
          <p:cNvSpPr>
            <a:spLocks noGrp="1"/>
          </p:cNvSpPr>
          <p:nvPr>
            <p:ph type="body" idx="1"/>
          </p:nvPr>
        </p:nvSpPr>
        <p:spPr/>
        <p:txBody>
          <a:bodyPr/>
          <a:lstStyle/>
          <a:p>
            <a:pPr algn="l" rtl="0"/>
            <a:r>
              <a:rPr lang="ru-RU" b="0" i="0" dirty="0">
                <a:solidFill>
                  <a:srgbClr val="222222"/>
                </a:solidFill>
                <a:effectLst/>
                <a:latin typeface="Roboto" panose="02000000000000000000" pitchFamily="2" charset="0"/>
              </a:rPr>
              <a:t>Идеальная модель после сортировки таблицы по убыванию вероятностей должна располагать объекты положительного класса (1) в верхней части таблицы, а объекты отрицательного класса (0) — в нижней. Это означает, что модель присваивает наивысшие вероятности положительного класса объектам действительно положительного класса, а объектам класса 0 — более низкие вероятности.</a:t>
            </a:r>
          </a:p>
          <a:p>
            <a:pPr algn="l" rtl="0"/>
            <a:r>
              <a:rPr lang="ru-RU" b="0" i="0" dirty="0">
                <a:solidFill>
                  <a:srgbClr val="222222"/>
                </a:solidFill>
                <a:effectLst/>
                <a:latin typeface="Roboto" panose="02000000000000000000" pitchFamily="2" charset="0"/>
              </a:rPr>
              <a:t>Если же единички и нолики перемешаны в таблице, то модель плохо различает классы. </a:t>
            </a:r>
          </a:p>
          <a:p>
            <a:pPr algn="l" rtl="0"/>
            <a:r>
              <a:rPr lang="ru-RU" b="0" i="0" dirty="0">
                <a:solidFill>
                  <a:srgbClr val="222222"/>
                </a:solidFill>
                <a:effectLst/>
                <a:latin typeface="Roboto" panose="02000000000000000000" pitchFamily="2" charset="0"/>
              </a:rPr>
              <a:t>Нам нужен численный способ оценить описанное свойство модели правильно упорядочивать объекты по вероятностям. Для этого для начала нарисуем квадрат размера 1 на 1, и:</a:t>
            </a:r>
          </a:p>
          <a:p>
            <a:pPr algn="l" rtl="0">
              <a:buFont typeface="Arial" panose="020B0604020202020204" pitchFamily="34" charset="0"/>
              <a:buChar char="•"/>
            </a:pPr>
            <a:r>
              <a:rPr lang="ru-RU" b="0" i="0" dirty="0" err="1">
                <a:solidFill>
                  <a:srgbClr val="222222"/>
                </a:solidFill>
                <a:effectLst/>
                <a:latin typeface="Roboto" panose="02000000000000000000" pitchFamily="2" charset="0"/>
              </a:rPr>
              <a:t>разобъем</a:t>
            </a:r>
            <a:r>
              <a:rPr lang="ru-RU" b="0" i="0" dirty="0">
                <a:solidFill>
                  <a:srgbClr val="222222"/>
                </a:solidFill>
                <a:effectLst/>
                <a:latin typeface="Roboto" panose="02000000000000000000" pitchFamily="2" charset="0"/>
              </a:rPr>
              <a:t> его горизонтальную сторону на равные отрезки, количество которых равно числу 0 в выборке;</a:t>
            </a:r>
          </a:p>
          <a:p>
            <a:pPr algn="l" rtl="0">
              <a:buFont typeface="Arial" panose="020B0604020202020204" pitchFamily="34" charset="0"/>
              <a:buChar char="•"/>
            </a:pPr>
            <a:r>
              <a:rPr lang="ru-RU" b="0" i="0" dirty="0" err="1">
                <a:solidFill>
                  <a:srgbClr val="222222"/>
                </a:solidFill>
                <a:effectLst/>
                <a:latin typeface="Roboto" panose="02000000000000000000" pitchFamily="2" charset="0"/>
              </a:rPr>
              <a:t>разобъем</a:t>
            </a:r>
            <a:r>
              <a:rPr lang="ru-RU" b="0" i="0" dirty="0">
                <a:solidFill>
                  <a:srgbClr val="222222"/>
                </a:solidFill>
                <a:effectLst/>
                <a:latin typeface="Roboto" panose="02000000000000000000" pitchFamily="2" charset="0"/>
              </a:rPr>
              <a:t> его вертикальную сторону на равные отрезки, количество которых равно числу 1 в выборке.</a:t>
            </a:r>
          </a:p>
        </p:txBody>
      </p:sp>
      <p:sp>
        <p:nvSpPr>
          <p:cNvPr id="4" name="Номер слайда 3">
            <a:extLst>
              <a:ext uri="{FF2B5EF4-FFF2-40B4-BE49-F238E27FC236}">
                <a16:creationId xmlns:a16="http://schemas.microsoft.com/office/drawing/2014/main" id="{5BC0D8BA-B98E-B22A-7C32-7889E694D690}"/>
              </a:ext>
            </a:extLst>
          </p:cNvPr>
          <p:cNvSpPr>
            <a:spLocks noGrp="1"/>
          </p:cNvSpPr>
          <p:nvPr>
            <p:ph type="sldNum" sz="quarter" idx="5"/>
          </p:nvPr>
        </p:nvSpPr>
        <p:spPr/>
        <p:txBody>
          <a:bodyPr/>
          <a:lstStyle/>
          <a:p>
            <a:fld id="{CC7AE5BE-D43F-D646-9368-4EA0133E6314}" type="slidenum">
              <a:rPr lang="ru-GB" smtClean="0"/>
              <a:t>28</a:t>
            </a:fld>
            <a:endParaRPr lang="ru-GB"/>
          </a:p>
        </p:txBody>
      </p:sp>
    </p:spTree>
    <p:extLst>
      <p:ext uri="{BB962C8B-B14F-4D97-AF65-F5344CB8AC3E}">
        <p14:creationId xmlns:p14="http://schemas.microsoft.com/office/powerpoint/2010/main" val="2370090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09E95-75B4-B03F-2FF2-540CCA3B2A0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38CAB68C-4030-F743-62C1-10AFAE3DFFC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714F381-1AE7-C09E-E244-FA94BA87C134}"/>
              </a:ext>
            </a:extLst>
          </p:cNvPr>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Алгоритм построения </a:t>
            </a:r>
            <a:r>
              <a:rPr lang="en-US" b="0" i="0" u="none" strike="noStrike" dirty="0">
                <a:solidFill>
                  <a:srgbClr val="222222"/>
                </a:solidFill>
                <a:effectLst/>
                <a:latin typeface="Roboto" panose="02000000000000000000" pitchFamily="2" charset="0"/>
              </a:rPr>
              <a:t>ROC-</a:t>
            </a:r>
            <a:r>
              <a:rPr lang="ru-RU" b="0" i="0" u="none" strike="noStrike" dirty="0">
                <a:solidFill>
                  <a:srgbClr val="222222"/>
                </a:solidFill>
                <a:effectLst/>
                <a:latin typeface="Roboto" panose="02000000000000000000" pitchFamily="2" charset="0"/>
              </a:rPr>
              <a:t>кривой, с помощью которой мы оценим качество модели, очень прост. Кривую начинаем строить из точки </a:t>
            </a:r>
            <a:r>
              <a:rPr lang="ru-RU" b="0" i="0" dirty="0">
                <a:solidFill>
                  <a:srgbClr val="222222"/>
                </a:solidFill>
                <a:effectLst/>
                <a:latin typeface="KaTeX_Main"/>
              </a:rPr>
              <a:t>(0,0)</a:t>
            </a:r>
            <a:endParaRPr lang="ru-RU" b="0" i="0" dirty="0">
              <a:solidFill>
                <a:srgbClr val="222222"/>
              </a:solidFill>
              <a:effectLst/>
              <a:latin typeface="Roboto" panose="02000000000000000000" pitchFamily="2" charset="0"/>
            </a:endParaRPr>
          </a:p>
        </p:txBody>
      </p:sp>
      <p:sp>
        <p:nvSpPr>
          <p:cNvPr id="4" name="Номер слайда 3">
            <a:extLst>
              <a:ext uri="{FF2B5EF4-FFF2-40B4-BE49-F238E27FC236}">
                <a16:creationId xmlns:a16="http://schemas.microsoft.com/office/drawing/2014/main" id="{E830549F-1973-89F4-8674-83FB1609E575}"/>
              </a:ext>
            </a:extLst>
          </p:cNvPr>
          <p:cNvSpPr>
            <a:spLocks noGrp="1"/>
          </p:cNvSpPr>
          <p:nvPr>
            <p:ph type="sldNum" sz="quarter" idx="5"/>
          </p:nvPr>
        </p:nvSpPr>
        <p:spPr/>
        <p:txBody>
          <a:bodyPr/>
          <a:lstStyle/>
          <a:p>
            <a:fld id="{CC7AE5BE-D43F-D646-9368-4EA0133E6314}" type="slidenum">
              <a:rPr lang="ru-GB" smtClean="0"/>
              <a:t>29</a:t>
            </a:fld>
            <a:endParaRPr lang="ru-GB"/>
          </a:p>
        </p:txBody>
      </p:sp>
    </p:spTree>
    <p:extLst>
      <p:ext uri="{BB962C8B-B14F-4D97-AF65-F5344CB8AC3E}">
        <p14:creationId xmlns:p14="http://schemas.microsoft.com/office/powerpoint/2010/main" val="3920477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8DF1B-BA3E-79F1-EFC0-F899C5712291}"/>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4288883C-221E-4B20-9937-5F2959FE59E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DE18B968-6D6D-0A92-2FC3-B60A896B869D}"/>
              </a:ext>
            </a:extLst>
          </p:cNvPr>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Алгоритм построения </a:t>
            </a:r>
            <a:r>
              <a:rPr lang="en-US" b="0" i="0" u="none" strike="noStrike" dirty="0">
                <a:solidFill>
                  <a:srgbClr val="222222"/>
                </a:solidFill>
                <a:effectLst/>
                <a:latin typeface="Roboto" panose="02000000000000000000" pitchFamily="2" charset="0"/>
              </a:rPr>
              <a:t>ROC-</a:t>
            </a:r>
            <a:r>
              <a:rPr lang="ru-RU" b="0" i="0" u="none" strike="noStrike" dirty="0">
                <a:solidFill>
                  <a:srgbClr val="222222"/>
                </a:solidFill>
                <a:effectLst/>
                <a:latin typeface="Roboto" panose="02000000000000000000" pitchFamily="2" charset="0"/>
              </a:rPr>
              <a:t>кривой, с помощью которой мы оценим качество модели, очень прост. Кривую начинаем строить из точки </a:t>
            </a:r>
            <a:r>
              <a:rPr lang="ru-RU" b="0" i="0" dirty="0">
                <a:solidFill>
                  <a:srgbClr val="222222"/>
                </a:solidFill>
                <a:effectLst/>
                <a:latin typeface="KaTeX_Main"/>
              </a:rPr>
              <a:t>(0,0)</a:t>
            </a:r>
            <a:endParaRPr lang="ru-RU" b="0" i="0" dirty="0">
              <a:solidFill>
                <a:srgbClr val="222222"/>
              </a:solidFill>
              <a:effectLst/>
              <a:latin typeface="Roboto" panose="02000000000000000000" pitchFamily="2" charset="0"/>
            </a:endParaRPr>
          </a:p>
        </p:txBody>
      </p:sp>
      <p:sp>
        <p:nvSpPr>
          <p:cNvPr id="4" name="Номер слайда 3">
            <a:extLst>
              <a:ext uri="{FF2B5EF4-FFF2-40B4-BE49-F238E27FC236}">
                <a16:creationId xmlns:a16="http://schemas.microsoft.com/office/drawing/2014/main" id="{DF0F1BAC-6484-E262-9BB6-D0394595262F}"/>
              </a:ext>
            </a:extLst>
          </p:cNvPr>
          <p:cNvSpPr>
            <a:spLocks noGrp="1"/>
          </p:cNvSpPr>
          <p:nvPr>
            <p:ph type="sldNum" sz="quarter" idx="5"/>
          </p:nvPr>
        </p:nvSpPr>
        <p:spPr/>
        <p:txBody>
          <a:bodyPr/>
          <a:lstStyle/>
          <a:p>
            <a:fld id="{CC7AE5BE-D43F-D646-9368-4EA0133E6314}" type="slidenum">
              <a:rPr lang="ru-GB" smtClean="0"/>
              <a:t>30</a:t>
            </a:fld>
            <a:endParaRPr lang="ru-GB"/>
          </a:p>
        </p:txBody>
      </p:sp>
    </p:spTree>
    <p:extLst>
      <p:ext uri="{BB962C8B-B14F-4D97-AF65-F5344CB8AC3E}">
        <p14:creationId xmlns:p14="http://schemas.microsoft.com/office/powerpoint/2010/main" val="38069186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EC9D6-0040-F88A-AAFA-07CB12ED1D00}"/>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67D473C-4E68-FB9C-1D10-383D647289A6}"/>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C3EF55AA-8D06-88E7-20BF-BE22D122A9D4}"/>
              </a:ext>
            </a:extLst>
          </p:cNvPr>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Алгоритм построения </a:t>
            </a:r>
            <a:r>
              <a:rPr lang="en-US" b="0" i="0" u="none" strike="noStrike" dirty="0">
                <a:solidFill>
                  <a:srgbClr val="222222"/>
                </a:solidFill>
                <a:effectLst/>
                <a:latin typeface="Roboto" panose="02000000000000000000" pitchFamily="2" charset="0"/>
              </a:rPr>
              <a:t>ROC-</a:t>
            </a:r>
            <a:r>
              <a:rPr lang="ru-RU" b="0" i="0" u="none" strike="noStrike" dirty="0">
                <a:solidFill>
                  <a:srgbClr val="222222"/>
                </a:solidFill>
                <a:effectLst/>
                <a:latin typeface="Roboto" panose="02000000000000000000" pitchFamily="2" charset="0"/>
              </a:rPr>
              <a:t>кривой, с помощью которой мы оценим качество модели, очень прост. Кривую начинаем строить из точки </a:t>
            </a:r>
            <a:r>
              <a:rPr lang="ru-RU" b="0" i="0" dirty="0">
                <a:solidFill>
                  <a:srgbClr val="222222"/>
                </a:solidFill>
                <a:effectLst/>
                <a:latin typeface="KaTeX_Main"/>
              </a:rPr>
              <a:t>(0,0)</a:t>
            </a:r>
            <a:endParaRPr lang="ru-RU" b="0" i="0" dirty="0">
              <a:solidFill>
                <a:srgbClr val="222222"/>
              </a:solidFill>
              <a:effectLst/>
              <a:latin typeface="Roboto" panose="02000000000000000000" pitchFamily="2" charset="0"/>
            </a:endParaRPr>
          </a:p>
        </p:txBody>
      </p:sp>
      <p:sp>
        <p:nvSpPr>
          <p:cNvPr id="4" name="Номер слайда 3">
            <a:extLst>
              <a:ext uri="{FF2B5EF4-FFF2-40B4-BE49-F238E27FC236}">
                <a16:creationId xmlns:a16="http://schemas.microsoft.com/office/drawing/2014/main" id="{894CFF46-74BA-CB78-71E5-B43F8679F75A}"/>
              </a:ext>
            </a:extLst>
          </p:cNvPr>
          <p:cNvSpPr>
            <a:spLocks noGrp="1"/>
          </p:cNvSpPr>
          <p:nvPr>
            <p:ph type="sldNum" sz="quarter" idx="5"/>
          </p:nvPr>
        </p:nvSpPr>
        <p:spPr/>
        <p:txBody>
          <a:bodyPr/>
          <a:lstStyle/>
          <a:p>
            <a:fld id="{CC7AE5BE-D43F-D646-9368-4EA0133E6314}" type="slidenum">
              <a:rPr lang="ru-GB" smtClean="0"/>
              <a:t>31</a:t>
            </a:fld>
            <a:endParaRPr lang="ru-GB"/>
          </a:p>
        </p:txBody>
      </p:sp>
    </p:spTree>
    <p:extLst>
      <p:ext uri="{BB962C8B-B14F-4D97-AF65-F5344CB8AC3E}">
        <p14:creationId xmlns:p14="http://schemas.microsoft.com/office/powerpoint/2010/main" val="17337581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E2F51-ECE6-0CE4-8F39-7DAFC31AD67C}"/>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A8D50ED4-23A6-0F12-8246-DDB4A3B3030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33286BD1-BC37-731B-5D1E-6DD8E31A38F4}"/>
              </a:ext>
            </a:extLst>
          </p:cNvPr>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Алгоритм построения </a:t>
            </a:r>
            <a:r>
              <a:rPr lang="en-US" b="0" i="0" u="none" strike="noStrike" dirty="0">
                <a:solidFill>
                  <a:srgbClr val="222222"/>
                </a:solidFill>
                <a:effectLst/>
                <a:latin typeface="Roboto" panose="02000000000000000000" pitchFamily="2" charset="0"/>
              </a:rPr>
              <a:t>ROC-</a:t>
            </a:r>
            <a:r>
              <a:rPr lang="ru-RU" b="0" i="0" u="none" strike="noStrike" dirty="0">
                <a:solidFill>
                  <a:srgbClr val="222222"/>
                </a:solidFill>
                <a:effectLst/>
                <a:latin typeface="Roboto" panose="02000000000000000000" pitchFamily="2" charset="0"/>
              </a:rPr>
              <a:t>кривой, с помощью которой мы оценим качество модели, очень прост. Кривую начинаем строить из точки </a:t>
            </a:r>
            <a:r>
              <a:rPr lang="ru-RU" b="0" i="0" dirty="0">
                <a:solidFill>
                  <a:srgbClr val="222222"/>
                </a:solidFill>
                <a:effectLst/>
                <a:latin typeface="KaTeX_Main"/>
              </a:rPr>
              <a:t>(0,0)</a:t>
            </a:r>
            <a:endParaRPr lang="ru-RU" b="0" i="0" dirty="0">
              <a:solidFill>
                <a:srgbClr val="222222"/>
              </a:solidFill>
              <a:effectLst/>
              <a:latin typeface="Roboto" panose="02000000000000000000" pitchFamily="2" charset="0"/>
            </a:endParaRPr>
          </a:p>
        </p:txBody>
      </p:sp>
      <p:sp>
        <p:nvSpPr>
          <p:cNvPr id="4" name="Номер слайда 3">
            <a:extLst>
              <a:ext uri="{FF2B5EF4-FFF2-40B4-BE49-F238E27FC236}">
                <a16:creationId xmlns:a16="http://schemas.microsoft.com/office/drawing/2014/main" id="{9A6AA41E-96DD-8295-8C30-B683DC31BC34}"/>
              </a:ext>
            </a:extLst>
          </p:cNvPr>
          <p:cNvSpPr>
            <a:spLocks noGrp="1"/>
          </p:cNvSpPr>
          <p:nvPr>
            <p:ph type="sldNum" sz="quarter" idx="5"/>
          </p:nvPr>
        </p:nvSpPr>
        <p:spPr/>
        <p:txBody>
          <a:bodyPr/>
          <a:lstStyle/>
          <a:p>
            <a:fld id="{CC7AE5BE-D43F-D646-9368-4EA0133E6314}" type="slidenum">
              <a:rPr lang="ru-GB" smtClean="0"/>
              <a:t>32</a:t>
            </a:fld>
            <a:endParaRPr lang="ru-GB"/>
          </a:p>
        </p:txBody>
      </p:sp>
    </p:spTree>
    <p:extLst>
      <p:ext uri="{BB962C8B-B14F-4D97-AF65-F5344CB8AC3E}">
        <p14:creationId xmlns:p14="http://schemas.microsoft.com/office/powerpoint/2010/main" val="26632186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B53B3-A3BB-A157-A9E0-19250F60C1FA}"/>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278F66A0-736D-E62D-009F-79C145E62056}"/>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83DD417D-7B51-B121-9F6A-56BFB71FB73F}"/>
              </a:ext>
            </a:extLst>
          </p:cNvPr>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Алгоритм построения </a:t>
            </a:r>
            <a:r>
              <a:rPr lang="en-US" b="0" i="0" u="none" strike="noStrike" dirty="0">
                <a:solidFill>
                  <a:srgbClr val="222222"/>
                </a:solidFill>
                <a:effectLst/>
                <a:latin typeface="Roboto" panose="02000000000000000000" pitchFamily="2" charset="0"/>
              </a:rPr>
              <a:t>ROC-</a:t>
            </a:r>
            <a:r>
              <a:rPr lang="ru-RU" b="0" i="0" u="none" strike="noStrike" dirty="0">
                <a:solidFill>
                  <a:srgbClr val="222222"/>
                </a:solidFill>
                <a:effectLst/>
                <a:latin typeface="Roboto" panose="02000000000000000000" pitchFamily="2" charset="0"/>
              </a:rPr>
              <a:t>кривой, с помощью которой мы оценим качество модели, очень прост. Кривую начинаем строить из точки </a:t>
            </a:r>
            <a:r>
              <a:rPr lang="ru-RU" b="0" i="0" dirty="0">
                <a:solidFill>
                  <a:srgbClr val="222222"/>
                </a:solidFill>
                <a:effectLst/>
                <a:latin typeface="KaTeX_Main"/>
              </a:rPr>
              <a:t>(0,0)</a:t>
            </a:r>
            <a:endParaRPr lang="ru-RU" b="0" i="0" dirty="0">
              <a:solidFill>
                <a:srgbClr val="222222"/>
              </a:solidFill>
              <a:effectLst/>
              <a:latin typeface="Roboto" panose="02000000000000000000" pitchFamily="2" charset="0"/>
            </a:endParaRPr>
          </a:p>
        </p:txBody>
      </p:sp>
      <p:sp>
        <p:nvSpPr>
          <p:cNvPr id="4" name="Номер слайда 3">
            <a:extLst>
              <a:ext uri="{FF2B5EF4-FFF2-40B4-BE49-F238E27FC236}">
                <a16:creationId xmlns:a16="http://schemas.microsoft.com/office/drawing/2014/main" id="{D60FBD07-01C9-892C-F014-5F2DD5A95714}"/>
              </a:ext>
            </a:extLst>
          </p:cNvPr>
          <p:cNvSpPr>
            <a:spLocks noGrp="1"/>
          </p:cNvSpPr>
          <p:nvPr>
            <p:ph type="sldNum" sz="quarter" idx="5"/>
          </p:nvPr>
        </p:nvSpPr>
        <p:spPr/>
        <p:txBody>
          <a:bodyPr/>
          <a:lstStyle/>
          <a:p>
            <a:fld id="{CC7AE5BE-D43F-D646-9368-4EA0133E6314}" type="slidenum">
              <a:rPr lang="ru-GB" smtClean="0"/>
              <a:t>33</a:t>
            </a:fld>
            <a:endParaRPr lang="ru-GB"/>
          </a:p>
        </p:txBody>
      </p:sp>
    </p:spTree>
    <p:extLst>
      <p:ext uri="{BB962C8B-B14F-4D97-AF65-F5344CB8AC3E}">
        <p14:creationId xmlns:p14="http://schemas.microsoft.com/office/powerpoint/2010/main" val="31726284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AAEBB-3EDF-2137-C0B0-1D10C7B4E9C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6252D166-C8E1-B266-CDCD-E57B6753F41D}"/>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BF46DD6-F068-17DF-D164-4AE1E3EAF6EB}"/>
              </a:ext>
            </a:extLst>
          </p:cNvPr>
          <p:cNvSpPr>
            <a:spLocks noGrp="1"/>
          </p:cNvSpPr>
          <p:nvPr>
            <p:ph type="body" idx="1"/>
          </p:nvPr>
        </p:nvSpPr>
        <p:spPr/>
        <p:txBody>
          <a:bodyPr/>
          <a:lstStyle/>
          <a:p>
            <a:pPr algn="l" rtl="0"/>
            <a:r>
              <a:rPr lang="ru-RU" b="0" i="0" u="none" strike="noStrike" dirty="0">
                <a:solidFill>
                  <a:srgbClr val="222222"/>
                </a:solidFill>
                <a:effectLst/>
                <a:latin typeface="Roboto" panose="02000000000000000000" pitchFamily="2" charset="0"/>
              </a:rPr>
              <a:t>Алгоритм построения </a:t>
            </a:r>
            <a:r>
              <a:rPr lang="en-US" b="0" i="0" u="none" strike="noStrike" dirty="0">
                <a:solidFill>
                  <a:srgbClr val="222222"/>
                </a:solidFill>
                <a:effectLst/>
                <a:latin typeface="Roboto" panose="02000000000000000000" pitchFamily="2" charset="0"/>
              </a:rPr>
              <a:t>ROC-</a:t>
            </a:r>
            <a:r>
              <a:rPr lang="ru-RU" b="0" i="0" u="none" strike="noStrike" dirty="0">
                <a:solidFill>
                  <a:srgbClr val="222222"/>
                </a:solidFill>
                <a:effectLst/>
                <a:latin typeface="Roboto" panose="02000000000000000000" pitchFamily="2" charset="0"/>
              </a:rPr>
              <a:t>кривой, с помощью которой мы оценим качество модели, очень прост. Кривую начинаем строить из точки </a:t>
            </a:r>
            <a:r>
              <a:rPr lang="ru-RU" b="0" i="0" dirty="0">
                <a:solidFill>
                  <a:srgbClr val="222222"/>
                </a:solidFill>
                <a:effectLst/>
                <a:latin typeface="KaTeX_Main"/>
              </a:rPr>
              <a:t>(0,0)</a:t>
            </a:r>
            <a:endParaRPr lang="ru-RU" b="0" i="0" dirty="0">
              <a:solidFill>
                <a:srgbClr val="222222"/>
              </a:solidFill>
              <a:effectLst/>
              <a:latin typeface="Roboto" panose="02000000000000000000" pitchFamily="2" charset="0"/>
            </a:endParaRPr>
          </a:p>
        </p:txBody>
      </p:sp>
      <p:sp>
        <p:nvSpPr>
          <p:cNvPr id="4" name="Номер слайда 3">
            <a:extLst>
              <a:ext uri="{FF2B5EF4-FFF2-40B4-BE49-F238E27FC236}">
                <a16:creationId xmlns:a16="http://schemas.microsoft.com/office/drawing/2014/main" id="{A750315E-EB00-1C6E-FFFE-CC888E264A7E}"/>
              </a:ext>
            </a:extLst>
          </p:cNvPr>
          <p:cNvSpPr>
            <a:spLocks noGrp="1"/>
          </p:cNvSpPr>
          <p:nvPr>
            <p:ph type="sldNum" sz="quarter" idx="5"/>
          </p:nvPr>
        </p:nvSpPr>
        <p:spPr/>
        <p:txBody>
          <a:bodyPr/>
          <a:lstStyle/>
          <a:p>
            <a:fld id="{CC7AE5BE-D43F-D646-9368-4EA0133E6314}" type="slidenum">
              <a:rPr lang="ru-GB" smtClean="0"/>
              <a:t>34</a:t>
            </a:fld>
            <a:endParaRPr lang="ru-GB"/>
          </a:p>
        </p:txBody>
      </p:sp>
    </p:spTree>
    <p:extLst>
      <p:ext uri="{BB962C8B-B14F-4D97-AF65-F5344CB8AC3E}">
        <p14:creationId xmlns:p14="http://schemas.microsoft.com/office/powerpoint/2010/main" val="302891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8AA6B2-48EA-9306-5A6D-7D9CEA4AE76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ru-GB"/>
          </a:p>
        </p:txBody>
      </p:sp>
      <p:sp>
        <p:nvSpPr>
          <p:cNvPr id="3" name="Подзаголовок 2">
            <a:extLst>
              <a:ext uri="{FF2B5EF4-FFF2-40B4-BE49-F238E27FC236}">
                <a16:creationId xmlns:a16="http://schemas.microsoft.com/office/drawing/2014/main" id="{0F471C99-3C65-9AA2-5CA5-05A2D3C449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ru-GB"/>
          </a:p>
        </p:txBody>
      </p:sp>
      <p:sp>
        <p:nvSpPr>
          <p:cNvPr id="4" name="Дата 3">
            <a:extLst>
              <a:ext uri="{FF2B5EF4-FFF2-40B4-BE49-F238E27FC236}">
                <a16:creationId xmlns:a16="http://schemas.microsoft.com/office/drawing/2014/main" id="{3DD7AFF9-65E4-A01D-7A52-658E979977AB}"/>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5" name="Нижний колонтитул 4">
            <a:extLst>
              <a:ext uri="{FF2B5EF4-FFF2-40B4-BE49-F238E27FC236}">
                <a16:creationId xmlns:a16="http://schemas.microsoft.com/office/drawing/2014/main" id="{93FF6081-808D-0A12-F342-15A4DE0B4E61}"/>
              </a:ext>
            </a:extLst>
          </p:cNvPr>
          <p:cNvSpPr>
            <a:spLocks noGrp="1"/>
          </p:cNvSpPr>
          <p:nvPr>
            <p:ph type="ftr" sz="quarter" idx="11"/>
          </p:nvPr>
        </p:nvSpPr>
        <p:spPr/>
        <p:txBody>
          <a:bodyPr/>
          <a:lstStyle/>
          <a:p>
            <a:endParaRPr lang="ru-GB"/>
          </a:p>
        </p:txBody>
      </p:sp>
      <p:sp>
        <p:nvSpPr>
          <p:cNvPr id="6" name="Номер слайда 5">
            <a:extLst>
              <a:ext uri="{FF2B5EF4-FFF2-40B4-BE49-F238E27FC236}">
                <a16:creationId xmlns:a16="http://schemas.microsoft.com/office/drawing/2014/main" id="{BDCD5F81-A1E3-D4B4-476D-696DE8E0AFE0}"/>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364929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8EBF7D-55CC-9731-03C1-3F1A23E62FDD}"/>
              </a:ext>
            </a:extLst>
          </p:cNvPr>
          <p:cNvSpPr>
            <a:spLocks noGrp="1"/>
          </p:cNvSpPr>
          <p:nvPr>
            <p:ph type="title"/>
          </p:nvPr>
        </p:nvSpPr>
        <p:spPr/>
        <p:txBody>
          <a:bodyPr/>
          <a:lstStyle/>
          <a:p>
            <a:r>
              <a:rPr lang="ru-RU"/>
              <a:t>Образец заголовка</a:t>
            </a:r>
            <a:endParaRPr lang="ru-GB"/>
          </a:p>
        </p:txBody>
      </p:sp>
      <p:sp>
        <p:nvSpPr>
          <p:cNvPr id="3" name="Объект 2">
            <a:extLst>
              <a:ext uri="{FF2B5EF4-FFF2-40B4-BE49-F238E27FC236}">
                <a16:creationId xmlns:a16="http://schemas.microsoft.com/office/drawing/2014/main" id="{959F2BBB-349B-3E1B-C005-665C9CA5EEDD}"/>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GB"/>
          </a:p>
        </p:txBody>
      </p:sp>
      <p:sp>
        <p:nvSpPr>
          <p:cNvPr id="4" name="Дата 3">
            <a:extLst>
              <a:ext uri="{FF2B5EF4-FFF2-40B4-BE49-F238E27FC236}">
                <a16:creationId xmlns:a16="http://schemas.microsoft.com/office/drawing/2014/main" id="{3EE9F784-9B9C-6D8F-9049-92C3F0D1A198}"/>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5" name="Нижний колонтитул 4">
            <a:extLst>
              <a:ext uri="{FF2B5EF4-FFF2-40B4-BE49-F238E27FC236}">
                <a16:creationId xmlns:a16="http://schemas.microsoft.com/office/drawing/2014/main" id="{99E021B0-E3DC-7006-E3BB-DF147FC55622}"/>
              </a:ext>
            </a:extLst>
          </p:cNvPr>
          <p:cNvSpPr>
            <a:spLocks noGrp="1"/>
          </p:cNvSpPr>
          <p:nvPr>
            <p:ph type="ftr" sz="quarter" idx="11"/>
          </p:nvPr>
        </p:nvSpPr>
        <p:spPr/>
        <p:txBody>
          <a:bodyPr/>
          <a:lstStyle/>
          <a:p>
            <a:endParaRPr lang="ru-GB"/>
          </a:p>
        </p:txBody>
      </p:sp>
      <p:sp>
        <p:nvSpPr>
          <p:cNvPr id="6" name="Номер слайда 5">
            <a:extLst>
              <a:ext uri="{FF2B5EF4-FFF2-40B4-BE49-F238E27FC236}">
                <a16:creationId xmlns:a16="http://schemas.microsoft.com/office/drawing/2014/main" id="{1767E03C-7178-1975-AC2E-21CC99C22B3E}"/>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2131650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6EEECE-6CD2-D739-A097-D6BEF11A1694}"/>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ru-GB"/>
          </a:p>
        </p:txBody>
      </p:sp>
      <p:sp>
        <p:nvSpPr>
          <p:cNvPr id="3" name="Текст 2">
            <a:extLst>
              <a:ext uri="{FF2B5EF4-FFF2-40B4-BE49-F238E27FC236}">
                <a16:creationId xmlns:a16="http://schemas.microsoft.com/office/drawing/2014/main" id="{3953E19B-1C9E-0213-C3B7-ED01F0570B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95171647-4026-2440-5027-838F1A197C82}"/>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5" name="Нижний колонтитул 4">
            <a:extLst>
              <a:ext uri="{FF2B5EF4-FFF2-40B4-BE49-F238E27FC236}">
                <a16:creationId xmlns:a16="http://schemas.microsoft.com/office/drawing/2014/main" id="{FD466F5D-4104-6906-99BD-AB0A7AAE2376}"/>
              </a:ext>
            </a:extLst>
          </p:cNvPr>
          <p:cNvSpPr>
            <a:spLocks noGrp="1"/>
          </p:cNvSpPr>
          <p:nvPr>
            <p:ph type="ftr" sz="quarter" idx="11"/>
          </p:nvPr>
        </p:nvSpPr>
        <p:spPr/>
        <p:txBody>
          <a:bodyPr/>
          <a:lstStyle/>
          <a:p>
            <a:endParaRPr lang="ru-GB"/>
          </a:p>
        </p:txBody>
      </p:sp>
      <p:sp>
        <p:nvSpPr>
          <p:cNvPr id="6" name="Номер слайда 5">
            <a:extLst>
              <a:ext uri="{FF2B5EF4-FFF2-40B4-BE49-F238E27FC236}">
                <a16:creationId xmlns:a16="http://schemas.microsoft.com/office/drawing/2014/main" id="{37B60B8E-65ED-4FFB-DABD-CAAC23E4C41E}"/>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4284852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01970D-F678-4A7F-0797-ABAA299C0BCA}"/>
              </a:ext>
            </a:extLst>
          </p:cNvPr>
          <p:cNvSpPr>
            <a:spLocks noGrp="1"/>
          </p:cNvSpPr>
          <p:nvPr>
            <p:ph type="title"/>
          </p:nvPr>
        </p:nvSpPr>
        <p:spPr/>
        <p:txBody>
          <a:bodyPr/>
          <a:lstStyle/>
          <a:p>
            <a:r>
              <a:rPr lang="ru-RU"/>
              <a:t>Образец заголовка</a:t>
            </a:r>
            <a:endParaRPr lang="ru-GB"/>
          </a:p>
        </p:txBody>
      </p:sp>
      <p:sp>
        <p:nvSpPr>
          <p:cNvPr id="3" name="Объект 2">
            <a:extLst>
              <a:ext uri="{FF2B5EF4-FFF2-40B4-BE49-F238E27FC236}">
                <a16:creationId xmlns:a16="http://schemas.microsoft.com/office/drawing/2014/main" id="{3CDD7AED-A8BC-E785-8900-1C222F93A254}"/>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GB"/>
          </a:p>
        </p:txBody>
      </p:sp>
      <p:sp>
        <p:nvSpPr>
          <p:cNvPr id="4" name="Объект 3">
            <a:extLst>
              <a:ext uri="{FF2B5EF4-FFF2-40B4-BE49-F238E27FC236}">
                <a16:creationId xmlns:a16="http://schemas.microsoft.com/office/drawing/2014/main" id="{81ED92BF-52CC-CDEB-C62C-C3B3168EAB35}"/>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GB"/>
          </a:p>
        </p:txBody>
      </p:sp>
      <p:sp>
        <p:nvSpPr>
          <p:cNvPr id="5" name="Дата 4">
            <a:extLst>
              <a:ext uri="{FF2B5EF4-FFF2-40B4-BE49-F238E27FC236}">
                <a16:creationId xmlns:a16="http://schemas.microsoft.com/office/drawing/2014/main" id="{50397F16-0FEA-41D8-098C-A618C1C3794C}"/>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6" name="Нижний колонтитул 5">
            <a:extLst>
              <a:ext uri="{FF2B5EF4-FFF2-40B4-BE49-F238E27FC236}">
                <a16:creationId xmlns:a16="http://schemas.microsoft.com/office/drawing/2014/main" id="{C62FCF92-DE3F-18CC-D861-F0740BF4FEF6}"/>
              </a:ext>
            </a:extLst>
          </p:cNvPr>
          <p:cNvSpPr>
            <a:spLocks noGrp="1"/>
          </p:cNvSpPr>
          <p:nvPr>
            <p:ph type="ftr" sz="quarter" idx="11"/>
          </p:nvPr>
        </p:nvSpPr>
        <p:spPr/>
        <p:txBody>
          <a:bodyPr/>
          <a:lstStyle/>
          <a:p>
            <a:endParaRPr lang="ru-GB"/>
          </a:p>
        </p:txBody>
      </p:sp>
      <p:sp>
        <p:nvSpPr>
          <p:cNvPr id="7" name="Номер слайда 6">
            <a:extLst>
              <a:ext uri="{FF2B5EF4-FFF2-40B4-BE49-F238E27FC236}">
                <a16:creationId xmlns:a16="http://schemas.microsoft.com/office/drawing/2014/main" id="{FEC3FB51-7DAA-A98C-65D1-BEB5E0389940}"/>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448877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726F3B-F088-416A-4419-FDA91D4555FC}"/>
              </a:ext>
            </a:extLst>
          </p:cNvPr>
          <p:cNvSpPr>
            <a:spLocks noGrp="1"/>
          </p:cNvSpPr>
          <p:nvPr>
            <p:ph type="title"/>
          </p:nvPr>
        </p:nvSpPr>
        <p:spPr>
          <a:xfrm>
            <a:off x="839788" y="365125"/>
            <a:ext cx="10515600" cy="1325563"/>
          </a:xfrm>
        </p:spPr>
        <p:txBody>
          <a:bodyPr/>
          <a:lstStyle/>
          <a:p>
            <a:r>
              <a:rPr lang="ru-RU"/>
              <a:t>Образец заголовка</a:t>
            </a:r>
            <a:endParaRPr lang="ru-GB"/>
          </a:p>
        </p:txBody>
      </p:sp>
      <p:sp>
        <p:nvSpPr>
          <p:cNvPr id="3" name="Текст 2">
            <a:extLst>
              <a:ext uri="{FF2B5EF4-FFF2-40B4-BE49-F238E27FC236}">
                <a16:creationId xmlns:a16="http://schemas.microsoft.com/office/drawing/2014/main" id="{68ACF235-0704-5B39-FA6D-8CE589634F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02101F8D-9696-E2A9-E1D4-FCA66DD33E9B}"/>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GB"/>
          </a:p>
        </p:txBody>
      </p:sp>
      <p:sp>
        <p:nvSpPr>
          <p:cNvPr id="5" name="Текст 4">
            <a:extLst>
              <a:ext uri="{FF2B5EF4-FFF2-40B4-BE49-F238E27FC236}">
                <a16:creationId xmlns:a16="http://schemas.microsoft.com/office/drawing/2014/main" id="{729BAA3C-1592-911C-8ED3-91D83F67D3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93AC0C44-7FBA-5F76-8948-EF19E698506A}"/>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GB"/>
          </a:p>
        </p:txBody>
      </p:sp>
      <p:sp>
        <p:nvSpPr>
          <p:cNvPr id="7" name="Дата 6">
            <a:extLst>
              <a:ext uri="{FF2B5EF4-FFF2-40B4-BE49-F238E27FC236}">
                <a16:creationId xmlns:a16="http://schemas.microsoft.com/office/drawing/2014/main" id="{B63ACA4E-D6E6-488B-2EBA-FF6408AD92CE}"/>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8" name="Нижний колонтитул 7">
            <a:extLst>
              <a:ext uri="{FF2B5EF4-FFF2-40B4-BE49-F238E27FC236}">
                <a16:creationId xmlns:a16="http://schemas.microsoft.com/office/drawing/2014/main" id="{2B3F6AEA-587C-D01B-6DCF-ABED2E2ED001}"/>
              </a:ext>
            </a:extLst>
          </p:cNvPr>
          <p:cNvSpPr>
            <a:spLocks noGrp="1"/>
          </p:cNvSpPr>
          <p:nvPr>
            <p:ph type="ftr" sz="quarter" idx="11"/>
          </p:nvPr>
        </p:nvSpPr>
        <p:spPr/>
        <p:txBody>
          <a:bodyPr/>
          <a:lstStyle/>
          <a:p>
            <a:endParaRPr lang="ru-GB"/>
          </a:p>
        </p:txBody>
      </p:sp>
      <p:sp>
        <p:nvSpPr>
          <p:cNvPr id="9" name="Номер слайда 8">
            <a:extLst>
              <a:ext uri="{FF2B5EF4-FFF2-40B4-BE49-F238E27FC236}">
                <a16:creationId xmlns:a16="http://schemas.microsoft.com/office/drawing/2014/main" id="{F55FDF26-E208-8FCA-6102-0BE29E2A35B8}"/>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841154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2A0ED9-D603-F355-54A2-7B0EA2843E56}"/>
              </a:ext>
            </a:extLst>
          </p:cNvPr>
          <p:cNvSpPr>
            <a:spLocks noGrp="1"/>
          </p:cNvSpPr>
          <p:nvPr>
            <p:ph type="title"/>
          </p:nvPr>
        </p:nvSpPr>
        <p:spPr/>
        <p:txBody>
          <a:bodyPr/>
          <a:lstStyle/>
          <a:p>
            <a:r>
              <a:rPr lang="ru-RU"/>
              <a:t>Образец заголовка</a:t>
            </a:r>
            <a:endParaRPr lang="ru-GB"/>
          </a:p>
        </p:txBody>
      </p:sp>
      <p:sp>
        <p:nvSpPr>
          <p:cNvPr id="3" name="Дата 2">
            <a:extLst>
              <a:ext uri="{FF2B5EF4-FFF2-40B4-BE49-F238E27FC236}">
                <a16:creationId xmlns:a16="http://schemas.microsoft.com/office/drawing/2014/main" id="{AD5ACFCF-39E6-5D52-106A-1F3434AC40A6}"/>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4" name="Нижний колонтитул 3">
            <a:extLst>
              <a:ext uri="{FF2B5EF4-FFF2-40B4-BE49-F238E27FC236}">
                <a16:creationId xmlns:a16="http://schemas.microsoft.com/office/drawing/2014/main" id="{A25E1009-0356-E94F-1AEA-A25A02CAE5B6}"/>
              </a:ext>
            </a:extLst>
          </p:cNvPr>
          <p:cNvSpPr>
            <a:spLocks noGrp="1"/>
          </p:cNvSpPr>
          <p:nvPr>
            <p:ph type="ftr" sz="quarter" idx="11"/>
          </p:nvPr>
        </p:nvSpPr>
        <p:spPr/>
        <p:txBody>
          <a:bodyPr/>
          <a:lstStyle/>
          <a:p>
            <a:endParaRPr lang="ru-GB"/>
          </a:p>
        </p:txBody>
      </p:sp>
      <p:sp>
        <p:nvSpPr>
          <p:cNvPr id="5" name="Номер слайда 4">
            <a:extLst>
              <a:ext uri="{FF2B5EF4-FFF2-40B4-BE49-F238E27FC236}">
                <a16:creationId xmlns:a16="http://schemas.microsoft.com/office/drawing/2014/main" id="{4EE5BACC-7820-7FB9-A721-DA7A2D02298C}"/>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2724667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857D7C18-80AB-0479-6907-EFDFDD3F6689}"/>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3" name="Нижний колонтитул 2">
            <a:extLst>
              <a:ext uri="{FF2B5EF4-FFF2-40B4-BE49-F238E27FC236}">
                <a16:creationId xmlns:a16="http://schemas.microsoft.com/office/drawing/2014/main" id="{A8DB5BF1-FD3C-033D-9404-774FBB2DC669}"/>
              </a:ext>
            </a:extLst>
          </p:cNvPr>
          <p:cNvSpPr>
            <a:spLocks noGrp="1"/>
          </p:cNvSpPr>
          <p:nvPr>
            <p:ph type="ftr" sz="quarter" idx="11"/>
          </p:nvPr>
        </p:nvSpPr>
        <p:spPr/>
        <p:txBody>
          <a:bodyPr/>
          <a:lstStyle/>
          <a:p>
            <a:endParaRPr lang="ru-GB"/>
          </a:p>
        </p:txBody>
      </p:sp>
      <p:sp>
        <p:nvSpPr>
          <p:cNvPr id="4" name="Номер слайда 3">
            <a:extLst>
              <a:ext uri="{FF2B5EF4-FFF2-40B4-BE49-F238E27FC236}">
                <a16:creationId xmlns:a16="http://schemas.microsoft.com/office/drawing/2014/main" id="{2F29E85D-4ABB-D6F7-CC1E-14633C2BF2D4}"/>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2641182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691BED-1A56-73D2-B151-FEC96394C0B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GB"/>
          </a:p>
        </p:txBody>
      </p:sp>
      <p:sp>
        <p:nvSpPr>
          <p:cNvPr id="3" name="Объект 2">
            <a:extLst>
              <a:ext uri="{FF2B5EF4-FFF2-40B4-BE49-F238E27FC236}">
                <a16:creationId xmlns:a16="http://schemas.microsoft.com/office/drawing/2014/main" id="{D68278DC-4DC4-D216-D314-B65413803D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GB"/>
          </a:p>
        </p:txBody>
      </p:sp>
      <p:sp>
        <p:nvSpPr>
          <p:cNvPr id="4" name="Текст 3">
            <a:extLst>
              <a:ext uri="{FF2B5EF4-FFF2-40B4-BE49-F238E27FC236}">
                <a16:creationId xmlns:a16="http://schemas.microsoft.com/office/drawing/2014/main" id="{660D25E4-F7E8-B8C7-61A5-5B1B16E03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B4B0297-B1CB-9AA0-64F8-D872B092B074}"/>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6" name="Нижний колонтитул 5">
            <a:extLst>
              <a:ext uri="{FF2B5EF4-FFF2-40B4-BE49-F238E27FC236}">
                <a16:creationId xmlns:a16="http://schemas.microsoft.com/office/drawing/2014/main" id="{AA2B5DEE-A949-C584-C6DB-2154DF7E033D}"/>
              </a:ext>
            </a:extLst>
          </p:cNvPr>
          <p:cNvSpPr>
            <a:spLocks noGrp="1"/>
          </p:cNvSpPr>
          <p:nvPr>
            <p:ph type="ftr" sz="quarter" idx="11"/>
          </p:nvPr>
        </p:nvSpPr>
        <p:spPr/>
        <p:txBody>
          <a:bodyPr/>
          <a:lstStyle/>
          <a:p>
            <a:endParaRPr lang="ru-GB"/>
          </a:p>
        </p:txBody>
      </p:sp>
      <p:sp>
        <p:nvSpPr>
          <p:cNvPr id="7" name="Номер слайда 6">
            <a:extLst>
              <a:ext uri="{FF2B5EF4-FFF2-40B4-BE49-F238E27FC236}">
                <a16:creationId xmlns:a16="http://schemas.microsoft.com/office/drawing/2014/main" id="{7E03790B-161B-F7DA-D951-4578107A8941}"/>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2417153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9B4CEB-2833-0C20-5C97-A0EA1CA4E51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GB"/>
          </a:p>
        </p:txBody>
      </p:sp>
      <p:sp>
        <p:nvSpPr>
          <p:cNvPr id="3" name="Рисунок 2">
            <a:extLst>
              <a:ext uri="{FF2B5EF4-FFF2-40B4-BE49-F238E27FC236}">
                <a16:creationId xmlns:a16="http://schemas.microsoft.com/office/drawing/2014/main" id="{D0CB86EF-B70C-C0F1-5766-D5655DBBC1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GB"/>
          </a:p>
        </p:txBody>
      </p:sp>
      <p:sp>
        <p:nvSpPr>
          <p:cNvPr id="4" name="Текст 3">
            <a:extLst>
              <a:ext uri="{FF2B5EF4-FFF2-40B4-BE49-F238E27FC236}">
                <a16:creationId xmlns:a16="http://schemas.microsoft.com/office/drawing/2014/main" id="{F22E5D3B-257E-3959-F2C8-EF78C6093A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479C052-2987-9D01-0BC2-E9D0585FD622}"/>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6" name="Нижний колонтитул 5">
            <a:extLst>
              <a:ext uri="{FF2B5EF4-FFF2-40B4-BE49-F238E27FC236}">
                <a16:creationId xmlns:a16="http://schemas.microsoft.com/office/drawing/2014/main" id="{36957F0D-2DAE-F137-D61C-9EEB7B542F8D}"/>
              </a:ext>
            </a:extLst>
          </p:cNvPr>
          <p:cNvSpPr>
            <a:spLocks noGrp="1"/>
          </p:cNvSpPr>
          <p:nvPr>
            <p:ph type="ftr" sz="quarter" idx="11"/>
          </p:nvPr>
        </p:nvSpPr>
        <p:spPr/>
        <p:txBody>
          <a:bodyPr/>
          <a:lstStyle/>
          <a:p>
            <a:endParaRPr lang="ru-GB"/>
          </a:p>
        </p:txBody>
      </p:sp>
      <p:sp>
        <p:nvSpPr>
          <p:cNvPr id="7" name="Номер слайда 6">
            <a:extLst>
              <a:ext uri="{FF2B5EF4-FFF2-40B4-BE49-F238E27FC236}">
                <a16:creationId xmlns:a16="http://schemas.microsoft.com/office/drawing/2014/main" id="{CA54B5F4-30A2-981E-018A-767086F21243}"/>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3621641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C8AA94-F032-977B-283C-31F0233984B8}"/>
              </a:ext>
            </a:extLst>
          </p:cNvPr>
          <p:cNvSpPr>
            <a:spLocks noGrp="1"/>
          </p:cNvSpPr>
          <p:nvPr>
            <p:ph type="title"/>
          </p:nvPr>
        </p:nvSpPr>
        <p:spPr/>
        <p:txBody>
          <a:bodyPr/>
          <a:lstStyle/>
          <a:p>
            <a:r>
              <a:rPr lang="ru-RU"/>
              <a:t>Образец заголовка</a:t>
            </a:r>
            <a:endParaRPr lang="ru-GB"/>
          </a:p>
        </p:txBody>
      </p:sp>
      <p:sp>
        <p:nvSpPr>
          <p:cNvPr id="3" name="Вертикальный текст 2">
            <a:extLst>
              <a:ext uri="{FF2B5EF4-FFF2-40B4-BE49-F238E27FC236}">
                <a16:creationId xmlns:a16="http://schemas.microsoft.com/office/drawing/2014/main" id="{AD5601CF-13C3-EDB8-81E9-D223D8093518}"/>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GB"/>
          </a:p>
        </p:txBody>
      </p:sp>
      <p:sp>
        <p:nvSpPr>
          <p:cNvPr id="4" name="Дата 3">
            <a:extLst>
              <a:ext uri="{FF2B5EF4-FFF2-40B4-BE49-F238E27FC236}">
                <a16:creationId xmlns:a16="http://schemas.microsoft.com/office/drawing/2014/main" id="{1DC68E24-BBD0-435C-5021-5442D9C37EEA}"/>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5" name="Нижний колонтитул 4">
            <a:extLst>
              <a:ext uri="{FF2B5EF4-FFF2-40B4-BE49-F238E27FC236}">
                <a16:creationId xmlns:a16="http://schemas.microsoft.com/office/drawing/2014/main" id="{CD8B0EF8-2520-AF38-EB3D-66C92A7068C6}"/>
              </a:ext>
            </a:extLst>
          </p:cNvPr>
          <p:cNvSpPr>
            <a:spLocks noGrp="1"/>
          </p:cNvSpPr>
          <p:nvPr>
            <p:ph type="ftr" sz="quarter" idx="11"/>
          </p:nvPr>
        </p:nvSpPr>
        <p:spPr/>
        <p:txBody>
          <a:bodyPr/>
          <a:lstStyle/>
          <a:p>
            <a:endParaRPr lang="ru-GB"/>
          </a:p>
        </p:txBody>
      </p:sp>
      <p:sp>
        <p:nvSpPr>
          <p:cNvPr id="6" name="Номер слайда 5">
            <a:extLst>
              <a:ext uri="{FF2B5EF4-FFF2-40B4-BE49-F238E27FC236}">
                <a16:creationId xmlns:a16="http://schemas.microsoft.com/office/drawing/2014/main" id="{83987068-30D2-8242-827A-8F75A6F0F00C}"/>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1522799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5FA3CAD3-ABBD-596C-3C78-FCCFFB65C00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ru-GB"/>
          </a:p>
        </p:txBody>
      </p:sp>
      <p:sp>
        <p:nvSpPr>
          <p:cNvPr id="3" name="Вертикальный текст 2">
            <a:extLst>
              <a:ext uri="{FF2B5EF4-FFF2-40B4-BE49-F238E27FC236}">
                <a16:creationId xmlns:a16="http://schemas.microsoft.com/office/drawing/2014/main" id="{B05C9E60-C3B0-E00A-38FB-6915AB0DF019}"/>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GB"/>
          </a:p>
        </p:txBody>
      </p:sp>
      <p:sp>
        <p:nvSpPr>
          <p:cNvPr id="4" name="Дата 3">
            <a:extLst>
              <a:ext uri="{FF2B5EF4-FFF2-40B4-BE49-F238E27FC236}">
                <a16:creationId xmlns:a16="http://schemas.microsoft.com/office/drawing/2014/main" id="{797ECB03-9B0A-F5D1-0625-37587AD7A183}"/>
              </a:ext>
            </a:extLst>
          </p:cNvPr>
          <p:cNvSpPr>
            <a:spLocks noGrp="1"/>
          </p:cNvSpPr>
          <p:nvPr>
            <p:ph type="dt" sz="half" idx="10"/>
          </p:nvPr>
        </p:nvSpPr>
        <p:spPr/>
        <p:txBody>
          <a:bodyPr/>
          <a:lstStyle/>
          <a:p>
            <a:fld id="{87680C48-8932-7A4C-BED0-B627A1572044}" type="datetimeFigureOut">
              <a:rPr lang="ru-GB" smtClean="0"/>
              <a:t>26/02/2026</a:t>
            </a:fld>
            <a:endParaRPr lang="ru-GB"/>
          </a:p>
        </p:txBody>
      </p:sp>
      <p:sp>
        <p:nvSpPr>
          <p:cNvPr id="5" name="Нижний колонтитул 4">
            <a:extLst>
              <a:ext uri="{FF2B5EF4-FFF2-40B4-BE49-F238E27FC236}">
                <a16:creationId xmlns:a16="http://schemas.microsoft.com/office/drawing/2014/main" id="{47595B85-92E2-6877-7D5F-21914F07010D}"/>
              </a:ext>
            </a:extLst>
          </p:cNvPr>
          <p:cNvSpPr>
            <a:spLocks noGrp="1"/>
          </p:cNvSpPr>
          <p:nvPr>
            <p:ph type="ftr" sz="quarter" idx="11"/>
          </p:nvPr>
        </p:nvSpPr>
        <p:spPr/>
        <p:txBody>
          <a:bodyPr/>
          <a:lstStyle/>
          <a:p>
            <a:endParaRPr lang="ru-GB"/>
          </a:p>
        </p:txBody>
      </p:sp>
      <p:sp>
        <p:nvSpPr>
          <p:cNvPr id="6" name="Номер слайда 5">
            <a:extLst>
              <a:ext uri="{FF2B5EF4-FFF2-40B4-BE49-F238E27FC236}">
                <a16:creationId xmlns:a16="http://schemas.microsoft.com/office/drawing/2014/main" id="{84CA5C8B-C20C-6FDD-C66B-06C746F7B063}"/>
              </a:ext>
            </a:extLst>
          </p:cNvPr>
          <p:cNvSpPr>
            <a:spLocks noGrp="1"/>
          </p:cNvSpPr>
          <p:nvPr>
            <p:ph type="sldNum" sz="quarter" idx="12"/>
          </p:nvPr>
        </p:nvSpPr>
        <p:spPr/>
        <p:txBody>
          <a:bodyPr/>
          <a:lstStyle/>
          <a:p>
            <a:fld id="{2C6500F5-C96B-CA4F-8D0F-F03105DD4614}" type="slidenum">
              <a:rPr lang="ru-GB" smtClean="0"/>
              <a:t>‹#›</a:t>
            </a:fld>
            <a:endParaRPr lang="ru-GB"/>
          </a:p>
        </p:txBody>
      </p:sp>
    </p:spTree>
    <p:extLst>
      <p:ext uri="{BB962C8B-B14F-4D97-AF65-F5344CB8AC3E}">
        <p14:creationId xmlns:p14="http://schemas.microsoft.com/office/powerpoint/2010/main" val="4051982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0BE459-4019-D737-214E-C1739E037F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ru-GB"/>
          </a:p>
        </p:txBody>
      </p:sp>
      <p:sp>
        <p:nvSpPr>
          <p:cNvPr id="3" name="Текст 2">
            <a:extLst>
              <a:ext uri="{FF2B5EF4-FFF2-40B4-BE49-F238E27FC236}">
                <a16:creationId xmlns:a16="http://schemas.microsoft.com/office/drawing/2014/main" id="{875AD991-9CB1-F66E-2F16-DC353179DB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GB"/>
          </a:p>
        </p:txBody>
      </p:sp>
      <p:sp>
        <p:nvSpPr>
          <p:cNvPr id="4" name="Дата 3">
            <a:extLst>
              <a:ext uri="{FF2B5EF4-FFF2-40B4-BE49-F238E27FC236}">
                <a16:creationId xmlns:a16="http://schemas.microsoft.com/office/drawing/2014/main" id="{7B9EA80F-5656-4F11-C568-D22C999EE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680C48-8932-7A4C-BED0-B627A1572044}" type="datetimeFigureOut">
              <a:rPr lang="ru-GB" smtClean="0"/>
              <a:t>26/02/2026</a:t>
            </a:fld>
            <a:endParaRPr lang="ru-GB"/>
          </a:p>
        </p:txBody>
      </p:sp>
      <p:sp>
        <p:nvSpPr>
          <p:cNvPr id="5" name="Нижний колонтитул 4">
            <a:extLst>
              <a:ext uri="{FF2B5EF4-FFF2-40B4-BE49-F238E27FC236}">
                <a16:creationId xmlns:a16="http://schemas.microsoft.com/office/drawing/2014/main" id="{D088CB29-9BBB-8A3C-0F5C-744DECC67E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GB"/>
          </a:p>
        </p:txBody>
      </p:sp>
      <p:sp>
        <p:nvSpPr>
          <p:cNvPr id="6" name="Номер слайда 5">
            <a:extLst>
              <a:ext uri="{FF2B5EF4-FFF2-40B4-BE49-F238E27FC236}">
                <a16:creationId xmlns:a16="http://schemas.microsoft.com/office/drawing/2014/main" id="{39E8C2B8-E155-F59D-4BDF-80D7B64F70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6500F5-C96B-CA4F-8D0F-F03105DD4614}" type="slidenum">
              <a:rPr lang="ru-GB" smtClean="0"/>
              <a:t>‹#›</a:t>
            </a:fld>
            <a:endParaRPr lang="ru-GB"/>
          </a:p>
        </p:txBody>
      </p:sp>
    </p:spTree>
    <p:extLst>
      <p:ext uri="{BB962C8B-B14F-4D97-AF65-F5344CB8AC3E}">
        <p14:creationId xmlns:p14="http://schemas.microsoft.com/office/powerpoint/2010/main" val="1397967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hyperlink" Target="https://neerc.ifmo.ru/wiki/index.php?title=&#1054;&#1094;&#1077;&#1085;&#1082;&#1072;_&#1082;&#1072;&#1095;&#1077;&#1089;&#1090;&#1074;&#1072;_&#1074;_&#1079;&#1072;&#1076;&#1072;&#1095;&#1072;&#1093;_&#1082;&#1083;&#1072;&#1089;&#1089;&#1080;&#1092;&#1080;&#1082;&#1072;&#1094;&#1080;&#1080;"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E8AC80-B180-8C86-099D-771CA4BCDC51}"/>
              </a:ext>
            </a:extLst>
          </p:cNvPr>
          <p:cNvSpPr>
            <a:spLocks noGrp="1"/>
          </p:cNvSpPr>
          <p:nvPr>
            <p:ph type="ctrTitle"/>
          </p:nvPr>
        </p:nvSpPr>
        <p:spPr/>
        <p:txBody>
          <a:bodyPr/>
          <a:lstStyle/>
          <a:p>
            <a:r>
              <a:rPr lang="ru-RU" b="1" dirty="0"/>
              <a:t>Метрики классификации</a:t>
            </a:r>
            <a:endParaRPr lang="ru-GB" b="1" dirty="0"/>
          </a:p>
        </p:txBody>
      </p:sp>
      <p:sp>
        <p:nvSpPr>
          <p:cNvPr id="3" name="Подзаголовок 2">
            <a:extLst>
              <a:ext uri="{FF2B5EF4-FFF2-40B4-BE49-F238E27FC236}">
                <a16:creationId xmlns:a16="http://schemas.microsoft.com/office/drawing/2014/main" id="{7EFDFE3D-A5F5-9F92-FF80-929CB54E55FB}"/>
              </a:ext>
            </a:extLst>
          </p:cNvPr>
          <p:cNvSpPr>
            <a:spLocks noGrp="1"/>
          </p:cNvSpPr>
          <p:nvPr>
            <p:ph type="subTitle" idx="1"/>
          </p:nvPr>
        </p:nvSpPr>
        <p:spPr/>
        <p:txBody>
          <a:bodyPr/>
          <a:lstStyle/>
          <a:p>
            <a:r>
              <a:rPr lang="ru-GB" dirty="0"/>
              <a:t>Семинар 6</a:t>
            </a:r>
          </a:p>
        </p:txBody>
      </p:sp>
      <p:pic>
        <p:nvPicPr>
          <p:cNvPr id="4" name="Рисунок 3">
            <a:extLst>
              <a:ext uri="{FF2B5EF4-FFF2-40B4-BE49-F238E27FC236}">
                <a16:creationId xmlns:a16="http://schemas.microsoft.com/office/drawing/2014/main" id="{74269EA8-222F-C8F3-064E-6C1E49397A3F}"/>
              </a:ext>
            </a:extLst>
          </p:cNvPr>
          <p:cNvPicPr>
            <a:picLocks noChangeAspect="1"/>
          </p:cNvPicPr>
          <p:nvPr/>
        </p:nvPicPr>
        <p:blipFill>
          <a:blip r:embed="rId2"/>
          <a:stretch>
            <a:fillRect/>
          </a:stretch>
        </p:blipFill>
        <p:spPr>
          <a:xfrm>
            <a:off x="600810" y="5025163"/>
            <a:ext cx="10990379" cy="1167727"/>
          </a:xfrm>
          <a:prstGeom prst="rect">
            <a:avLst/>
          </a:prstGeom>
        </p:spPr>
      </p:pic>
    </p:spTree>
    <p:extLst>
      <p:ext uri="{BB962C8B-B14F-4D97-AF65-F5344CB8AC3E}">
        <p14:creationId xmlns:p14="http://schemas.microsoft.com/office/powerpoint/2010/main" val="341349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B76692-509F-5182-62E1-931BBBE90CA7}"/>
              </a:ext>
            </a:extLst>
          </p:cNvPr>
          <p:cNvSpPr>
            <a:spLocks noGrp="1"/>
          </p:cNvSpPr>
          <p:nvPr>
            <p:ph type="title"/>
          </p:nvPr>
        </p:nvSpPr>
        <p:spPr/>
        <p:txBody>
          <a:bodyPr/>
          <a:lstStyle/>
          <a:p>
            <a:r>
              <a:rPr lang="ru-GB" b="1" dirty="0"/>
              <a:t>План</a:t>
            </a:r>
          </a:p>
        </p:txBody>
      </p:sp>
      <p:sp>
        <p:nvSpPr>
          <p:cNvPr id="3" name="Объект 2">
            <a:extLst>
              <a:ext uri="{FF2B5EF4-FFF2-40B4-BE49-F238E27FC236}">
                <a16:creationId xmlns:a16="http://schemas.microsoft.com/office/drawing/2014/main" id="{89C750B3-F8CC-092A-E435-2A9E039976FD}"/>
              </a:ext>
            </a:extLst>
          </p:cNvPr>
          <p:cNvSpPr>
            <a:spLocks noGrp="1"/>
          </p:cNvSpPr>
          <p:nvPr>
            <p:ph idx="1"/>
          </p:nvPr>
        </p:nvSpPr>
        <p:spPr/>
        <p:txBody>
          <a:bodyPr>
            <a:normAutofit/>
          </a:bodyPr>
          <a:lstStyle/>
          <a:p>
            <a:r>
              <a:rPr lang="ru-RU" dirty="0">
                <a:solidFill>
                  <a:srgbClr val="000000"/>
                </a:solidFill>
                <a:effectLst/>
                <a:latin typeface="Helvetica" pitchFamily="2" charset="0"/>
              </a:rPr>
              <a:t>Мотивация</a:t>
            </a:r>
          </a:p>
          <a:p>
            <a:r>
              <a:rPr lang="ru-GB" dirty="0">
                <a:latin typeface="Helvetica" pitchFamily="2" charset="0"/>
              </a:rPr>
              <a:t>Бинарная классификация</a:t>
            </a:r>
          </a:p>
          <a:p>
            <a:r>
              <a:rPr lang="en-US" dirty="0">
                <a:solidFill>
                  <a:srgbClr val="000000"/>
                </a:solidFill>
                <a:effectLst/>
                <a:latin typeface="Helvetica" pitchFamily="2" charset="0"/>
              </a:rPr>
              <a:t>Confusion matrix</a:t>
            </a:r>
          </a:p>
          <a:p>
            <a:r>
              <a:rPr lang="en-US" dirty="0">
                <a:solidFill>
                  <a:srgbClr val="000000"/>
                </a:solidFill>
                <a:effectLst/>
                <a:latin typeface="Helvetica" pitchFamily="2" charset="0"/>
              </a:rPr>
              <a:t>Accuracy</a:t>
            </a:r>
          </a:p>
          <a:p>
            <a:r>
              <a:rPr lang="en-US" dirty="0">
                <a:solidFill>
                  <a:srgbClr val="000000"/>
                </a:solidFill>
                <a:effectLst/>
                <a:latin typeface="Helvetica" pitchFamily="2" charset="0"/>
              </a:rPr>
              <a:t>Precision</a:t>
            </a:r>
          </a:p>
          <a:p>
            <a:r>
              <a:rPr lang="en-US" dirty="0">
                <a:solidFill>
                  <a:srgbClr val="000000"/>
                </a:solidFill>
                <a:effectLst/>
                <a:latin typeface="Helvetica" pitchFamily="2" charset="0"/>
              </a:rPr>
              <a:t>Recall</a:t>
            </a:r>
          </a:p>
          <a:p>
            <a:r>
              <a:rPr lang="en-US" dirty="0">
                <a:solidFill>
                  <a:srgbClr val="000000"/>
                </a:solidFill>
                <a:effectLst/>
                <a:latin typeface="Helvetica" pitchFamily="2" charset="0"/>
              </a:rPr>
              <a:t>F1-Score</a:t>
            </a:r>
          </a:p>
          <a:p>
            <a:r>
              <a:rPr lang="en-US" dirty="0"/>
              <a:t>ROC-AUC </a:t>
            </a:r>
            <a:r>
              <a:rPr lang="ru-RU" dirty="0"/>
              <a:t>и </a:t>
            </a:r>
            <a:r>
              <a:rPr lang="en-US" dirty="0"/>
              <a:t>PR-AUC</a:t>
            </a:r>
          </a:p>
        </p:txBody>
      </p:sp>
    </p:spTree>
    <p:extLst>
      <p:ext uri="{BB962C8B-B14F-4D97-AF65-F5344CB8AC3E}">
        <p14:creationId xmlns:p14="http://schemas.microsoft.com/office/powerpoint/2010/main" val="1789096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703CB-C711-85E9-78EE-EBF448E55EB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E8CD1B-FB3B-48E6-B1FC-F0C867FDB698}"/>
              </a:ext>
            </a:extLst>
          </p:cNvPr>
          <p:cNvSpPr>
            <a:spLocks noGrp="1"/>
          </p:cNvSpPr>
          <p:nvPr>
            <p:ph type="title"/>
          </p:nvPr>
        </p:nvSpPr>
        <p:spPr/>
        <p:txBody>
          <a:bodyPr/>
          <a:lstStyle/>
          <a:p>
            <a:r>
              <a:rPr lang="ru-RU" b="1" dirty="0">
                <a:solidFill>
                  <a:srgbClr val="000000"/>
                </a:solidFill>
                <a:effectLst/>
                <a:latin typeface="Helvetica" pitchFamily="2" charset="0"/>
              </a:rPr>
              <a:t>Мотивация</a:t>
            </a:r>
            <a:endParaRPr lang="ru-GB" b="1" dirty="0"/>
          </a:p>
        </p:txBody>
      </p:sp>
      <p:sp>
        <p:nvSpPr>
          <p:cNvPr id="6" name="Объект 5">
            <a:extLst>
              <a:ext uri="{FF2B5EF4-FFF2-40B4-BE49-F238E27FC236}">
                <a16:creationId xmlns:a16="http://schemas.microsoft.com/office/drawing/2014/main" id="{6A683890-A1E9-D024-96C6-50951E6A9C22}"/>
              </a:ext>
            </a:extLst>
          </p:cNvPr>
          <p:cNvSpPr>
            <a:spLocks noGrp="1"/>
          </p:cNvSpPr>
          <p:nvPr>
            <p:ph idx="1"/>
          </p:nvPr>
        </p:nvSpPr>
        <p:spPr>
          <a:xfrm>
            <a:off x="838200" y="1825625"/>
            <a:ext cx="4457700" cy="600075"/>
          </a:xfrm>
        </p:spPr>
        <p:txBody>
          <a:bodyPr/>
          <a:lstStyle/>
          <a:p>
            <a:pPr marL="0" indent="0">
              <a:buNone/>
            </a:pPr>
            <a:r>
              <a:rPr lang="ru-GB" b="1" dirty="0"/>
              <a:t>Метрики нужны бизнесу</a:t>
            </a:r>
          </a:p>
        </p:txBody>
      </p:sp>
      <p:sp>
        <p:nvSpPr>
          <p:cNvPr id="7" name="TextBox 6">
            <a:extLst>
              <a:ext uri="{FF2B5EF4-FFF2-40B4-BE49-F238E27FC236}">
                <a16:creationId xmlns:a16="http://schemas.microsoft.com/office/drawing/2014/main" id="{91977F0F-A8E5-81EA-19EB-C12F178F1F37}"/>
              </a:ext>
            </a:extLst>
          </p:cNvPr>
          <p:cNvSpPr txBox="1"/>
          <p:nvPr/>
        </p:nvSpPr>
        <p:spPr>
          <a:xfrm>
            <a:off x="2173574" y="3113146"/>
            <a:ext cx="2653259" cy="707886"/>
          </a:xfrm>
          <a:prstGeom prst="rect">
            <a:avLst/>
          </a:prstGeom>
          <a:noFill/>
        </p:spPr>
        <p:txBody>
          <a:bodyPr wrap="square" rtlCol="0">
            <a:spAutoFit/>
          </a:bodyPr>
          <a:lstStyle/>
          <a:p>
            <a:r>
              <a:rPr lang="en-US" sz="4000" b="1" dirty="0"/>
              <a:t>MAE = 100 </a:t>
            </a:r>
            <a:endParaRPr lang="ru-GB" sz="4000" b="1" dirty="0"/>
          </a:p>
        </p:txBody>
      </p:sp>
      <p:sp>
        <p:nvSpPr>
          <p:cNvPr id="9" name="TextBox 8">
            <a:extLst>
              <a:ext uri="{FF2B5EF4-FFF2-40B4-BE49-F238E27FC236}">
                <a16:creationId xmlns:a16="http://schemas.microsoft.com/office/drawing/2014/main" id="{157C98BC-ACA2-03A0-7D71-D88008D5C09B}"/>
              </a:ext>
            </a:extLst>
          </p:cNvPr>
          <p:cNvSpPr txBox="1"/>
          <p:nvPr/>
        </p:nvSpPr>
        <p:spPr>
          <a:xfrm>
            <a:off x="2926040" y="3892660"/>
            <a:ext cx="1476532" cy="1323439"/>
          </a:xfrm>
          <a:prstGeom prst="rect">
            <a:avLst/>
          </a:prstGeom>
          <a:noFill/>
        </p:spPr>
        <p:txBody>
          <a:bodyPr wrap="square">
            <a:spAutoFit/>
          </a:bodyPr>
          <a:lstStyle/>
          <a:p>
            <a:r>
              <a:rPr lang="ru-GB" sz="8000" dirty="0"/>
              <a:t>👍</a:t>
            </a:r>
          </a:p>
        </p:txBody>
      </p:sp>
      <p:sp>
        <p:nvSpPr>
          <p:cNvPr id="10" name="TextBox 9">
            <a:extLst>
              <a:ext uri="{FF2B5EF4-FFF2-40B4-BE49-F238E27FC236}">
                <a16:creationId xmlns:a16="http://schemas.microsoft.com/office/drawing/2014/main" id="{088D496D-92AE-B69A-2C2C-90EAC66B8CAD}"/>
              </a:ext>
            </a:extLst>
          </p:cNvPr>
          <p:cNvSpPr txBox="1"/>
          <p:nvPr/>
        </p:nvSpPr>
        <p:spPr>
          <a:xfrm>
            <a:off x="7414675" y="3113146"/>
            <a:ext cx="2838597" cy="707886"/>
          </a:xfrm>
          <a:prstGeom prst="rect">
            <a:avLst/>
          </a:prstGeom>
          <a:noFill/>
        </p:spPr>
        <p:txBody>
          <a:bodyPr wrap="square" rtlCol="0">
            <a:spAutoFit/>
          </a:bodyPr>
          <a:lstStyle/>
          <a:p>
            <a:r>
              <a:rPr lang="en-US" sz="4000" b="1" dirty="0"/>
              <a:t>MAE = 1000 </a:t>
            </a:r>
            <a:endParaRPr lang="ru-GB" sz="4000" b="1" dirty="0"/>
          </a:p>
        </p:txBody>
      </p:sp>
      <p:sp>
        <p:nvSpPr>
          <p:cNvPr id="11" name="TextBox 10">
            <a:extLst>
              <a:ext uri="{FF2B5EF4-FFF2-40B4-BE49-F238E27FC236}">
                <a16:creationId xmlns:a16="http://schemas.microsoft.com/office/drawing/2014/main" id="{2D9F1FCE-7EB1-25A1-7C30-3670173B64C7}"/>
              </a:ext>
            </a:extLst>
          </p:cNvPr>
          <p:cNvSpPr txBox="1"/>
          <p:nvPr/>
        </p:nvSpPr>
        <p:spPr>
          <a:xfrm>
            <a:off x="8167141" y="3892660"/>
            <a:ext cx="1476532" cy="1323439"/>
          </a:xfrm>
          <a:prstGeom prst="rect">
            <a:avLst/>
          </a:prstGeom>
          <a:noFill/>
        </p:spPr>
        <p:txBody>
          <a:bodyPr wrap="square">
            <a:spAutoFit/>
          </a:bodyPr>
          <a:lstStyle/>
          <a:p>
            <a:r>
              <a:rPr lang="ru-GB" sz="8000" dirty="0"/>
              <a:t>👎</a:t>
            </a:r>
          </a:p>
        </p:txBody>
      </p:sp>
    </p:spTree>
    <p:extLst>
      <p:ext uri="{BB962C8B-B14F-4D97-AF65-F5344CB8AC3E}">
        <p14:creationId xmlns:p14="http://schemas.microsoft.com/office/powerpoint/2010/main" val="565592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C7A92-DD04-691C-8949-C622DBA3B4E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4299E0-27E4-826D-3EE8-28AE1D8237D6}"/>
              </a:ext>
            </a:extLst>
          </p:cNvPr>
          <p:cNvSpPr>
            <a:spLocks noGrp="1"/>
          </p:cNvSpPr>
          <p:nvPr>
            <p:ph type="title"/>
          </p:nvPr>
        </p:nvSpPr>
        <p:spPr/>
        <p:txBody>
          <a:bodyPr/>
          <a:lstStyle/>
          <a:p>
            <a:r>
              <a:rPr lang="ru-RU" b="1" dirty="0">
                <a:solidFill>
                  <a:srgbClr val="000000"/>
                </a:solidFill>
                <a:effectLst/>
                <a:latin typeface="Helvetica" pitchFamily="2" charset="0"/>
              </a:rPr>
              <a:t>Мотивация</a:t>
            </a:r>
            <a:endParaRPr lang="ru-GB" b="1" dirty="0"/>
          </a:p>
        </p:txBody>
      </p:sp>
      <p:sp>
        <p:nvSpPr>
          <p:cNvPr id="6" name="Объект 5">
            <a:extLst>
              <a:ext uri="{FF2B5EF4-FFF2-40B4-BE49-F238E27FC236}">
                <a16:creationId xmlns:a16="http://schemas.microsoft.com/office/drawing/2014/main" id="{B070FF44-4BE9-0CFD-3C79-4229BC58E56B}"/>
              </a:ext>
            </a:extLst>
          </p:cNvPr>
          <p:cNvSpPr>
            <a:spLocks noGrp="1"/>
          </p:cNvSpPr>
          <p:nvPr>
            <p:ph idx="1"/>
          </p:nvPr>
        </p:nvSpPr>
        <p:spPr>
          <a:xfrm>
            <a:off x="838199" y="1825625"/>
            <a:ext cx="7931047" cy="600075"/>
          </a:xfrm>
        </p:spPr>
        <p:txBody>
          <a:bodyPr>
            <a:normAutofit/>
          </a:bodyPr>
          <a:lstStyle/>
          <a:p>
            <a:pPr marL="0" indent="0">
              <a:buNone/>
            </a:pPr>
            <a:r>
              <a:rPr lang="ru-RU" b="1" dirty="0"/>
              <a:t>А какие метрики для классификации?</a:t>
            </a:r>
            <a:endParaRPr lang="ru-GB" b="1" dirty="0"/>
          </a:p>
        </p:txBody>
      </p:sp>
    </p:spTree>
    <p:extLst>
      <p:ext uri="{BB962C8B-B14F-4D97-AF65-F5344CB8AC3E}">
        <p14:creationId xmlns:p14="http://schemas.microsoft.com/office/powerpoint/2010/main" val="896780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90D86-1D18-F0AC-249F-A50FE94B58E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7D3B60-C496-0531-FF0D-2F2F9B1C0105}"/>
              </a:ext>
            </a:extLst>
          </p:cNvPr>
          <p:cNvSpPr>
            <a:spLocks noGrp="1"/>
          </p:cNvSpPr>
          <p:nvPr>
            <p:ph type="title"/>
          </p:nvPr>
        </p:nvSpPr>
        <p:spPr/>
        <p:txBody>
          <a:bodyPr/>
          <a:lstStyle/>
          <a:p>
            <a:r>
              <a:rPr lang="ru-RU" b="1" dirty="0">
                <a:solidFill>
                  <a:srgbClr val="000000"/>
                </a:solidFill>
                <a:effectLst/>
                <a:latin typeface="Helvetica" pitchFamily="2" charset="0"/>
              </a:rPr>
              <a:t>Мотивация</a:t>
            </a:r>
            <a:endParaRPr lang="ru-GB" b="1" dirty="0"/>
          </a:p>
        </p:txBody>
      </p:sp>
      <p:sp>
        <p:nvSpPr>
          <p:cNvPr id="6" name="Объект 5">
            <a:extLst>
              <a:ext uri="{FF2B5EF4-FFF2-40B4-BE49-F238E27FC236}">
                <a16:creationId xmlns:a16="http://schemas.microsoft.com/office/drawing/2014/main" id="{6F826A3E-6AE4-C590-BA10-8D5D22112389}"/>
              </a:ext>
            </a:extLst>
          </p:cNvPr>
          <p:cNvSpPr>
            <a:spLocks noGrp="1"/>
          </p:cNvSpPr>
          <p:nvPr>
            <p:ph idx="1"/>
          </p:nvPr>
        </p:nvSpPr>
        <p:spPr>
          <a:xfrm>
            <a:off x="838199" y="1825625"/>
            <a:ext cx="7931047" cy="600075"/>
          </a:xfrm>
        </p:spPr>
        <p:txBody>
          <a:bodyPr>
            <a:normAutofit/>
          </a:bodyPr>
          <a:lstStyle/>
          <a:p>
            <a:pPr marL="0" indent="0">
              <a:buNone/>
            </a:pPr>
            <a:r>
              <a:rPr lang="ru-RU" b="1" dirty="0"/>
              <a:t>А какие метрики для классификации?</a:t>
            </a:r>
            <a:endParaRPr lang="ru-GB" b="1" dirty="0"/>
          </a:p>
        </p:txBody>
      </p:sp>
      <p:sp>
        <p:nvSpPr>
          <p:cNvPr id="4" name="Объект 5">
            <a:extLst>
              <a:ext uri="{FF2B5EF4-FFF2-40B4-BE49-F238E27FC236}">
                <a16:creationId xmlns:a16="http://schemas.microsoft.com/office/drawing/2014/main" id="{68DE2340-5AF9-A571-86CF-EC35E3B02EFE}"/>
              </a:ext>
            </a:extLst>
          </p:cNvPr>
          <p:cNvSpPr txBox="1">
            <a:spLocks/>
          </p:cNvSpPr>
          <p:nvPr/>
        </p:nvSpPr>
        <p:spPr>
          <a:xfrm>
            <a:off x="838200" y="2560637"/>
            <a:ext cx="4543270" cy="60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dirty="0"/>
              <a:t>Доля верных ошибок</a:t>
            </a:r>
            <a:endParaRPr lang="ru-GB" dirty="0"/>
          </a:p>
        </p:txBody>
      </p:sp>
    </p:spTree>
    <p:extLst>
      <p:ext uri="{BB962C8B-B14F-4D97-AF65-F5344CB8AC3E}">
        <p14:creationId xmlns:p14="http://schemas.microsoft.com/office/powerpoint/2010/main" val="3503274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822FE-5618-E0FA-DEC2-B549FE46D68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FC12CE-11A5-7E26-F4C4-3DC8208E5CA8}"/>
              </a:ext>
            </a:extLst>
          </p:cNvPr>
          <p:cNvSpPr>
            <a:spLocks noGrp="1"/>
          </p:cNvSpPr>
          <p:nvPr>
            <p:ph type="title"/>
          </p:nvPr>
        </p:nvSpPr>
        <p:spPr/>
        <p:txBody>
          <a:bodyPr>
            <a:normAutofit/>
          </a:bodyPr>
          <a:lstStyle/>
          <a:p>
            <a:r>
              <a:rPr lang="ru-RU" b="1" dirty="0">
                <a:solidFill>
                  <a:srgbClr val="000000"/>
                </a:solidFill>
                <a:effectLst/>
                <a:latin typeface="Helvetica" pitchFamily="2" charset="0"/>
              </a:rPr>
              <a:t>Бинарная классификация</a:t>
            </a:r>
            <a:endParaRPr lang="ru-GB" b="1" dirty="0"/>
          </a:p>
        </p:txBody>
      </p:sp>
      <p:sp>
        <p:nvSpPr>
          <p:cNvPr id="6" name="Объект 5">
            <a:extLst>
              <a:ext uri="{FF2B5EF4-FFF2-40B4-BE49-F238E27FC236}">
                <a16:creationId xmlns:a16="http://schemas.microsoft.com/office/drawing/2014/main" id="{7595EF18-6E0B-9B99-2CF2-5BE41330B3FE}"/>
              </a:ext>
            </a:extLst>
          </p:cNvPr>
          <p:cNvSpPr>
            <a:spLocks noGrp="1"/>
          </p:cNvSpPr>
          <p:nvPr>
            <p:ph idx="1"/>
          </p:nvPr>
        </p:nvSpPr>
        <p:spPr>
          <a:xfrm>
            <a:off x="838199" y="1825625"/>
            <a:ext cx="10515600" cy="1142427"/>
          </a:xfrm>
        </p:spPr>
        <p:txBody>
          <a:bodyPr>
            <a:normAutofit/>
          </a:bodyPr>
          <a:lstStyle/>
          <a:p>
            <a:pPr marL="0" indent="0">
              <a:buNone/>
            </a:pPr>
            <a:r>
              <a:rPr lang="ru-RU" b="1" dirty="0"/>
              <a:t>Бинарная классификация </a:t>
            </a:r>
            <a:r>
              <a:rPr lang="ru-RU" dirty="0"/>
              <a:t>– это когда модель решает, принадлежит ли объект к </a:t>
            </a:r>
            <a:r>
              <a:rPr lang="ru-RU" b="1" dirty="0"/>
              <a:t>одному из двух</a:t>
            </a:r>
            <a:r>
              <a:rPr lang="en-US" b="1" dirty="0"/>
              <a:t> </a:t>
            </a:r>
            <a:r>
              <a:rPr lang="ru-RU" dirty="0"/>
              <a:t>возможных классов.</a:t>
            </a:r>
            <a:endParaRPr lang="ru-GB" dirty="0"/>
          </a:p>
        </p:txBody>
      </p:sp>
      <mc:AlternateContent xmlns:mc="http://schemas.openxmlformats.org/markup-compatibility/2006">
        <mc:Choice xmlns:a14="http://schemas.microsoft.com/office/drawing/2010/main" Requires="a14">
          <p:sp>
            <p:nvSpPr>
              <p:cNvPr id="4" name="Объект 5">
                <a:extLst>
                  <a:ext uri="{FF2B5EF4-FFF2-40B4-BE49-F238E27FC236}">
                    <a16:creationId xmlns:a16="http://schemas.microsoft.com/office/drawing/2014/main" id="{8E3146FC-75C5-9F07-F79B-3A566AA8BCA6}"/>
                  </a:ext>
                </a:extLst>
              </p:cNvPr>
              <p:cNvSpPr txBox="1">
                <a:spLocks/>
              </p:cNvSpPr>
              <p:nvPr/>
            </p:nvSpPr>
            <p:spPr>
              <a:xfrm>
                <a:off x="943130" y="3128962"/>
                <a:ext cx="3344057" cy="60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&gt;)</m:t>
                      </m:r>
                    </m:oMath>
                  </m:oMathPara>
                </a14:m>
                <a:endParaRPr lang="ru-GB" dirty="0"/>
              </a:p>
            </p:txBody>
          </p:sp>
        </mc:Choice>
        <mc:Fallback>
          <p:sp>
            <p:nvSpPr>
              <p:cNvPr id="4" name="Объект 5">
                <a:extLst>
                  <a:ext uri="{FF2B5EF4-FFF2-40B4-BE49-F238E27FC236}">
                    <a16:creationId xmlns:a16="http://schemas.microsoft.com/office/drawing/2014/main" id="{8E3146FC-75C5-9F07-F79B-3A566AA8BCA6}"/>
                  </a:ext>
                </a:extLst>
              </p:cNvPr>
              <p:cNvSpPr txBox="1">
                <a:spLocks noRot="1" noChangeAspect="1" noMove="1" noResize="1" noEditPoints="1" noAdjustHandles="1" noChangeArrowheads="1" noChangeShapeType="1" noTextEdit="1"/>
              </p:cNvSpPr>
              <p:nvPr/>
            </p:nvSpPr>
            <p:spPr>
              <a:xfrm>
                <a:off x="943130" y="3128962"/>
                <a:ext cx="3344057" cy="600075"/>
              </a:xfrm>
              <a:prstGeom prst="rect">
                <a:avLst/>
              </a:prstGeom>
              <a:blipFill>
                <a:blip r:embed="rId3"/>
                <a:stretch>
                  <a:fillRect/>
                </a:stretch>
              </a:blipFill>
            </p:spPr>
            <p:txBody>
              <a:bodyPr/>
              <a:lstStyle/>
              <a:p>
                <a:r>
                  <a:rPr lang="ru-GB">
                    <a:noFill/>
                  </a:rPr>
                  <a:t> </a:t>
                </a:r>
              </a:p>
            </p:txBody>
          </p:sp>
        </mc:Fallback>
      </mc:AlternateContent>
      <mc:AlternateContent xmlns:mc="http://schemas.openxmlformats.org/markup-compatibility/2006">
        <mc:Choice xmlns:a14="http://schemas.microsoft.com/office/drawing/2010/main" Requires="a14">
          <p:sp>
            <p:nvSpPr>
              <p:cNvPr id="7" name="Объект 5">
                <a:extLst>
                  <a:ext uri="{FF2B5EF4-FFF2-40B4-BE49-F238E27FC236}">
                    <a16:creationId xmlns:a16="http://schemas.microsoft.com/office/drawing/2014/main" id="{BF6431F6-BB53-226E-BB31-4FA88B96C626}"/>
                  </a:ext>
                </a:extLst>
              </p:cNvPr>
              <p:cNvSpPr txBox="1">
                <a:spLocks/>
              </p:cNvSpPr>
              <p:nvPr/>
            </p:nvSpPr>
            <p:spPr>
              <a:xfrm>
                <a:off x="943131" y="3787982"/>
                <a:ext cx="1650168" cy="60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𝑦</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{0,1}</m:t>
                      </m:r>
                    </m:oMath>
                  </m:oMathPara>
                </a14:m>
                <a:endParaRPr lang="ru-GB" dirty="0"/>
              </a:p>
            </p:txBody>
          </p:sp>
        </mc:Choice>
        <mc:Fallback>
          <p:sp>
            <p:nvSpPr>
              <p:cNvPr id="7" name="Объект 5">
                <a:extLst>
                  <a:ext uri="{FF2B5EF4-FFF2-40B4-BE49-F238E27FC236}">
                    <a16:creationId xmlns:a16="http://schemas.microsoft.com/office/drawing/2014/main" id="{BF6431F6-BB53-226E-BB31-4FA88B96C626}"/>
                  </a:ext>
                </a:extLst>
              </p:cNvPr>
              <p:cNvSpPr txBox="1">
                <a:spLocks noRot="1" noChangeAspect="1" noMove="1" noResize="1" noEditPoints="1" noAdjustHandles="1" noChangeArrowheads="1" noChangeShapeType="1" noTextEdit="1"/>
              </p:cNvSpPr>
              <p:nvPr/>
            </p:nvSpPr>
            <p:spPr>
              <a:xfrm>
                <a:off x="943131" y="3787982"/>
                <a:ext cx="1650168" cy="600075"/>
              </a:xfrm>
              <a:prstGeom prst="rect">
                <a:avLst/>
              </a:prstGeom>
              <a:blipFill>
                <a:blip r:embed="rId4"/>
                <a:stretch>
                  <a:fillRect r="-1527"/>
                </a:stretch>
              </a:blipFill>
            </p:spPr>
            <p:txBody>
              <a:bodyPr/>
              <a:lstStyle/>
              <a:p>
                <a:r>
                  <a:rPr lang="ru-GB">
                    <a:noFill/>
                  </a:rPr>
                  <a:t> </a:t>
                </a:r>
              </a:p>
            </p:txBody>
          </p:sp>
        </mc:Fallback>
      </mc:AlternateContent>
    </p:spTree>
    <p:extLst>
      <p:ext uri="{BB962C8B-B14F-4D97-AF65-F5344CB8AC3E}">
        <p14:creationId xmlns:p14="http://schemas.microsoft.com/office/powerpoint/2010/main" val="3558770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0CAAC-BBF5-ADD1-F09B-A3D0AF1D8A6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2D8D6C-B257-D993-01B7-4852D89147CD}"/>
              </a:ext>
            </a:extLst>
          </p:cNvPr>
          <p:cNvSpPr>
            <a:spLocks noGrp="1"/>
          </p:cNvSpPr>
          <p:nvPr>
            <p:ph type="title"/>
          </p:nvPr>
        </p:nvSpPr>
        <p:spPr/>
        <p:txBody>
          <a:bodyPr>
            <a:normAutofit/>
          </a:bodyPr>
          <a:lstStyle/>
          <a:p>
            <a:r>
              <a:rPr lang="ru-RU" b="1" dirty="0">
                <a:solidFill>
                  <a:srgbClr val="000000"/>
                </a:solidFill>
                <a:effectLst/>
                <a:latin typeface="Helvetica" pitchFamily="2" charset="0"/>
              </a:rPr>
              <a:t>Бинарная классификация</a:t>
            </a:r>
            <a:endParaRPr lang="ru-GB" b="1" dirty="0"/>
          </a:p>
        </p:txBody>
      </p:sp>
      <p:graphicFrame>
        <p:nvGraphicFramePr>
          <p:cNvPr id="3" name="Объект 2">
            <a:extLst>
              <a:ext uri="{FF2B5EF4-FFF2-40B4-BE49-F238E27FC236}">
                <a16:creationId xmlns:a16="http://schemas.microsoft.com/office/drawing/2014/main" id="{9E411CDE-02FC-1AD0-10F6-0C8CEDA46FB5}"/>
              </a:ext>
            </a:extLst>
          </p:cNvPr>
          <p:cNvGraphicFramePr>
            <a:graphicFrameLocks noGrp="1"/>
          </p:cNvGraphicFramePr>
          <p:nvPr>
            <p:ph idx="1"/>
            <p:extLst>
              <p:ext uri="{D42A27DB-BD31-4B8C-83A1-F6EECF244321}">
                <p14:modId xmlns:p14="http://schemas.microsoft.com/office/powerpoint/2010/main" val="2014306909"/>
              </p:ext>
            </p:extLst>
          </p:nvPr>
        </p:nvGraphicFramePr>
        <p:xfrm>
          <a:off x="838200" y="1825625"/>
          <a:ext cx="10929078" cy="2609063"/>
        </p:xfrm>
        <a:graphic>
          <a:graphicData uri="http://schemas.openxmlformats.org/drawingml/2006/table">
            <a:tbl>
              <a:tblPr firstRow="1" bandRow="1">
                <a:tableStyleId>{2D5ABB26-0587-4C30-8999-92F81FD0307C}</a:tableStyleId>
              </a:tblPr>
              <a:tblGrid>
                <a:gridCol w="3643026">
                  <a:extLst>
                    <a:ext uri="{9D8B030D-6E8A-4147-A177-3AD203B41FA5}">
                      <a16:colId xmlns:a16="http://schemas.microsoft.com/office/drawing/2014/main" val="4043199680"/>
                    </a:ext>
                  </a:extLst>
                </a:gridCol>
                <a:gridCol w="3643026">
                  <a:extLst>
                    <a:ext uri="{9D8B030D-6E8A-4147-A177-3AD203B41FA5}">
                      <a16:colId xmlns:a16="http://schemas.microsoft.com/office/drawing/2014/main" val="2983459760"/>
                    </a:ext>
                  </a:extLst>
                </a:gridCol>
                <a:gridCol w="3643026">
                  <a:extLst>
                    <a:ext uri="{9D8B030D-6E8A-4147-A177-3AD203B41FA5}">
                      <a16:colId xmlns:a16="http://schemas.microsoft.com/office/drawing/2014/main" val="120137227"/>
                    </a:ext>
                  </a:extLst>
                </a:gridCol>
              </a:tblGrid>
              <a:tr h="423921">
                <a:tc>
                  <a:txBody>
                    <a:bodyPr/>
                    <a:lstStyle/>
                    <a:p>
                      <a:pPr algn="ctr"/>
                      <a:r>
                        <a:rPr lang="ru-GB" sz="2000" b="1" dirty="0"/>
                        <a:t>Пример</a:t>
                      </a:r>
                    </a:p>
                  </a:txBody>
                  <a:tcPr/>
                </a:tc>
                <a:tc>
                  <a:txBody>
                    <a:bodyPr/>
                    <a:lstStyle/>
                    <a:p>
                      <a:pPr algn="ctr"/>
                      <a:r>
                        <a:rPr lang="ru-GB" sz="2000" b="1" dirty="0"/>
                        <a:t>1</a:t>
                      </a:r>
                    </a:p>
                  </a:txBody>
                  <a:tcPr/>
                </a:tc>
                <a:tc>
                  <a:txBody>
                    <a:bodyPr/>
                    <a:lstStyle/>
                    <a:p>
                      <a:pPr algn="ctr"/>
                      <a:r>
                        <a:rPr lang="ru-GB" sz="2000" b="1" dirty="0"/>
                        <a:t>0</a:t>
                      </a:r>
                    </a:p>
                  </a:txBody>
                  <a:tcPr/>
                </a:tc>
                <a:extLst>
                  <a:ext uri="{0D108BD9-81ED-4DB2-BD59-A6C34878D82A}">
                    <a16:rowId xmlns:a16="http://schemas.microsoft.com/office/drawing/2014/main" val="3516306242"/>
                  </a:ext>
                </a:extLst>
              </a:tr>
              <a:tr h="423921">
                <a:tc>
                  <a:txBody>
                    <a:bodyPr/>
                    <a:lstStyle/>
                    <a:p>
                      <a:pPr algn="ctr"/>
                      <a:r>
                        <a:rPr lang="ru-RU" sz="2000" dirty="0"/>
                        <a:t>Диагностика заболеваний</a:t>
                      </a:r>
                      <a:endParaRPr lang="ru-GB" sz="2000" dirty="0"/>
                    </a:p>
                  </a:txBody>
                  <a:tcPr/>
                </a:tc>
                <a:tc>
                  <a:txBody>
                    <a:bodyPr/>
                    <a:lstStyle/>
                    <a:p>
                      <a:pPr algn="ctr"/>
                      <a:r>
                        <a:rPr lang="ru-RU" sz="2000" dirty="0"/>
                        <a:t>Болен</a:t>
                      </a:r>
                      <a:endParaRPr lang="ru-GB" sz="2000" dirty="0"/>
                    </a:p>
                  </a:txBody>
                  <a:tcPr/>
                </a:tc>
                <a:tc>
                  <a:txBody>
                    <a:bodyPr/>
                    <a:lstStyle/>
                    <a:p>
                      <a:pPr algn="ctr"/>
                      <a:r>
                        <a:rPr lang="ru-GB" sz="2000" dirty="0"/>
                        <a:t>Здоров</a:t>
                      </a:r>
                    </a:p>
                  </a:txBody>
                  <a:tcPr/>
                </a:tc>
                <a:extLst>
                  <a:ext uri="{0D108BD9-81ED-4DB2-BD59-A6C34878D82A}">
                    <a16:rowId xmlns:a16="http://schemas.microsoft.com/office/drawing/2014/main" val="3229962720"/>
                  </a:ext>
                </a:extLst>
              </a:tr>
              <a:tr h="489458">
                <a:tc>
                  <a:txBody>
                    <a:bodyPr/>
                    <a:lstStyle/>
                    <a:p>
                      <a:pPr algn="ctr"/>
                      <a:r>
                        <a:rPr lang="ru-RU" sz="2000" dirty="0"/>
                        <a:t>Детекция </a:t>
                      </a:r>
                      <a:r>
                        <a:rPr lang="ru-RU" sz="2000" dirty="0" err="1"/>
                        <a:t>фрода</a:t>
                      </a:r>
                      <a:endParaRPr lang="ru-GB" sz="2000" dirty="0"/>
                    </a:p>
                  </a:txBody>
                  <a:tcPr/>
                </a:tc>
                <a:tc>
                  <a:txBody>
                    <a:bodyPr/>
                    <a:lstStyle/>
                    <a:p>
                      <a:pPr algn="ctr"/>
                      <a:r>
                        <a:rPr lang="ru-GB" sz="2000" dirty="0"/>
                        <a:t>Фрод</a:t>
                      </a:r>
                    </a:p>
                  </a:txBody>
                  <a:tcPr/>
                </a:tc>
                <a:tc>
                  <a:txBody>
                    <a:bodyPr/>
                    <a:lstStyle/>
                    <a:p>
                      <a:pPr algn="ctr"/>
                      <a:r>
                        <a:rPr lang="ru-RU" sz="2000" dirty="0"/>
                        <a:t>Н</a:t>
                      </a:r>
                      <a:r>
                        <a:rPr lang="ru-GB" sz="2000" dirty="0"/>
                        <a:t>е фрод</a:t>
                      </a:r>
                    </a:p>
                  </a:txBody>
                  <a:tcPr/>
                </a:tc>
                <a:extLst>
                  <a:ext uri="{0D108BD9-81ED-4DB2-BD59-A6C34878D82A}">
                    <a16:rowId xmlns:a16="http://schemas.microsoft.com/office/drawing/2014/main" val="925110128"/>
                  </a:ext>
                </a:extLst>
              </a:tr>
              <a:tr h="423921">
                <a:tc>
                  <a:txBody>
                    <a:bodyPr/>
                    <a:lstStyle/>
                    <a:p>
                      <a:pPr algn="ctr"/>
                      <a:r>
                        <a:rPr lang="ru-GB" sz="2000" dirty="0"/>
                        <a:t>Детекция спама</a:t>
                      </a:r>
                    </a:p>
                  </a:txBody>
                  <a:tcPr/>
                </a:tc>
                <a:tc>
                  <a:txBody>
                    <a:bodyPr/>
                    <a:lstStyle/>
                    <a:p>
                      <a:pPr algn="ctr"/>
                      <a:r>
                        <a:rPr lang="ru-GB" sz="2000" dirty="0"/>
                        <a:t>Спам</a:t>
                      </a:r>
                    </a:p>
                  </a:txBody>
                  <a:tcPr/>
                </a:tc>
                <a:tc>
                  <a:txBody>
                    <a:bodyPr/>
                    <a:lstStyle/>
                    <a:p>
                      <a:pPr algn="ctr"/>
                      <a:r>
                        <a:rPr lang="ru-RU" sz="2000" dirty="0"/>
                        <a:t>Н</a:t>
                      </a:r>
                      <a:r>
                        <a:rPr lang="ru-GB" sz="2000" dirty="0"/>
                        <a:t>е спам</a:t>
                      </a:r>
                    </a:p>
                  </a:txBody>
                  <a:tcPr/>
                </a:tc>
                <a:extLst>
                  <a:ext uri="{0D108BD9-81ED-4DB2-BD59-A6C34878D82A}">
                    <a16:rowId xmlns:a16="http://schemas.microsoft.com/office/drawing/2014/main" val="3492552913"/>
                  </a:ext>
                </a:extLst>
              </a:tr>
              <a:tr h="423921">
                <a:tc>
                  <a:txBody>
                    <a:bodyPr/>
                    <a:lstStyle/>
                    <a:p>
                      <a:pPr algn="ctr"/>
                      <a:r>
                        <a:rPr lang="ru-GB" sz="2000" dirty="0"/>
                        <a:t>Кредитный скоринг</a:t>
                      </a:r>
                    </a:p>
                  </a:txBody>
                  <a:tcPr/>
                </a:tc>
                <a:tc>
                  <a:txBody>
                    <a:bodyPr/>
                    <a:lstStyle/>
                    <a:p>
                      <a:pPr algn="ctr"/>
                      <a:r>
                        <a:rPr lang="ru-GB" sz="2000" dirty="0"/>
                        <a:t>Вернет кредит</a:t>
                      </a:r>
                    </a:p>
                  </a:txBody>
                  <a:tcPr/>
                </a:tc>
                <a:tc>
                  <a:txBody>
                    <a:bodyPr/>
                    <a:lstStyle/>
                    <a:p>
                      <a:pPr algn="ctr"/>
                      <a:r>
                        <a:rPr lang="ru-GB" sz="2000" dirty="0"/>
                        <a:t>Не вернет</a:t>
                      </a:r>
                    </a:p>
                  </a:txBody>
                  <a:tcPr/>
                </a:tc>
                <a:extLst>
                  <a:ext uri="{0D108BD9-81ED-4DB2-BD59-A6C34878D82A}">
                    <a16:rowId xmlns:a16="http://schemas.microsoft.com/office/drawing/2014/main" val="2912498355"/>
                  </a:ext>
                </a:extLst>
              </a:tr>
              <a:tr h="423921">
                <a:tc>
                  <a:txBody>
                    <a:bodyPr/>
                    <a:lstStyle/>
                    <a:p>
                      <a:pPr algn="ctr"/>
                      <a:r>
                        <a:rPr lang="ru-GB" sz="2000" dirty="0"/>
                        <a:t>Списывал на проверочной</a:t>
                      </a:r>
                    </a:p>
                  </a:txBody>
                  <a:tcPr/>
                </a:tc>
                <a:tc>
                  <a:txBody>
                    <a:bodyPr/>
                    <a:lstStyle/>
                    <a:p>
                      <a:pPr algn="ctr"/>
                      <a:r>
                        <a:rPr lang="ru-GB" sz="2000" dirty="0"/>
                        <a:t>Да</a:t>
                      </a:r>
                    </a:p>
                  </a:txBody>
                  <a:tcPr/>
                </a:tc>
                <a:tc>
                  <a:txBody>
                    <a:bodyPr/>
                    <a:lstStyle/>
                    <a:p>
                      <a:pPr algn="ctr"/>
                      <a:r>
                        <a:rPr lang="ru-GB" sz="2000" dirty="0"/>
                        <a:t>Нет</a:t>
                      </a:r>
                    </a:p>
                  </a:txBody>
                  <a:tcPr/>
                </a:tc>
                <a:extLst>
                  <a:ext uri="{0D108BD9-81ED-4DB2-BD59-A6C34878D82A}">
                    <a16:rowId xmlns:a16="http://schemas.microsoft.com/office/drawing/2014/main" val="2085787023"/>
                  </a:ext>
                </a:extLst>
              </a:tr>
            </a:tbl>
          </a:graphicData>
        </a:graphic>
      </p:graphicFrame>
    </p:spTree>
    <p:extLst>
      <p:ext uri="{BB962C8B-B14F-4D97-AF65-F5344CB8AC3E}">
        <p14:creationId xmlns:p14="http://schemas.microsoft.com/office/powerpoint/2010/main" val="4164493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BDE0C-DA41-76E4-9F82-D4119F2CB08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16C14E-E885-EBEC-74D0-4F63DE3BA4B0}"/>
              </a:ext>
            </a:extLst>
          </p:cNvPr>
          <p:cNvSpPr>
            <a:spLocks noGrp="1"/>
          </p:cNvSpPr>
          <p:nvPr>
            <p:ph type="title"/>
          </p:nvPr>
        </p:nvSpPr>
        <p:spPr/>
        <p:txBody>
          <a:bodyPr>
            <a:normAutofit/>
          </a:bodyPr>
          <a:lstStyle/>
          <a:p>
            <a:r>
              <a:rPr lang="en-US" b="1" dirty="0">
                <a:solidFill>
                  <a:srgbClr val="000000"/>
                </a:solidFill>
                <a:effectLst/>
                <a:latin typeface="Helvetica" pitchFamily="2" charset="0"/>
              </a:rPr>
              <a:t>Confusion matrix</a:t>
            </a:r>
          </a:p>
        </p:txBody>
      </p:sp>
      <p:pic>
        <p:nvPicPr>
          <p:cNvPr id="10" name="Объект 9">
            <a:extLst>
              <a:ext uri="{FF2B5EF4-FFF2-40B4-BE49-F238E27FC236}">
                <a16:creationId xmlns:a16="http://schemas.microsoft.com/office/drawing/2014/main" id="{5808840A-5C26-92E5-461D-F8E80183CD21}"/>
              </a:ext>
            </a:extLst>
          </p:cNvPr>
          <p:cNvPicPr>
            <a:picLocks noGrp="1" noChangeAspect="1"/>
          </p:cNvPicPr>
          <p:nvPr>
            <p:ph idx="1"/>
          </p:nvPr>
        </p:nvPicPr>
        <p:blipFill>
          <a:blip r:embed="rId3"/>
          <a:stretch>
            <a:fillRect/>
          </a:stretch>
        </p:blipFill>
        <p:spPr>
          <a:xfrm>
            <a:off x="439711" y="1875918"/>
            <a:ext cx="5362731" cy="3466404"/>
          </a:xfrm>
        </p:spPr>
      </p:pic>
      <p:sp>
        <p:nvSpPr>
          <p:cNvPr id="11" name="TextBox 10">
            <a:extLst>
              <a:ext uri="{FF2B5EF4-FFF2-40B4-BE49-F238E27FC236}">
                <a16:creationId xmlns:a16="http://schemas.microsoft.com/office/drawing/2014/main" id="{ACFF48C9-0004-211F-6CDC-62C64FAA5FB4}"/>
              </a:ext>
            </a:extLst>
          </p:cNvPr>
          <p:cNvSpPr txBox="1"/>
          <p:nvPr/>
        </p:nvSpPr>
        <p:spPr>
          <a:xfrm>
            <a:off x="6096000" y="1875918"/>
            <a:ext cx="5656289" cy="3862596"/>
          </a:xfrm>
          <a:prstGeom prst="rect">
            <a:avLst/>
          </a:prstGeom>
          <a:noFill/>
        </p:spPr>
        <p:txBody>
          <a:bodyPr wrap="square" rtlCol="0">
            <a:spAutoFit/>
          </a:bodyPr>
          <a:lstStyle/>
          <a:p>
            <a:pPr>
              <a:spcAft>
                <a:spcPts val="130"/>
              </a:spcAft>
            </a:pPr>
            <a:r>
              <a:rPr lang="en-US" sz="2400" b="1" dirty="0"/>
              <a:t>TP (True Positive) </a:t>
            </a:r>
            <a:r>
              <a:rPr lang="en-US" sz="2400" dirty="0"/>
              <a:t>– </a:t>
            </a:r>
            <a:r>
              <a:rPr lang="ru-RU" sz="2400" dirty="0"/>
              <a:t>модель правильно нашла позитив</a:t>
            </a:r>
          </a:p>
          <a:p>
            <a:pPr>
              <a:spcAft>
                <a:spcPts val="130"/>
              </a:spcAft>
            </a:pPr>
            <a:endParaRPr lang="ru-RU" sz="2400" dirty="0"/>
          </a:p>
          <a:p>
            <a:pPr>
              <a:spcAft>
                <a:spcPts val="130"/>
              </a:spcAft>
            </a:pPr>
            <a:r>
              <a:rPr lang="en-US" sz="2400" b="1" dirty="0"/>
              <a:t>FP (False Positive) </a:t>
            </a:r>
            <a:r>
              <a:rPr lang="en-US" sz="2400" dirty="0"/>
              <a:t>– </a:t>
            </a:r>
            <a:r>
              <a:rPr lang="ru-RU" sz="2400" dirty="0"/>
              <a:t>сработала зря</a:t>
            </a:r>
          </a:p>
          <a:p>
            <a:pPr>
              <a:spcAft>
                <a:spcPts val="130"/>
              </a:spcAft>
            </a:pPr>
            <a:endParaRPr lang="ru-RU" sz="2400" dirty="0"/>
          </a:p>
          <a:p>
            <a:pPr>
              <a:spcAft>
                <a:spcPts val="130"/>
              </a:spcAft>
            </a:pPr>
            <a:r>
              <a:rPr lang="en-US" sz="2400" b="1" dirty="0"/>
              <a:t>FN (False Negative) </a:t>
            </a:r>
            <a:r>
              <a:rPr lang="en-US" sz="2400" dirty="0"/>
              <a:t>– </a:t>
            </a:r>
            <a:r>
              <a:rPr lang="ru-RU" sz="2400" dirty="0"/>
              <a:t>пропустила нужный случай</a:t>
            </a:r>
          </a:p>
          <a:p>
            <a:pPr>
              <a:spcAft>
                <a:spcPts val="130"/>
              </a:spcAft>
            </a:pPr>
            <a:endParaRPr lang="ru-RU" sz="2400" dirty="0"/>
          </a:p>
          <a:p>
            <a:pPr>
              <a:spcAft>
                <a:spcPts val="130"/>
              </a:spcAft>
            </a:pPr>
            <a:r>
              <a:rPr lang="en-US" sz="2400" b="1" dirty="0"/>
              <a:t>TN (True Negative) </a:t>
            </a:r>
            <a:r>
              <a:rPr lang="en-US" sz="2400" dirty="0"/>
              <a:t>– </a:t>
            </a:r>
            <a:r>
              <a:rPr lang="ru-RU" sz="2400" dirty="0"/>
              <a:t>всё верно, негатив остался негативом</a:t>
            </a:r>
            <a:endParaRPr lang="ru-GB" sz="2400" dirty="0"/>
          </a:p>
        </p:txBody>
      </p:sp>
    </p:spTree>
    <p:extLst>
      <p:ext uri="{BB962C8B-B14F-4D97-AF65-F5344CB8AC3E}">
        <p14:creationId xmlns:p14="http://schemas.microsoft.com/office/powerpoint/2010/main" val="201036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6B8E5-B6EE-93B0-DFDB-8AB9C265036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BE23B2-2FB4-BBC4-8140-D52977762555}"/>
              </a:ext>
            </a:extLst>
          </p:cNvPr>
          <p:cNvSpPr>
            <a:spLocks noGrp="1"/>
          </p:cNvSpPr>
          <p:nvPr>
            <p:ph type="title"/>
          </p:nvPr>
        </p:nvSpPr>
        <p:spPr/>
        <p:txBody>
          <a:bodyPr>
            <a:normAutofit/>
          </a:bodyPr>
          <a:lstStyle/>
          <a:p>
            <a:r>
              <a:rPr lang="en-US" b="1" dirty="0">
                <a:solidFill>
                  <a:srgbClr val="000000"/>
                </a:solidFill>
                <a:effectLst/>
                <a:latin typeface="Helvetica" pitchFamily="2" charset="0"/>
              </a:rPr>
              <a:t>Confusion matrix</a:t>
            </a:r>
          </a:p>
        </p:txBody>
      </p:sp>
      <p:pic>
        <p:nvPicPr>
          <p:cNvPr id="10" name="Объект 9">
            <a:extLst>
              <a:ext uri="{FF2B5EF4-FFF2-40B4-BE49-F238E27FC236}">
                <a16:creationId xmlns:a16="http://schemas.microsoft.com/office/drawing/2014/main" id="{7695D766-70CB-F423-0193-F927CCFD5BF9}"/>
              </a:ext>
            </a:extLst>
          </p:cNvPr>
          <p:cNvPicPr>
            <a:picLocks noGrp="1" noChangeAspect="1"/>
          </p:cNvPicPr>
          <p:nvPr>
            <p:ph idx="1"/>
          </p:nvPr>
        </p:nvPicPr>
        <p:blipFill>
          <a:blip r:embed="rId3"/>
          <a:stretch>
            <a:fillRect/>
          </a:stretch>
        </p:blipFill>
        <p:spPr>
          <a:xfrm>
            <a:off x="439711" y="2745346"/>
            <a:ext cx="5362731" cy="3466404"/>
          </a:xfrm>
        </p:spPr>
      </p:pic>
      <p:sp>
        <p:nvSpPr>
          <p:cNvPr id="11" name="TextBox 10">
            <a:extLst>
              <a:ext uri="{FF2B5EF4-FFF2-40B4-BE49-F238E27FC236}">
                <a16:creationId xmlns:a16="http://schemas.microsoft.com/office/drawing/2014/main" id="{04A5C646-756A-76C2-3356-9D197C515A17}"/>
              </a:ext>
            </a:extLst>
          </p:cNvPr>
          <p:cNvSpPr txBox="1"/>
          <p:nvPr/>
        </p:nvSpPr>
        <p:spPr>
          <a:xfrm>
            <a:off x="6096000" y="2745346"/>
            <a:ext cx="5656289" cy="1977464"/>
          </a:xfrm>
          <a:prstGeom prst="rect">
            <a:avLst/>
          </a:prstGeom>
          <a:noFill/>
        </p:spPr>
        <p:txBody>
          <a:bodyPr wrap="square" rtlCol="0">
            <a:spAutoFit/>
          </a:bodyPr>
          <a:lstStyle/>
          <a:p>
            <a:pPr>
              <a:spcAft>
                <a:spcPts val="130"/>
              </a:spcAft>
            </a:pPr>
            <a:r>
              <a:rPr lang="en-US" sz="2400" b="1" dirty="0"/>
              <a:t>TP</a:t>
            </a:r>
          </a:p>
          <a:p>
            <a:pPr>
              <a:spcAft>
                <a:spcPts val="130"/>
              </a:spcAft>
            </a:pPr>
            <a:r>
              <a:rPr lang="ru-RU" sz="2400" b="1" dirty="0"/>
              <a:t>Факт:</a:t>
            </a:r>
            <a:r>
              <a:rPr lang="ru-RU" sz="2400" dirty="0"/>
              <a:t> Транзакция действительно мошенническая</a:t>
            </a:r>
          </a:p>
          <a:p>
            <a:pPr>
              <a:spcAft>
                <a:spcPts val="130"/>
              </a:spcAft>
            </a:pPr>
            <a:r>
              <a:rPr lang="ru-RU" sz="2400" b="1" dirty="0"/>
              <a:t>Предсказание:</a:t>
            </a:r>
            <a:r>
              <a:rPr lang="ru-RU" sz="2400" dirty="0"/>
              <a:t> Модель сказала </a:t>
            </a:r>
            <a:r>
              <a:rPr lang="ru-RU" sz="2400" dirty="0" err="1"/>
              <a:t>Фрод</a:t>
            </a:r>
            <a:endParaRPr lang="ru-RU" sz="2400" dirty="0"/>
          </a:p>
          <a:p>
            <a:pPr>
              <a:spcAft>
                <a:spcPts val="130"/>
              </a:spcAft>
            </a:pPr>
            <a:r>
              <a:rPr lang="ru-RU" sz="2400" b="1" dirty="0"/>
              <a:t>Итог: </a:t>
            </a:r>
            <a:r>
              <a:rPr lang="ru-RU" sz="2400" dirty="0"/>
              <a:t>Все круто</a:t>
            </a:r>
          </a:p>
        </p:txBody>
      </p:sp>
      <p:sp>
        <p:nvSpPr>
          <p:cNvPr id="6" name="TextBox 5">
            <a:extLst>
              <a:ext uri="{FF2B5EF4-FFF2-40B4-BE49-F238E27FC236}">
                <a16:creationId xmlns:a16="http://schemas.microsoft.com/office/drawing/2014/main" id="{9FB8ACFE-EAE9-C073-AC96-C0A1F767AA76}"/>
              </a:ext>
            </a:extLst>
          </p:cNvPr>
          <p:cNvSpPr txBox="1"/>
          <p:nvPr/>
        </p:nvSpPr>
        <p:spPr>
          <a:xfrm>
            <a:off x="838200" y="1690688"/>
            <a:ext cx="10659256" cy="707886"/>
          </a:xfrm>
          <a:prstGeom prst="rect">
            <a:avLst/>
          </a:prstGeom>
          <a:noFill/>
        </p:spPr>
        <p:txBody>
          <a:bodyPr wrap="square">
            <a:spAutoFit/>
          </a:bodyPr>
          <a:lstStyle/>
          <a:p>
            <a:r>
              <a:rPr lang="ru-RU" sz="2000" b="1" dirty="0"/>
              <a:t>Пример: </a:t>
            </a:r>
            <a:r>
              <a:rPr lang="ru-RU" sz="2000" dirty="0"/>
              <a:t>Мы работаем в службе безопасности банка. У нас есть модель, которая выявляет мошеннические транзакции (</a:t>
            </a:r>
            <a:r>
              <a:rPr lang="ru-RU" sz="2000" dirty="0" err="1"/>
              <a:t>Фрод</a:t>
            </a:r>
            <a:r>
              <a:rPr lang="ru-RU" sz="2000" dirty="0"/>
              <a:t>)</a:t>
            </a:r>
            <a:endParaRPr lang="ru-GB" sz="2000" dirty="0"/>
          </a:p>
        </p:txBody>
      </p:sp>
    </p:spTree>
    <p:extLst>
      <p:ext uri="{BB962C8B-B14F-4D97-AF65-F5344CB8AC3E}">
        <p14:creationId xmlns:p14="http://schemas.microsoft.com/office/powerpoint/2010/main" val="3258308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34118-941D-1A65-D69D-8854826A2B0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C78825-B407-FEAA-A693-CAD159CF42BC}"/>
              </a:ext>
            </a:extLst>
          </p:cNvPr>
          <p:cNvSpPr>
            <a:spLocks noGrp="1"/>
          </p:cNvSpPr>
          <p:nvPr>
            <p:ph type="title"/>
          </p:nvPr>
        </p:nvSpPr>
        <p:spPr/>
        <p:txBody>
          <a:bodyPr>
            <a:normAutofit/>
          </a:bodyPr>
          <a:lstStyle/>
          <a:p>
            <a:r>
              <a:rPr lang="en-US" b="1" dirty="0">
                <a:solidFill>
                  <a:srgbClr val="000000"/>
                </a:solidFill>
                <a:effectLst/>
                <a:latin typeface="Helvetica" pitchFamily="2" charset="0"/>
              </a:rPr>
              <a:t>Confusion matrix</a:t>
            </a:r>
          </a:p>
        </p:txBody>
      </p:sp>
      <p:pic>
        <p:nvPicPr>
          <p:cNvPr id="10" name="Объект 9">
            <a:extLst>
              <a:ext uri="{FF2B5EF4-FFF2-40B4-BE49-F238E27FC236}">
                <a16:creationId xmlns:a16="http://schemas.microsoft.com/office/drawing/2014/main" id="{F8382889-318D-82B6-C9C5-30417B062B1B}"/>
              </a:ext>
            </a:extLst>
          </p:cNvPr>
          <p:cNvPicPr>
            <a:picLocks noGrp="1" noChangeAspect="1"/>
          </p:cNvPicPr>
          <p:nvPr>
            <p:ph idx="1"/>
          </p:nvPr>
        </p:nvPicPr>
        <p:blipFill>
          <a:blip r:embed="rId3"/>
          <a:stretch>
            <a:fillRect/>
          </a:stretch>
        </p:blipFill>
        <p:spPr>
          <a:xfrm>
            <a:off x="439711" y="1875918"/>
            <a:ext cx="5362731" cy="3466404"/>
          </a:xfrm>
        </p:spPr>
      </p:pic>
      <p:sp>
        <p:nvSpPr>
          <p:cNvPr id="11" name="TextBox 10">
            <a:extLst>
              <a:ext uri="{FF2B5EF4-FFF2-40B4-BE49-F238E27FC236}">
                <a16:creationId xmlns:a16="http://schemas.microsoft.com/office/drawing/2014/main" id="{BC229E0E-7EA5-8025-4A02-8A3E1414A759}"/>
              </a:ext>
            </a:extLst>
          </p:cNvPr>
          <p:cNvSpPr txBox="1"/>
          <p:nvPr/>
        </p:nvSpPr>
        <p:spPr>
          <a:xfrm>
            <a:off x="6096000" y="1875918"/>
            <a:ext cx="5656289" cy="1977464"/>
          </a:xfrm>
          <a:prstGeom prst="rect">
            <a:avLst/>
          </a:prstGeom>
          <a:noFill/>
        </p:spPr>
        <p:txBody>
          <a:bodyPr wrap="square" rtlCol="0">
            <a:spAutoFit/>
          </a:bodyPr>
          <a:lstStyle/>
          <a:p>
            <a:pPr>
              <a:spcAft>
                <a:spcPts val="130"/>
              </a:spcAft>
            </a:pPr>
            <a:r>
              <a:rPr lang="en-US" sz="2400" b="1" dirty="0"/>
              <a:t>TN</a:t>
            </a:r>
          </a:p>
          <a:p>
            <a:pPr>
              <a:spcAft>
                <a:spcPts val="130"/>
              </a:spcAft>
            </a:pPr>
            <a:r>
              <a:rPr lang="ru-RU" sz="2400" b="1" dirty="0"/>
              <a:t>Факт: </a:t>
            </a:r>
            <a:r>
              <a:rPr lang="ru-RU" sz="2400" dirty="0"/>
              <a:t>Обычная покупка (легально)</a:t>
            </a:r>
          </a:p>
          <a:p>
            <a:pPr>
              <a:spcAft>
                <a:spcPts val="130"/>
              </a:spcAft>
            </a:pPr>
            <a:r>
              <a:rPr lang="ru-RU" sz="2400" b="1" dirty="0"/>
              <a:t>Предсказание: </a:t>
            </a:r>
            <a:r>
              <a:rPr lang="ru-RU" sz="2400" dirty="0"/>
              <a:t>Модель сказала Не </a:t>
            </a:r>
            <a:r>
              <a:rPr lang="ru-RU" sz="2400" dirty="0" err="1"/>
              <a:t>Фрод</a:t>
            </a:r>
            <a:endParaRPr lang="ru-RU" sz="2400" dirty="0"/>
          </a:p>
          <a:p>
            <a:pPr>
              <a:spcAft>
                <a:spcPts val="130"/>
              </a:spcAft>
            </a:pPr>
            <a:r>
              <a:rPr lang="ru-RU" sz="2400" b="1" dirty="0"/>
              <a:t>Итог: </a:t>
            </a:r>
            <a:r>
              <a:rPr lang="ru-RU" sz="2400" dirty="0"/>
              <a:t>Все круто</a:t>
            </a:r>
          </a:p>
        </p:txBody>
      </p:sp>
    </p:spTree>
    <p:extLst>
      <p:ext uri="{BB962C8B-B14F-4D97-AF65-F5344CB8AC3E}">
        <p14:creationId xmlns:p14="http://schemas.microsoft.com/office/powerpoint/2010/main" val="4198834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3C74B-A638-D40E-82AD-251549819E5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97255C-CDEA-6A11-02BD-0FA28A2E11E9}"/>
              </a:ext>
            </a:extLst>
          </p:cNvPr>
          <p:cNvSpPr>
            <a:spLocks noGrp="1"/>
          </p:cNvSpPr>
          <p:nvPr>
            <p:ph type="title"/>
          </p:nvPr>
        </p:nvSpPr>
        <p:spPr/>
        <p:txBody>
          <a:bodyPr>
            <a:normAutofit/>
          </a:bodyPr>
          <a:lstStyle/>
          <a:p>
            <a:r>
              <a:rPr lang="en-US" b="1" dirty="0">
                <a:solidFill>
                  <a:srgbClr val="000000"/>
                </a:solidFill>
                <a:effectLst/>
                <a:latin typeface="Helvetica" pitchFamily="2" charset="0"/>
              </a:rPr>
              <a:t>Confusion matrix</a:t>
            </a:r>
          </a:p>
        </p:txBody>
      </p:sp>
      <p:pic>
        <p:nvPicPr>
          <p:cNvPr id="10" name="Объект 9">
            <a:extLst>
              <a:ext uri="{FF2B5EF4-FFF2-40B4-BE49-F238E27FC236}">
                <a16:creationId xmlns:a16="http://schemas.microsoft.com/office/drawing/2014/main" id="{865F94E0-B633-85C2-DBF5-43F7D2CD4275}"/>
              </a:ext>
            </a:extLst>
          </p:cNvPr>
          <p:cNvPicPr>
            <a:picLocks noGrp="1" noChangeAspect="1"/>
          </p:cNvPicPr>
          <p:nvPr>
            <p:ph idx="1"/>
          </p:nvPr>
        </p:nvPicPr>
        <p:blipFill>
          <a:blip r:embed="rId3"/>
          <a:stretch>
            <a:fillRect/>
          </a:stretch>
        </p:blipFill>
        <p:spPr>
          <a:xfrm>
            <a:off x="439711" y="1875918"/>
            <a:ext cx="5362731" cy="3466404"/>
          </a:xfrm>
        </p:spPr>
      </p:pic>
      <p:sp>
        <p:nvSpPr>
          <p:cNvPr id="11" name="TextBox 10">
            <a:extLst>
              <a:ext uri="{FF2B5EF4-FFF2-40B4-BE49-F238E27FC236}">
                <a16:creationId xmlns:a16="http://schemas.microsoft.com/office/drawing/2014/main" id="{57DFD193-9319-D643-9DE2-370E1CE7F3F2}"/>
              </a:ext>
            </a:extLst>
          </p:cNvPr>
          <p:cNvSpPr txBox="1"/>
          <p:nvPr/>
        </p:nvSpPr>
        <p:spPr>
          <a:xfrm>
            <a:off x="6096000" y="1875918"/>
            <a:ext cx="5656289" cy="2346796"/>
          </a:xfrm>
          <a:prstGeom prst="rect">
            <a:avLst/>
          </a:prstGeom>
          <a:noFill/>
        </p:spPr>
        <p:txBody>
          <a:bodyPr wrap="square" rtlCol="0">
            <a:spAutoFit/>
          </a:bodyPr>
          <a:lstStyle/>
          <a:p>
            <a:pPr>
              <a:spcAft>
                <a:spcPts val="130"/>
              </a:spcAft>
            </a:pPr>
            <a:r>
              <a:rPr lang="en-US" sz="2400" b="1" dirty="0"/>
              <a:t>FP </a:t>
            </a:r>
            <a:endParaRPr lang="ru-RU" sz="2400" b="1" dirty="0"/>
          </a:p>
          <a:p>
            <a:pPr>
              <a:spcAft>
                <a:spcPts val="130"/>
              </a:spcAft>
            </a:pPr>
            <a:r>
              <a:rPr lang="ru-RU" sz="2400" b="1" dirty="0"/>
              <a:t>Факт: </a:t>
            </a:r>
            <a:r>
              <a:rPr lang="ru-RU" sz="2400" dirty="0"/>
              <a:t>Обычная покупка (легально)</a:t>
            </a:r>
          </a:p>
          <a:p>
            <a:pPr>
              <a:spcAft>
                <a:spcPts val="130"/>
              </a:spcAft>
            </a:pPr>
            <a:r>
              <a:rPr lang="ru-RU" sz="2400" b="1" dirty="0"/>
              <a:t>Предсказание: </a:t>
            </a:r>
            <a:r>
              <a:rPr lang="ru-RU" sz="2400" dirty="0"/>
              <a:t>Модель сказала </a:t>
            </a:r>
            <a:r>
              <a:rPr lang="ru-RU" sz="2400" dirty="0" err="1"/>
              <a:t>Фрод</a:t>
            </a:r>
            <a:r>
              <a:rPr lang="ru-RU" sz="2400" dirty="0"/>
              <a:t>. Блокируем карту</a:t>
            </a:r>
          </a:p>
          <a:p>
            <a:pPr>
              <a:spcAft>
                <a:spcPts val="130"/>
              </a:spcAft>
            </a:pPr>
            <a:r>
              <a:rPr lang="ru-RU" sz="2400" b="1" dirty="0"/>
              <a:t>Итог: </a:t>
            </a:r>
            <a:r>
              <a:rPr lang="ru-RU" sz="2400" dirty="0"/>
              <a:t>Мы вызвали ложную тревогу (клиент обиделся и ушел от нас)</a:t>
            </a:r>
          </a:p>
        </p:txBody>
      </p:sp>
    </p:spTree>
    <p:extLst>
      <p:ext uri="{BB962C8B-B14F-4D97-AF65-F5344CB8AC3E}">
        <p14:creationId xmlns:p14="http://schemas.microsoft.com/office/powerpoint/2010/main" val="548213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DEB48-73E2-8312-1033-C616402C227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97047C-5E1C-A144-1F7C-2D9F37DB3D71}"/>
              </a:ext>
            </a:extLst>
          </p:cNvPr>
          <p:cNvSpPr>
            <a:spLocks noGrp="1"/>
          </p:cNvSpPr>
          <p:nvPr>
            <p:ph type="title"/>
          </p:nvPr>
        </p:nvSpPr>
        <p:spPr/>
        <p:txBody>
          <a:bodyPr>
            <a:normAutofit/>
          </a:bodyPr>
          <a:lstStyle/>
          <a:p>
            <a:r>
              <a:rPr lang="en-US" b="1" dirty="0">
                <a:solidFill>
                  <a:srgbClr val="000000"/>
                </a:solidFill>
                <a:effectLst/>
                <a:latin typeface="Helvetica" pitchFamily="2" charset="0"/>
              </a:rPr>
              <a:t>Confusion matrix</a:t>
            </a:r>
          </a:p>
        </p:txBody>
      </p:sp>
      <p:pic>
        <p:nvPicPr>
          <p:cNvPr id="10" name="Объект 9">
            <a:extLst>
              <a:ext uri="{FF2B5EF4-FFF2-40B4-BE49-F238E27FC236}">
                <a16:creationId xmlns:a16="http://schemas.microsoft.com/office/drawing/2014/main" id="{DF6F1C9A-BCC1-FC72-D6A8-3EF794FB8D70}"/>
              </a:ext>
            </a:extLst>
          </p:cNvPr>
          <p:cNvPicPr>
            <a:picLocks noGrp="1" noChangeAspect="1"/>
          </p:cNvPicPr>
          <p:nvPr>
            <p:ph idx="1"/>
          </p:nvPr>
        </p:nvPicPr>
        <p:blipFill>
          <a:blip r:embed="rId3"/>
          <a:stretch>
            <a:fillRect/>
          </a:stretch>
        </p:blipFill>
        <p:spPr>
          <a:xfrm>
            <a:off x="439711" y="1875918"/>
            <a:ext cx="5362731" cy="3466404"/>
          </a:xfrm>
        </p:spPr>
      </p:pic>
      <p:sp>
        <p:nvSpPr>
          <p:cNvPr id="11" name="TextBox 10">
            <a:extLst>
              <a:ext uri="{FF2B5EF4-FFF2-40B4-BE49-F238E27FC236}">
                <a16:creationId xmlns:a16="http://schemas.microsoft.com/office/drawing/2014/main" id="{AD9E1357-2141-24E3-6BA0-23E562337445}"/>
              </a:ext>
            </a:extLst>
          </p:cNvPr>
          <p:cNvSpPr txBox="1"/>
          <p:nvPr/>
        </p:nvSpPr>
        <p:spPr>
          <a:xfrm>
            <a:off x="6096000" y="1875918"/>
            <a:ext cx="5656289" cy="2716128"/>
          </a:xfrm>
          <a:prstGeom prst="rect">
            <a:avLst/>
          </a:prstGeom>
          <a:noFill/>
        </p:spPr>
        <p:txBody>
          <a:bodyPr wrap="square" rtlCol="0">
            <a:spAutoFit/>
          </a:bodyPr>
          <a:lstStyle/>
          <a:p>
            <a:pPr>
              <a:spcAft>
                <a:spcPts val="130"/>
              </a:spcAft>
            </a:pPr>
            <a:r>
              <a:rPr lang="en-US" sz="2400" b="1" dirty="0"/>
              <a:t>FN</a:t>
            </a:r>
            <a:endParaRPr lang="ru-RU" sz="2400" b="1" dirty="0"/>
          </a:p>
          <a:p>
            <a:pPr>
              <a:spcAft>
                <a:spcPts val="130"/>
              </a:spcAft>
            </a:pPr>
            <a:r>
              <a:rPr lang="ru-RU" sz="2400" b="1" dirty="0"/>
              <a:t>Факт: </a:t>
            </a:r>
            <a:r>
              <a:rPr lang="ru-RU" sz="2400" dirty="0"/>
              <a:t>Транзакция мошенническая</a:t>
            </a:r>
          </a:p>
          <a:p>
            <a:pPr>
              <a:spcAft>
                <a:spcPts val="130"/>
              </a:spcAft>
            </a:pPr>
            <a:r>
              <a:rPr lang="ru-RU" sz="2400" b="1" dirty="0"/>
              <a:t>Предсказание: </a:t>
            </a:r>
            <a:r>
              <a:rPr lang="ru-RU" sz="2400" dirty="0"/>
              <a:t>Модель сказала Не </a:t>
            </a:r>
            <a:r>
              <a:rPr lang="ru-RU" sz="2400" dirty="0" err="1"/>
              <a:t>Фрод</a:t>
            </a:r>
            <a:r>
              <a:rPr lang="ru-RU" sz="2400" dirty="0"/>
              <a:t>. Пропускаем платеж</a:t>
            </a:r>
          </a:p>
          <a:p>
            <a:pPr>
              <a:spcAft>
                <a:spcPts val="130"/>
              </a:spcAft>
            </a:pPr>
            <a:r>
              <a:rPr lang="ru-RU" sz="2400" b="1" dirty="0"/>
              <a:t>Итог: </a:t>
            </a:r>
            <a:r>
              <a:rPr lang="ru-RU" sz="2400" dirty="0"/>
              <a:t>Мы допустили мошенническую операцию, где-то пострадала 1 бабушка</a:t>
            </a:r>
          </a:p>
        </p:txBody>
      </p:sp>
    </p:spTree>
    <p:extLst>
      <p:ext uri="{BB962C8B-B14F-4D97-AF65-F5344CB8AC3E}">
        <p14:creationId xmlns:p14="http://schemas.microsoft.com/office/powerpoint/2010/main" val="1177406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9FD26-E5D7-176F-4348-6715A3F814F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A4D8FF-23F9-8857-2601-064CFD274C4D}"/>
              </a:ext>
            </a:extLst>
          </p:cNvPr>
          <p:cNvSpPr>
            <a:spLocks noGrp="1"/>
          </p:cNvSpPr>
          <p:nvPr>
            <p:ph type="title"/>
          </p:nvPr>
        </p:nvSpPr>
        <p:spPr/>
        <p:txBody>
          <a:bodyPr>
            <a:normAutofit/>
          </a:bodyPr>
          <a:lstStyle/>
          <a:p>
            <a:r>
              <a:rPr lang="en-US" b="1" dirty="0">
                <a:solidFill>
                  <a:srgbClr val="000000"/>
                </a:solidFill>
                <a:effectLst/>
                <a:latin typeface="Helvetica" pitchFamily="2" charset="0"/>
              </a:rPr>
              <a:t>Accuracy</a:t>
            </a:r>
          </a:p>
        </p:txBody>
      </p:sp>
      <p:sp>
        <p:nvSpPr>
          <p:cNvPr id="4" name="Объект 3">
            <a:extLst>
              <a:ext uri="{FF2B5EF4-FFF2-40B4-BE49-F238E27FC236}">
                <a16:creationId xmlns:a16="http://schemas.microsoft.com/office/drawing/2014/main" id="{9B90363A-E0D9-BEC8-299D-EDE77B55764B}"/>
              </a:ext>
            </a:extLst>
          </p:cNvPr>
          <p:cNvSpPr>
            <a:spLocks noGrp="1"/>
          </p:cNvSpPr>
          <p:nvPr>
            <p:ph idx="1"/>
          </p:nvPr>
        </p:nvSpPr>
        <p:spPr>
          <a:xfrm>
            <a:off x="838199" y="1825625"/>
            <a:ext cx="10629275" cy="1921916"/>
          </a:xfrm>
        </p:spPr>
        <p:txBody>
          <a:bodyPr/>
          <a:lstStyle/>
          <a:p>
            <a:pPr marL="0" indent="0">
              <a:buNone/>
            </a:pPr>
            <a:r>
              <a:rPr lang="en-US" b="1" dirty="0"/>
              <a:t>Accuracy</a:t>
            </a:r>
            <a:r>
              <a:rPr lang="en-US" dirty="0"/>
              <a:t> </a:t>
            </a:r>
            <a:r>
              <a:rPr lang="ru-RU" dirty="0"/>
              <a:t>-</a:t>
            </a:r>
            <a:r>
              <a:rPr lang="en-US" dirty="0"/>
              <a:t> </a:t>
            </a:r>
            <a:r>
              <a:rPr lang="ru-RU" dirty="0"/>
              <a:t>это доля правильных предсказаний среди всех примеров</a:t>
            </a:r>
            <a:endParaRPr lang="ru-GB" dirty="0"/>
          </a:p>
          <a:p>
            <a:pPr marL="0" indent="0">
              <a:buNone/>
            </a:pPr>
            <a:r>
              <a:rPr lang="en-US" dirty="0"/>
              <a:t>Accuracy </a:t>
            </a:r>
            <a:r>
              <a:rPr lang="ru-RU" dirty="0"/>
              <a:t>отвечает на очень простой</a:t>
            </a:r>
            <a:r>
              <a:rPr lang="en-US" dirty="0"/>
              <a:t> </a:t>
            </a:r>
            <a:r>
              <a:rPr lang="ru-RU" dirty="0"/>
              <a:t>вопрос:</a:t>
            </a:r>
          </a:p>
          <a:p>
            <a:pPr marL="0" indent="0">
              <a:buNone/>
            </a:pPr>
            <a:r>
              <a:rPr lang="en-US" dirty="0"/>
              <a:t>“</a:t>
            </a:r>
            <a:r>
              <a:rPr lang="ru-RU" dirty="0"/>
              <a:t>Какую долю примеров модель угадала</a:t>
            </a:r>
            <a:r>
              <a:rPr lang="en-US" dirty="0"/>
              <a:t> </a:t>
            </a:r>
            <a:r>
              <a:rPr lang="ru-RU" dirty="0"/>
              <a:t>правильно?</a:t>
            </a:r>
            <a:r>
              <a:rPr lang="en-US" dirty="0"/>
              <a:t>”</a:t>
            </a:r>
            <a:endParaRPr lang="ru-GB" dirty="0"/>
          </a:p>
        </p:txBody>
      </p:sp>
      <p:pic>
        <p:nvPicPr>
          <p:cNvPr id="5" name="Объект 9">
            <a:extLst>
              <a:ext uri="{FF2B5EF4-FFF2-40B4-BE49-F238E27FC236}">
                <a16:creationId xmlns:a16="http://schemas.microsoft.com/office/drawing/2014/main" id="{9DCEA5AB-2D77-7471-3914-A429914027A6}"/>
              </a:ext>
            </a:extLst>
          </p:cNvPr>
          <p:cNvPicPr>
            <a:picLocks noChangeAspect="1"/>
          </p:cNvPicPr>
          <p:nvPr/>
        </p:nvPicPr>
        <p:blipFill>
          <a:blip r:embed="rId3"/>
          <a:stretch>
            <a:fillRect/>
          </a:stretch>
        </p:blipFill>
        <p:spPr>
          <a:xfrm>
            <a:off x="838200" y="3861256"/>
            <a:ext cx="3667594" cy="2370688"/>
          </a:xfrm>
          <a:prstGeom prst="rect">
            <a:avLst/>
          </a:prstGeom>
        </p:spPr>
      </p:pic>
      <p:pic>
        <p:nvPicPr>
          <p:cNvPr id="7" name="Рисунок 6" descr="Изображение выглядит как текст, Шрифт, белый, линия&#10;&#10;Контент, сгенерированный ИИ, может содержать ошибки.">
            <a:extLst>
              <a:ext uri="{FF2B5EF4-FFF2-40B4-BE49-F238E27FC236}">
                <a16:creationId xmlns:a16="http://schemas.microsoft.com/office/drawing/2014/main" id="{DB0ECCC0-7D15-2F73-692B-4788803D4B81}"/>
              </a:ext>
            </a:extLst>
          </p:cNvPr>
          <p:cNvPicPr>
            <a:picLocks noChangeAspect="1"/>
          </p:cNvPicPr>
          <p:nvPr/>
        </p:nvPicPr>
        <p:blipFill>
          <a:blip r:embed="rId4"/>
          <a:stretch>
            <a:fillRect/>
          </a:stretch>
        </p:blipFill>
        <p:spPr>
          <a:xfrm>
            <a:off x="5035589" y="3861256"/>
            <a:ext cx="5301237" cy="949208"/>
          </a:xfrm>
          <a:prstGeom prst="rect">
            <a:avLst/>
          </a:prstGeom>
        </p:spPr>
      </p:pic>
    </p:spTree>
    <p:extLst>
      <p:ext uri="{BB962C8B-B14F-4D97-AF65-F5344CB8AC3E}">
        <p14:creationId xmlns:p14="http://schemas.microsoft.com/office/powerpoint/2010/main" val="2257891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5F828-D4AD-46A9-2CD3-9F9E3E91F35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314D19-AD1B-66C1-E1B5-AB1D4ED8C5F4}"/>
              </a:ext>
            </a:extLst>
          </p:cNvPr>
          <p:cNvSpPr>
            <a:spLocks noGrp="1"/>
          </p:cNvSpPr>
          <p:nvPr>
            <p:ph type="title"/>
          </p:nvPr>
        </p:nvSpPr>
        <p:spPr/>
        <p:txBody>
          <a:bodyPr>
            <a:normAutofit/>
          </a:bodyPr>
          <a:lstStyle/>
          <a:p>
            <a:r>
              <a:rPr lang="en-US" b="1" dirty="0">
                <a:solidFill>
                  <a:srgbClr val="000000"/>
                </a:solidFill>
                <a:effectLst/>
                <a:latin typeface="Helvetica" pitchFamily="2" charset="0"/>
              </a:rPr>
              <a:t>Accuracy</a:t>
            </a:r>
          </a:p>
        </p:txBody>
      </p:sp>
      <p:sp>
        <p:nvSpPr>
          <p:cNvPr id="4" name="Объект 3">
            <a:extLst>
              <a:ext uri="{FF2B5EF4-FFF2-40B4-BE49-F238E27FC236}">
                <a16:creationId xmlns:a16="http://schemas.microsoft.com/office/drawing/2014/main" id="{1DF30CEC-CAF1-6968-8831-1C4F69EFB126}"/>
              </a:ext>
            </a:extLst>
          </p:cNvPr>
          <p:cNvSpPr>
            <a:spLocks noGrp="1"/>
          </p:cNvSpPr>
          <p:nvPr>
            <p:ph idx="1"/>
          </p:nvPr>
        </p:nvSpPr>
        <p:spPr>
          <a:xfrm>
            <a:off x="838200" y="1825625"/>
            <a:ext cx="10329472" cy="2035631"/>
          </a:xfrm>
        </p:spPr>
        <p:txBody>
          <a:bodyPr/>
          <a:lstStyle/>
          <a:p>
            <a:pPr marL="0" indent="0">
              <a:buNone/>
            </a:pPr>
            <a:r>
              <a:rPr lang="ru-RU" dirty="0"/>
              <a:t>У нас есть модель, которая диагностирует редкую болезнь.</a:t>
            </a:r>
          </a:p>
          <a:p>
            <a:pPr marL="0" indent="0">
              <a:buNone/>
            </a:pPr>
            <a:r>
              <a:rPr lang="ru-RU" dirty="0"/>
              <a:t>Она угадывает правильно в 99% случаев.</a:t>
            </a:r>
          </a:p>
          <a:p>
            <a:pPr marL="0" indent="0">
              <a:buNone/>
            </a:pPr>
            <a:r>
              <a:rPr lang="en-US" dirty="0"/>
              <a:t>Accuracy = 0.99</a:t>
            </a:r>
          </a:p>
          <a:p>
            <a:pPr marL="0" indent="0">
              <a:buNone/>
            </a:pPr>
            <a:r>
              <a:rPr lang="ru-RU" dirty="0"/>
              <a:t>Хорошая ли это модель?</a:t>
            </a:r>
            <a:endParaRPr lang="ru-GB" dirty="0"/>
          </a:p>
        </p:txBody>
      </p:sp>
      <p:pic>
        <p:nvPicPr>
          <p:cNvPr id="7" name="Рисунок 6" descr="Изображение выглядит как текст, Шрифт, белый, линия&#10;&#10;Контент, сгенерированный ИИ, может содержать ошибки.">
            <a:extLst>
              <a:ext uri="{FF2B5EF4-FFF2-40B4-BE49-F238E27FC236}">
                <a16:creationId xmlns:a16="http://schemas.microsoft.com/office/drawing/2014/main" id="{204D7B1C-45F7-EFD8-9F5F-4A25564BC830}"/>
              </a:ext>
            </a:extLst>
          </p:cNvPr>
          <p:cNvPicPr>
            <a:picLocks noChangeAspect="1"/>
          </p:cNvPicPr>
          <p:nvPr/>
        </p:nvPicPr>
        <p:blipFill>
          <a:blip r:embed="rId3"/>
          <a:stretch>
            <a:fillRect/>
          </a:stretch>
        </p:blipFill>
        <p:spPr>
          <a:xfrm>
            <a:off x="838200" y="3861256"/>
            <a:ext cx="5301237" cy="949208"/>
          </a:xfrm>
          <a:prstGeom prst="rect">
            <a:avLst/>
          </a:prstGeom>
        </p:spPr>
      </p:pic>
      <p:pic>
        <p:nvPicPr>
          <p:cNvPr id="1026" name="Picture 2" descr="Шизоид, мемы и шизофрения">
            <a:extLst>
              <a:ext uri="{FF2B5EF4-FFF2-40B4-BE49-F238E27FC236}">
                <a16:creationId xmlns:a16="http://schemas.microsoft.com/office/drawing/2014/main" id="{7336AFC0-CA5B-91CE-7160-030A254CE8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1486" y="3149173"/>
            <a:ext cx="2631294" cy="2930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929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44DE7-2CB9-3E76-6A0E-DF993C2C63E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BB9DF8-AF18-413B-E790-6601DA6225CC}"/>
              </a:ext>
            </a:extLst>
          </p:cNvPr>
          <p:cNvSpPr>
            <a:spLocks noGrp="1"/>
          </p:cNvSpPr>
          <p:nvPr>
            <p:ph type="title"/>
          </p:nvPr>
        </p:nvSpPr>
        <p:spPr/>
        <p:txBody>
          <a:bodyPr>
            <a:normAutofit/>
          </a:bodyPr>
          <a:lstStyle/>
          <a:p>
            <a:r>
              <a:rPr lang="en-US" b="1" dirty="0">
                <a:solidFill>
                  <a:srgbClr val="000000"/>
                </a:solidFill>
                <a:effectLst/>
                <a:latin typeface="Helvetica" pitchFamily="2" charset="0"/>
              </a:rPr>
              <a:t>Accuracy</a:t>
            </a:r>
          </a:p>
        </p:txBody>
      </p:sp>
      <p:sp>
        <p:nvSpPr>
          <p:cNvPr id="4" name="Объект 3">
            <a:extLst>
              <a:ext uri="{FF2B5EF4-FFF2-40B4-BE49-F238E27FC236}">
                <a16:creationId xmlns:a16="http://schemas.microsoft.com/office/drawing/2014/main" id="{221B08C5-90F1-4D2F-BF49-3E18EB49B87D}"/>
              </a:ext>
            </a:extLst>
          </p:cNvPr>
          <p:cNvSpPr>
            <a:spLocks noGrp="1"/>
          </p:cNvSpPr>
          <p:nvPr>
            <p:ph idx="1"/>
          </p:nvPr>
        </p:nvSpPr>
        <p:spPr>
          <a:xfrm>
            <a:off x="838200" y="1825625"/>
            <a:ext cx="10329472" cy="2035631"/>
          </a:xfrm>
        </p:spPr>
        <p:txBody>
          <a:bodyPr/>
          <a:lstStyle/>
          <a:p>
            <a:pPr marL="0" indent="0">
              <a:buNone/>
            </a:pPr>
            <a:r>
              <a:rPr lang="ru-RU" dirty="0"/>
              <a:t>У нас есть модель, которая диагностирует редкую болезнь.</a:t>
            </a:r>
          </a:p>
          <a:p>
            <a:pPr marL="0" indent="0">
              <a:buNone/>
            </a:pPr>
            <a:r>
              <a:rPr lang="ru-RU" dirty="0"/>
              <a:t>Она угадывает правильно в 99% случаев.</a:t>
            </a:r>
          </a:p>
          <a:p>
            <a:pPr marL="0" indent="0">
              <a:buNone/>
            </a:pPr>
            <a:r>
              <a:rPr lang="en-US" dirty="0"/>
              <a:t>Accuracy = 0.99</a:t>
            </a:r>
          </a:p>
          <a:p>
            <a:pPr marL="0" indent="0">
              <a:buNone/>
            </a:pPr>
            <a:r>
              <a:rPr lang="ru-RU" dirty="0"/>
              <a:t>Хорошая ли это модель?</a:t>
            </a:r>
            <a:r>
              <a:rPr lang="en-US" dirty="0"/>
              <a:t> (</a:t>
            </a:r>
            <a:r>
              <a:rPr lang="ru-RU" dirty="0"/>
              <a:t>Конечно нет</a:t>
            </a:r>
            <a:r>
              <a:rPr lang="en-US" dirty="0"/>
              <a:t>)</a:t>
            </a:r>
            <a:endParaRPr lang="ru-GB" dirty="0"/>
          </a:p>
        </p:txBody>
      </p:sp>
      <p:pic>
        <p:nvPicPr>
          <p:cNvPr id="7" name="Рисунок 6" descr="Изображение выглядит как текст, Шрифт, белый, линия&#10;&#10;Контент, сгенерированный ИИ, может содержать ошибки.">
            <a:extLst>
              <a:ext uri="{FF2B5EF4-FFF2-40B4-BE49-F238E27FC236}">
                <a16:creationId xmlns:a16="http://schemas.microsoft.com/office/drawing/2014/main" id="{91992038-0E37-AB2C-F9DC-0606EA2DA923}"/>
              </a:ext>
            </a:extLst>
          </p:cNvPr>
          <p:cNvPicPr>
            <a:picLocks noChangeAspect="1"/>
          </p:cNvPicPr>
          <p:nvPr/>
        </p:nvPicPr>
        <p:blipFill>
          <a:blip r:embed="rId3"/>
          <a:stretch>
            <a:fillRect/>
          </a:stretch>
        </p:blipFill>
        <p:spPr>
          <a:xfrm>
            <a:off x="838200" y="3861256"/>
            <a:ext cx="5301237" cy="949208"/>
          </a:xfrm>
          <a:prstGeom prst="rect">
            <a:avLst/>
          </a:prstGeom>
        </p:spPr>
      </p:pic>
      <p:pic>
        <p:nvPicPr>
          <p:cNvPr id="1026" name="Picture 2" descr="Шизоид, мемы и шизофрения">
            <a:extLst>
              <a:ext uri="{FF2B5EF4-FFF2-40B4-BE49-F238E27FC236}">
                <a16:creationId xmlns:a16="http://schemas.microsoft.com/office/drawing/2014/main" id="{BE91EB8C-7A7B-9A65-3E0A-97F126A298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1486" y="3149173"/>
            <a:ext cx="2631294" cy="293017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5E29B9E-5990-4CB0-AC23-AC97E4EB7213}"/>
              </a:ext>
            </a:extLst>
          </p:cNvPr>
          <p:cNvSpPr txBox="1"/>
          <p:nvPr/>
        </p:nvSpPr>
        <p:spPr>
          <a:xfrm>
            <a:off x="838200" y="4810464"/>
            <a:ext cx="6100996" cy="1477328"/>
          </a:xfrm>
          <a:prstGeom prst="rect">
            <a:avLst/>
          </a:prstGeom>
          <a:noFill/>
        </p:spPr>
        <p:txBody>
          <a:bodyPr wrap="square">
            <a:spAutoFit/>
          </a:bodyPr>
          <a:lstStyle/>
          <a:p>
            <a:r>
              <a:rPr lang="ru-RU" dirty="0"/>
              <a:t>Всего 1000 пациентов.</a:t>
            </a:r>
          </a:p>
          <a:p>
            <a:r>
              <a:rPr lang="en-US" dirty="0"/>
              <a:t>True Negative = 990</a:t>
            </a:r>
          </a:p>
          <a:p>
            <a:r>
              <a:rPr lang="en-US" dirty="0"/>
              <a:t>True Positive = 0</a:t>
            </a:r>
          </a:p>
          <a:p>
            <a:r>
              <a:rPr lang="en-US" dirty="0"/>
              <a:t>False Negative = 10</a:t>
            </a:r>
          </a:p>
          <a:p>
            <a:r>
              <a:rPr lang="en-US" dirty="0"/>
              <a:t>False Positive = 0</a:t>
            </a:r>
            <a:endParaRPr lang="ru-GB" dirty="0"/>
          </a:p>
        </p:txBody>
      </p:sp>
    </p:spTree>
    <p:extLst>
      <p:ext uri="{BB962C8B-B14F-4D97-AF65-F5344CB8AC3E}">
        <p14:creationId xmlns:p14="http://schemas.microsoft.com/office/powerpoint/2010/main" val="2898457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7184C-F619-B86D-38DF-C805FC0ECDAA}"/>
            </a:ext>
          </a:extLst>
        </p:cNvPr>
        <p:cNvGrpSpPr/>
        <p:nvPr/>
      </p:nvGrpSpPr>
      <p:grpSpPr>
        <a:xfrm>
          <a:off x="0" y="0"/>
          <a:ext cx="0" cy="0"/>
          <a:chOff x="0" y="0"/>
          <a:chExt cx="0" cy="0"/>
        </a:xfrm>
      </p:grpSpPr>
      <p:pic>
        <p:nvPicPr>
          <p:cNvPr id="9" name="Объект 9">
            <a:extLst>
              <a:ext uri="{FF2B5EF4-FFF2-40B4-BE49-F238E27FC236}">
                <a16:creationId xmlns:a16="http://schemas.microsoft.com/office/drawing/2014/main" id="{F85A0514-E5F9-A888-3528-CD0C8592D374}"/>
              </a:ext>
            </a:extLst>
          </p:cNvPr>
          <p:cNvPicPr>
            <a:picLocks noChangeAspect="1"/>
          </p:cNvPicPr>
          <p:nvPr/>
        </p:nvPicPr>
        <p:blipFill>
          <a:blip r:embed="rId3"/>
          <a:stretch>
            <a:fillRect/>
          </a:stretch>
        </p:blipFill>
        <p:spPr>
          <a:xfrm>
            <a:off x="838200" y="3284112"/>
            <a:ext cx="4813092" cy="3111124"/>
          </a:xfrm>
          <a:prstGeom prst="rect">
            <a:avLst/>
          </a:prstGeom>
        </p:spPr>
      </p:pic>
      <p:sp>
        <p:nvSpPr>
          <p:cNvPr id="2" name="Заголовок 1">
            <a:extLst>
              <a:ext uri="{FF2B5EF4-FFF2-40B4-BE49-F238E27FC236}">
                <a16:creationId xmlns:a16="http://schemas.microsoft.com/office/drawing/2014/main" id="{F51C44F5-4AD9-AACF-139B-96A4E92A1AAD}"/>
              </a:ext>
            </a:extLst>
          </p:cNvPr>
          <p:cNvSpPr>
            <a:spLocks noGrp="1"/>
          </p:cNvSpPr>
          <p:nvPr>
            <p:ph type="title"/>
          </p:nvPr>
        </p:nvSpPr>
        <p:spPr/>
        <p:txBody>
          <a:bodyPr>
            <a:normAutofit/>
          </a:bodyPr>
          <a:lstStyle/>
          <a:p>
            <a:r>
              <a:rPr lang="en-US" b="1" dirty="0">
                <a:solidFill>
                  <a:srgbClr val="000000"/>
                </a:solidFill>
                <a:latin typeface="Helvetica" pitchFamily="2" charset="0"/>
              </a:rPr>
              <a:t>Precision</a:t>
            </a:r>
            <a:endParaRPr lang="en-US" b="1" dirty="0">
              <a:solidFill>
                <a:srgbClr val="000000"/>
              </a:solidFill>
              <a:effectLst/>
              <a:latin typeface="Helvetica" pitchFamily="2" charset="0"/>
            </a:endParaRPr>
          </a:p>
        </p:txBody>
      </p:sp>
      <p:sp>
        <p:nvSpPr>
          <p:cNvPr id="4" name="Объект 3">
            <a:extLst>
              <a:ext uri="{FF2B5EF4-FFF2-40B4-BE49-F238E27FC236}">
                <a16:creationId xmlns:a16="http://schemas.microsoft.com/office/drawing/2014/main" id="{C9A73408-B99A-D1BA-BA33-83B707698767}"/>
              </a:ext>
            </a:extLst>
          </p:cNvPr>
          <p:cNvSpPr>
            <a:spLocks noGrp="1"/>
          </p:cNvSpPr>
          <p:nvPr>
            <p:ph idx="1"/>
          </p:nvPr>
        </p:nvSpPr>
        <p:spPr>
          <a:xfrm>
            <a:off x="838200" y="1825626"/>
            <a:ext cx="10329472" cy="1323548"/>
          </a:xfrm>
        </p:spPr>
        <p:txBody>
          <a:bodyPr/>
          <a:lstStyle/>
          <a:p>
            <a:pPr marL="0" indent="0">
              <a:buNone/>
            </a:pPr>
            <a:r>
              <a:rPr lang="en-US" dirty="0"/>
              <a:t>Precision </a:t>
            </a:r>
            <a:r>
              <a:rPr lang="ru-RU" dirty="0"/>
              <a:t>показывает, какая доля из всех примеров, которые модель предсказала как положительные, действительно оказалась положительной.</a:t>
            </a:r>
            <a:endParaRPr lang="ru-GB" dirty="0"/>
          </a:p>
        </p:txBody>
      </p:sp>
      <p:pic>
        <p:nvPicPr>
          <p:cNvPr id="5" name="Рисунок 4" descr="Изображение выглядит как текст, Шрифт, белый, число&#10;&#10;Контент, сгенерированный ИИ, может содержать ошибки.">
            <a:extLst>
              <a:ext uri="{FF2B5EF4-FFF2-40B4-BE49-F238E27FC236}">
                <a16:creationId xmlns:a16="http://schemas.microsoft.com/office/drawing/2014/main" id="{DF9F4916-5E10-6007-4474-7C0B2CB0FFBB}"/>
              </a:ext>
            </a:extLst>
          </p:cNvPr>
          <p:cNvPicPr>
            <a:picLocks noChangeAspect="1"/>
          </p:cNvPicPr>
          <p:nvPr/>
        </p:nvPicPr>
        <p:blipFill>
          <a:blip r:embed="rId4"/>
          <a:stretch>
            <a:fillRect/>
          </a:stretch>
        </p:blipFill>
        <p:spPr>
          <a:xfrm>
            <a:off x="6002936" y="3708827"/>
            <a:ext cx="3841021" cy="1035219"/>
          </a:xfrm>
          <a:prstGeom prst="rect">
            <a:avLst/>
          </a:prstGeom>
        </p:spPr>
      </p:pic>
      <p:sp>
        <p:nvSpPr>
          <p:cNvPr id="11" name="Скругленный прямоугольник 10">
            <a:extLst>
              <a:ext uri="{FF2B5EF4-FFF2-40B4-BE49-F238E27FC236}">
                <a16:creationId xmlns:a16="http://schemas.microsoft.com/office/drawing/2014/main" id="{9FC53675-B686-2F50-BE8F-C32CC8991002}"/>
              </a:ext>
            </a:extLst>
          </p:cNvPr>
          <p:cNvSpPr/>
          <p:nvPr/>
        </p:nvSpPr>
        <p:spPr>
          <a:xfrm>
            <a:off x="1978702" y="4226436"/>
            <a:ext cx="3477718" cy="975151"/>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GB"/>
          </a:p>
        </p:txBody>
      </p:sp>
    </p:spTree>
    <p:extLst>
      <p:ext uri="{BB962C8B-B14F-4D97-AF65-F5344CB8AC3E}">
        <p14:creationId xmlns:p14="http://schemas.microsoft.com/office/powerpoint/2010/main" val="429260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751EB-E789-E827-6632-16EC015CC12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41130B-5B99-878B-3C1B-8F813CA7A910}"/>
              </a:ext>
            </a:extLst>
          </p:cNvPr>
          <p:cNvSpPr>
            <a:spLocks noGrp="1"/>
          </p:cNvSpPr>
          <p:nvPr>
            <p:ph type="title"/>
          </p:nvPr>
        </p:nvSpPr>
        <p:spPr/>
        <p:txBody>
          <a:bodyPr>
            <a:normAutofit/>
          </a:bodyPr>
          <a:lstStyle/>
          <a:p>
            <a:r>
              <a:rPr lang="en-US" b="1" dirty="0">
                <a:solidFill>
                  <a:srgbClr val="000000"/>
                </a:solidFill>
                <a:latin typeface="Helvetica" pitchFamily="2" charset="0"/>
              </a:rPr>
              <a:t>Precision</a:t>
            </a:r>
            <a:endParaRPr lang="en-US" b="1" dirty="0">
              <a:solidFill>
                <a:srgbClr val="000000"/>
              </a:solidFill>
              <a:effectLst/>
              <a:latin typeface="Helvetica" pitchFamily="2" charset="0"/>
            </a:endParaRPr>
          </a:p>
        </p:txBody>
      </p:sp>
      <p:sp>
        <p:nvSpPr>
          <p:cNvPr id="4" name="Объект 3">
            <a:extLst>
              <a:ext uri="{FF2B5EF4-FFF2-40B4-BE49-F238E27FC236}">
                <a16:creationId xmlns:a16="http://schemas.microsoft.com/office/drawing/2014/main" id="{A10C8D62-2C30-3B89-CACE-243C601C0F08}"/>
              </a:ext>
            </a:extLst>
          </p:cNvPr>
          <p:cNvSpPr>
            <a:spLocks noGrp="1"/>
          </p:cNvSpPr>
          <p:nvPr>
            <p:ph idx="1"/>
          </p:nvPr>
        </p:nvSpPr>
        <p:spPr>
          <a:xfrm>
            <a:off x="838200" y="1825626"/>
            <a:ext cx="10329472" cy="1323548"/>
          </a:xfrm>
        </p:spPr>
        <p:txBody>
          <a:bodyPr>
            <a:normAutofit fontScale="70000" lnSpcReduction="20000"/>
          </a:bodyPr>
          <a:lstStyle/>
          <a:p>
            <a:pPr marL="0" indent="0">
              <a:buNone/>
            </a:pPr>
            <a:r>
              <a:rPr lang="ru-RU" dirty="0"/>
              <a:t>Задача скоринга - модель предсказывает, выдавать клиенту кредит или нет.</a:t>
            </a:r>
          </a:p>
          <a:p>
            <a:pPr marL="0" indent="0">
              <a:buNone/>
            </a:pPr>
            <a:r>
              <a:rPr lang="ru-RU" dirty="0"/>
              <a:t>Сравним между собой две модели. Ниже - их матрицы ошибок на тестовых данных</a:t>
            </a:r>
          </a:p>
          <a:p>
            <a:pPr marL="0" indent="0">
              <a:buNone/>
            </a:pPr>
            <a:r>
              <a:rPr lang="ru-RU" dirty="0"/>
              <a:t>(данные сбалансированы: всего 200 клиентов, по 100 клиентов каждого класса):</a:t>
            </a:r>
            <a:endParaRPr lang="ru-GB" dirty="0"/>
          </a:p>
        </p:txBody>
      </p:sp>
      <p:pic>
        <p:nvPicPr>
          <p:cNvPr id="5" name="Рисунок 4" descr="Изображение выглядит как текст, Шрифт, белый, число&#10;&#10;Контент, сгенерированный ИИ, может содержать ошибки.">
            <a:extLst>
              <a:ext uri="{FF2B5EF4-FFF2-40B4-BE49-F238E27FC236}">
                <a16:creationId xmlns:a16="http://schemas.microsoft.com/office/drawing/2014/main" id="{89FBE59A-D709-B1ED-D597-E3A07A66B331}"/>
              </a:ext>
            </a:extLst>
          </p:cNvPr>
          <p:cNvPicPr>
            <a:picLocks noChangeAspect="1"/>
          </p:cNvPicPr>
          <p:nvPr/>
        </p:nvPicPr>
        <p:blipFill>
          <a:blip r:embed="rId3"/>
          <a:stretch>
            <a:fillRect/>
          </a:stretch>
        </p:blipFill>
        <p:spPr>
          <a:xfrm>
            <a:off x="7326651" y="3284112"/>
            <a:ext cx="3841021" cy="1035219"/>
          </a:xfrm>
          <a:prstGeom prst="rect">
            <a:avLst/>
          </a:prstGeom>
        </p:spPr>
      </p:pic>
      <p:pic>
        <p:nvPicPr>
          <p:cNvPr id="3" name="Рисунок 2">
            <a:extLst>
              <a:ext uri="{FF2B5EF4-FFF2-40B4-BE49-F238E27FC236}">
                <a16:creationId xmlns:a16="http://schemas.microsoft.com/office/drawing/2014/main" id="{1D890EF3-D0DE-FDB8-B43A-31024005BD69}"/>
              </a:ext>
            </a:extLst>
          </p:cNvPr>
          <p:cNvPicPr>
            <a:picLocks noChangeAspect="1"/>
          </p:cNvPicPr>
          <p:nvPr/>
        </p:nvPicPr>
        <p:blipFill>
          <a:blip r:embed="rId4"/>
          <a:stretch>
            <a:fillRect/>
          </a:stretch>
        </p:blipFill>
        <p:spPr>
          <a:xfrm>
            <a:off x="895454" y="3284112"/>
            <a:ext cx="5891134" cy="2825045"/>
          </a:xfrm>
          <a:prstGeom prst="rect">
            <a:avLst/>
          </a:prstGeom>
        </p:spPr>
      </p:pic>
    </p:spTree>
    <p:extLst>
      <p:ext uri="{BB962C8B-B14F-4D97-AF65-F5344CB8AC3E}">
        <p14:creationId xmlns:p14="http://schemas.microsoft.com/office/powerpoint/2010/main" val="2892029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84DCE-4F7D-9078-4AFD-B9551314CF4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D837A8-63AD-3B15-7558-4A228C155335}"/>
              </a:ext>
            </a:extLst>
          </p:cNvPr>
          <p:cNvSpPr>
            <a:spLocks noGrp="1"/>
          </p:cNvSpPr>
          <p:nvPr>
            <p:ph type="title"/>
          </p:nvPr>
        </p:nvSpPr>
        <p:spPr/>
        <p:txBody>
          <a:bodyPr>
            <a:normAutofit/>
          </a:bodyPr>
          <a:lstStyle/>
          <a:p>
            <a:r>
              <a:rPr lang="en-US" b="1" dirty="0">
                <a:solidFill>
                  <a:srgbClr val="000000"/>
                </a:solidFill>
                <a:latin typeface="Helvetica" pitchFamily="2" charset="0"/>
              </a:rPr>
              <a:t>Precision</a:t>
            </a:r>
            <a:endParaRPr lang="en-US" b="1" dirty="0">
              <a:solidFill>
                <a:srgbClr val="000000"/>
              </a:solidFill>
              <a:effectLst/>
              <a:latin typeface="Helvetica" pitchFamily="2" charset="0"/>
            </a:endParaRPr>
          </a:p>
        </p:txBody>
      </p:sp>
      <p:sp>
        <p:nvSpPr>
          <p:cNvPr id="4" name="Объект 3">
            <a:extLst>
              <a:ext uri="{FF2B5EF4-FFF2-40B4-BE49-F238E27FC236}">
                <a16:creationId xmlns:a16="http://schemas.microsoft.com/office/drawing/2014/main" id="{4420874D-01A7-2855-7876-046E24F7D530}"/>
              </a:ext>
            </a:extLst>
          </p:cNvPr>
          <p:cNvSpPr>
            <a:spLocks noGrp="1"/>
          </p:cNvSpPr>
          <p:nvPr>
            <p:ph idx="1"/>
          </p:nvPr>
        </p:nvSpPr>
        <p:spPr>
          <a:xfrm>
            <a:off x="838200" y="1825626"/>
            <a:ext cx="10329472" cy="1323548"/>
          </a:xfrm>
        </p:spPr>
        <p:txBody>
          <a:bodyPr>
            <a:normAutofit fontScale="70000" lnSpcReduction="20000"/>
          </a:bodyPr>
          <a:lstStyle/>
          <a:p>
            <a:pPr marL="0" indent="0">
              <a:buNone/>
            </a:pPr>
            <a:r>
              <a:rPr lang="ru-RU" dirty="0"/>
              <a:t>Задача скоринга - модель предсказывает, выдавать клиенту кредит или нет.</a:t>
            </a:r>
          </a:p>
          <a:p>
            <a:pPr marL="0" indent="0">
              <a:buNone/>
            </a:pPr>
            <a:r>
              <a:rPr lang="ru-RU" dirty="0"/>
              <a:t>Сравним между собой две модели. Ниже - их матрицы ошибок на тестовых данных</a:t>
            </a:r>
          </a:p>
          <a:p>
            <a:pPr marL="0" indent="0">
              <a:buNone/>
            </a:pPr>
            <a:r>
              <a:rPr lang="ru-RU" dirty="0"/>
              <a:t>(данные сбалансированы: всего 200 клиентов, по 100 клиентов каждого класса):</a:t>
            </a:r>
            <a:endParaRPr lang="ru-GB" dirty="0"/>
          </a:p>
        </p:txBody>
      </p:sp>
      <p:pic>
        <p:nvPicPr>
          <p:cNvPr id="5" name="Рисунок 4" descr="Изображение выглядит как текст, Шрифт, белый, число&#10;&#10;Контент, сгенерированный ИИ, может содержать ошибки.">
            <a:extLst>
              <a:ext uri="{FF2B5EF4-FFF2-40B4-BE49-F238E27FC236}">
                <a16:creationId xmlns:a16="http://schemas.microsoft.com/office/drawing/2014/main" id="{E17350BD-D4A0-27BD-BCD8-BD78F0A8FAB0}"/>
              </a:ext>
            </a:extLst>
          </p:cNvPr>
          <p:cNvPicPr>
            <a:picLocks noChangeAspect="1"/>
          </p:cNvPicPr>
          <p:nvPr/>
        </p:nvPicPr>
        <p:blipFill>
          <a:blip r:embed="rId3"/>
          <a:stretch>
            <a:fillRect/>
          </a:stretch>
        </p:blipFill>
        <p:spPr>
          <a:xfrm>
            <a:off x="7326651" y="3284112"/>
            <a:ext cx="3841021" cy="1035219"/>
          </a:xfrm>
          <a:prstGeom prst="rect">
            <a:avLst/>
          </a:prstGeom>
        </p:spPr>
      </p:pic>
      <p:pic>
        <p:nvPicPr>
          <p:cNvPr id="3" name="Рисунок 2">
            <a:extLst>
              <a:ext uri="{FF2B5EF4-FFF2-40B4-BE49-F238E27FC236}">
                <a16:creationId xmlns:a16="http://schemas.microsoft.com/office/drawing/2014/main" id="{6EE1EC0E-D5E7-E723-A3EE-827BE5FA01EB}"/>
              </a:ext>
            </a:extLst>
          </p:cNvPr>
          <p:cNvPicPr>
            <a:picLocks noChangeAspect="1"/>
          </p:cNvPicPr>
          <p:nvPr/>
        </p:nvPicPr>
        <p:blipFill>
          <a:blip r:embed="rId4"/>
          <a:stretch>
            <a:fillRect/>
          </a:stretch>
        </p:blipFill>
        <p:spPr>
          <a:xfrm>
            <a:off x="895454" y="3284112"/>
            <a:ext cx="5891134" cy="2825045"/>
          </a:xfrm>
          <a:prstGeom prst="rect">
            <a:avLst/>
          </a:prstGeom>
        </p:spPr>
      </p:pic>
      <p:sp>
        <p:nvSpPr>
          <p:cNvPr id="6" name="TextBox 5">
            <a:extLst>
              <a:ext uri="{FF2B5EF4-FFF2-40B4-BE49-F238E27FC236}">
                <a16:creationId xmlns:a16="http://schemas.microsoft.com/office/drawing/2014/main" id="{369E00C1-FB1C-1B27-9AB5-77B963CE6086}"/>
              </a:ext>
            </a:extLst>
          </p:cNvPr>
          <p:cNvSpPr txBox="1"/>
          <p:nvPr/>
        </p:nvSpPr>
        <p:spPr>
          <a:xfrm>
            <a:off x="1069507" y="6139934"/>
            <a:ext cx="2597462" cy="400110"/>
          </a:xfrm>
          <a:prstGeom prst="rect">
            <a:avLst/>
          </a:prstGeom>
          <a:noFill/>
        </p:spPr>
        <p:txBody>
          <a:bodyPr wrap="square" rtlCol="0">
            <a:spAutoFit/>
          </a:bodyPr>
          <a:lstStyle/>
          <a:p>
            <a:r>
              <a:rPr lang="en-US" sz="2000" dirty="0"/>
              <a:t>👎 Precision_m1 = 0.8</a:t>
            </a:r>
          </a:p>
        </p:txBody>
      </p:sp>
      <p:sp>
        <p:nvSpPr>
          <p:cNvPr id="8" name="TextBox 7">
            <a:extLst>
              <a:ext uri="{FF2B5EF4-FFF2-40B4-BE49-F238E27FC236}">
                <a16:creationId xmlns:a16="http://schemas.microsoft.com/office/drawing/2014/main" id="{54DA423F-7E7C-8177-C800-EB755424E880}"/>
              </a:ext>
            </a:extLst>
          </p:cNvPr>
          <p:cNvSpPr txBox="1"/>
          <p:nvPr/>
        </p:nvSpPr>
        <p:spPr>
          <a:xfrm>
            <a:off x="3853721" y="6139934"/>
            <a:ext cx="2737579" cy="400110"/>
          </a:xfrm>
          <a:prstGeom prst="rect">
            <a:avLst/>
          </a:prstGeom>
          <a:noFill/>
        </p:spPr>
        <p:txBody>
          <a:bodyPr wrap="square">
            <a:spAutoFit/>
          </a:bodyPr>
          <a:lstStyle/>
          <a:p>
            <a:r>
              <a:rPr lang="en-US" sz="2000" dirty="0"/>
              <a:t>👍 Precision_m2 = 0.96</a:t>
            </a:r>
          </a:p>
        </p:txBody>
      </p:sp>
    </p:spTree>
    <p:extLst>
      <p:ext uri="{BB962C8B-B14F-4D97-AF65-F5344CB8AC3E}">
        <p14:creationId xmlns:p14="http://schemas.microsoft.com/office/powerpoint/2010/main" val="3826482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AB0A-39CA-9907-1C7C-9FC850133BF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A1B1BC-50F4-1F9A-AC75-89227ABB57A0}"/>
              </a:ext>
            </a:extLst>
          </p:cNvPr>
          <p:cNvSpPr>
            <a:spLocks noGrp="1"/>
          </p:cNvSpPr>
          <p:nvPr>
            <p:ph type="title"/>
          </p:nvPr>
        </p:nvSpPr>
        <p:spPr/>
        <p:txBody>
          <a:bodyPr>
            <a:normAutofit/>
          </a:bodyPr>
          <a:lstStyle/>
          <a:p>
            <a:r>
              <a:rPr lang="en-US" b="1" dirty="0">
                <a:solidFill>
                  <a:srgbClr val="000000"/>
                </a:solidFill>
                <a:latin typeface="Helvetica" pitchFamily="2" charset="0"/>
              </a:rPr>
              <a:t>Recall</a:t>
            </a:r>
            <a:endParaRPr lang="en-US" b="1" dirty="0">
              <a:solidFill>
                <a:srgbClr val="000000"/>
              </a:solidFill>
              <a:effectLst/>
              <a:latin typeface="Helvetica" pitchFamily="2" charset="0"/>
            </a:endParaRPr>
          </a:p>
        </p:txBody>
      </p:sp>
      <p:sp>
        <p:nvSpPr>
          <p:cNvPr id="4" name="Объект 3">
            <a:extLst>
              <a:ext uri="{FF2B5EF4-FFF2-40B4-BE49-F238E27FC236}">
                <a16:creationId xmlns:a16="http://schemas.microsoft.com/office/drawing/2014/main" id="{D1A915B8-48EF-2BA3-8C46-4B31616FA048}"/>
              </a:ext>
            </a:extLst>
          </p:cNvPr>
          <p:cNvSpPr>
            <a:spLocks noGrp="1"/>
          </p:cNvSpPr>
          <p:nvPr>
            <p:ph idx="1"/>
          </p:nvPr>
        </p:nvSpPr>
        <p:spPr>
          <a:xfrm>
            <a:off x="838200" y="1825626"/>
            <a:ext cx="10329472" cy="1070155"/>
          </a:xfrm>
        </p:spPr>
        <p:txBody>
          <a:bodyPr>
            <a:normAutofit/>
          </a:bodyPr>
          <a:lstStyle/>
          <a:p>
            <a:pPr marL="0" indent="0">
              <a:buNone/>
            </a:pPr>
            <a:r>
              <a:rPr lang="en-US" dirty="0"/>
              <a:t>Recall </a:t>
            </a:r>
            <a:r>
              <a:rPr lang="ru-RU" dirty="0"/>
              <a:t>показывает, какую долю</a:t>
            </a:r>
            <a:r>
              <a:rPr lang="en-US" dirty="0"/>
              <a:t> </a:t>
            </a:r>
            <a:r>
              <a:rPr lang="ru-RU" dirty="0"/>
              <a:t>из </a:t>
            </a:r>
            <a:r>
              <a:rPr lang="ru-RU" dirty="0" err="1"/>
              <a:t>всехположительных</a:t>
            </a:r>
            <a:r>
              <a:rPr lang="ru-RU" dirty="0"/>
              <a:t> примеров, модель действительно нашла</a:t>
            </a:r>
            <a:endParaRPr lang="ru-GB" dirty="0"/>
          </a:p>
        </p:txBody>
      </p:sp>
      <p:pic>
        <p:nvPicPr>
          <p:cNvPr id="10" name="Рисунок 9" descr="Изображение выглядит как текст, Шрифт, белый, число&#10;&#10;Контент, сгенерированный ИИ, может содержать ошибки.">
            <a:extLst>
              <a:ext uri="{FF2B5EF4-FFF2-40B4-BE49-F238E27FC236}">
                <a16:creationId xmlns:a16="http://schemas.microsoft.com/office/drawing/2014/main" id="{A29E6185-6E9F-5D3A-7999-CD94F939FA7A}"/>
              </a:ext>
            </a:extLst>
          </p:cNvPr>
          <p:cNvPicPr>
            <a:picLocks noChangeAspect="1"/>
          </p:cNvPicPr>
          <p:nvPr/>
        </p:nvPicPr>
        <p:blipFill>
          <a:blip r:embed="rId3"/>
          <a:stretch>
            <a:fillRect/>
          </a:stretch>
        </p:blipFill>
        <p:spPr>
          <a:xfrm>
            <a:off x="6316739" y="3149173"/>
            <a:ext cx="2841329" cy="879895"/>
          </a:xfrm>
          <a:prstGeom prst="rect">
            <a:avLst/>
          </a:prstGeom>
        </p:spPr>
      </p:pic>
      <p:pic>
        <p:nvPicPr>
          <p:cNvPr id="13" name="Объект 9">
            <a:extLst>
              <a:ext uri="{FF2B5EF4-FFF2-40B4-BE49-F238E27FC236}">
                <a16:creationId xmlns:a16="http://schemas.microsoft.com/office/drawing/2014/main" id="{12013AA5-C087-3FF4-A8FB-54355BBA93B1}"/>
              </a:ext>
            </a:extLst>
          </p:cNvPr>
          <p:cNvPicPr>
            <a:picLocks noChangeAspect="1"/>
          </p:cNvPicPr>
          <p:nvPr/>
        </p:nvPicPr>
        <p:blipFill>
          <a:blip r:embed="rId4"/>
          <a:stretch>
            <a:fillRect/>
          </a:stretch>
        </p:blipFill>
        <p:spPr>
          <a:xfrm>
            <a:off x="892301" y="3009464"/>
            <a:ext cx="4813092" cy="3111124"/>
          </a:xfrm>
          <a:prstGeom prst="rect">
            <a:avLst/>
          </a:prstGeom>
        </p:spPr>
      </p:pic>
      <p:sp>
        <p:nvSpPr>
          <p:cNvPr id="14" name="Скругленный прямоугольник 13">
            <a:extLst>
              <a:ext uri="{FF2B5EF4-FFF2-40B4-BE49-F238E27FC236}">
                <a16:creationId xmlns:a16="http://schemas.microsoft.com/office/drawing/2014/main" id="{8A57187B-56CE-1F95-2F9B-E4B93D360EC8}"/>
              </a:ext>
            </a:extLst>
          </p:cNvPr>
          <p:cNvSpPr/>
          <p:nvPr/>
        </p:nvSpPr>
        <p:spPr>
          <a:xfrm>
            <a:off x="2114862" y="4020445"/>
            <a:ext cx="1552107" cy="1986460"/>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GB"/>
          </a:p>
        </p:txBody>
      </p:sp>
    </p:spTree>
    <p:extLst>
      <p:ext uri="{BB962C8B-B14F-4D97-AF65-F5344CB8AC3E}">
        <p14:creationId xmlns:p14="http://schemas.microsoft.com/office/powerpoint/2010/main" val="1953103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F68FD-3D2C-BF51-1B7E-91BBD9613D2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732690-F3BB-B763-59CA-BF0C97D252B7}"/>
              </a:ext>
            </a:extLst>
          </p:cNvPr>
          <p:cNvSpPr>
            <a:spLocks noGrp="1"/>
          </p:cNvSpPr>
          <p:nvPr>
            <p:ph type="title"/>
          </p:nvPr>
        </p:nvSpPr>
        <p:spPr/>
        <p:txBody>
          <a:bodyPr>
            <a:normAutofit/>
          </a:bodyPr>
          <a:lstStyle/>
          <a:p>
            <a:r>
              <a:rPr lang="en-US" b="1" dirty="0">
                <a:solidFill>
                  <a:srgbClr val="000000"/>
                </a:solidFill>
                <a:latin typeface="Helvetica" pitchFamily="2" charset="0"/>
              </a:rPr>
              <a:t>Recall</a:t>
            </a:r>
            <a:endParaRPr lang="en-US" b="1" dirty="0">
              <a:solidFill>
                <a:srgbClr val="000000"/>
              </a:solidFill>
              <a:effectLst/>
              <a:latin typeface="Helvetica" pitchFamily="2" charset="0"/>
            </a:endParaRPr>
          </a:p>
        </p:txBody>
      </p:sp>
      <p:sp>
        <p:nvSpPr>
          <p:cNvPr id="4" name="Объект 3">
            <a:extLst>
              <a:ext uri="{FF2B5EF4-FFF2-40B4-BE49-F238E27FC236}">
                <a16:creationId xmlns:a16="http://schemas.microsoft.com/office/drawing/2014/main" id="{626474B5-240D-73C8-FABB-6F2D8F50B99F}"/>
              </a:ext>
            </a:extLst>
          </p:cNvPr>
          <p:cNvSpPr>
            <a:spLocks noGrp="1"/>
          </p:cNvSpPr>
          <p:nvPr>
            <p:ph idx="1"/>
          </p:nvPr>
        </p:nvSpPr>
        <p:spPr>
          <a:xfrm>
            <a:off x="838200" y="1825626"/>
            <a:ext cx="10329472" cy="1086729"/>
          </a:xfrm>
        </p:spPr>
        <p:txBody>
          <a:bodyPr>
            <a:normAutofit/>
          </a:bodyPr>
          <a:lstStyle/>
          <a:p>
            <a:pPr marL="0" indent="0">
              <a:buNone/>
            </a:pPr>
            <a:r>
              <a:rPr lang="ru-RU" sz="2200" dirty="0"/>
              <a:t>Как много кредитоспособных клиентов (тех, кто вернет кредит) находят модели?</a:t>
            </a:r>
            <a:br>
              <a:rPr lang="ru-RU" sz="2200" dirty="0"/>
            </a:br>
            <a:r>
              <a:rPr lang="ru-RU" sz="2200" dirty="0"/>
              <a:t>Среди всех клиентов, кто вернет кредит, посчитаем долю клиентов, которым модель выдала кредит</a:t>
            </a:r>
          </a:p>
          <a:p>
            <a:pPr marL="0" indent="0">
              <a:buNone/>
            </a:pPr>
            <a:endParaRPr lang="ru-RU" dirty="0"/>
          </a:p>
        </p:txBody>
      </p:sp>
      <p:pic>
        <p:nvPicPr>
          <p:cNvPr id="7" name="Рисунок 6" descr="Изображение выглядит как текст, Шрифт, белый, число&#10;&#10;Контент, сгенерированный ИИ, может содержать ошибки.">
            <a:extLst>
              <a:ext uri="{FF2B5EF4-FFF2-40B4-BE49-F238E27FC236}">
                <a16:creationId xmlns:a16="http://schemas.microsoft.com/office/drawing/2014/main" id="{62A9866D-8D12-C6EC-BFE0-8143ECE74E27}"/>
              </a:ext>
            </a:extLst>
          </p:cNvPr>
          <p:cNvPicPr>
            <a:picLocks noChangeAspect="1"/>
          </p:cNvPicPr>
          <p:nvPr/>
        </p:nvPicPr>
        <p:blipFill>
          <a:blip r:embed="rId3"/>
          <a:stretch>
            <a:fillRect/>
          </a:stretch>
        </p:blipFill>
        <p:spPr>
          <a:xfrm>
            <a:off x="7329613" y="3429000"/>
            <a:ext cx="3509231" cy="1086729"/>
          </a:xfrm>
          <a:prstGeom prst="rect">
            <a:avLst/>
          </a:prstGeom>
        </p:spPr>
      </p:pic>
      <p:pic>
        <p:nvPicPr>
          <p:cNvPr id="9" name="Рисунок 8">
            <a:extLst>
              <a:ext uri="{FF2B5EF4-FFF2-40B4-BE49-F238E27FC236}">
                <a16:creationId xmlns:a16="http://schemas.microsoft.com/office/drawing/2014/main" id="{93923600-2AB3-7C5E-820C-70971E8155F6}"/>
              </a:ext>
            </a:extLst>
          </p:cNvPr>
          <p:cNvPicPr>
            <a:picLocks noChangeAspect="1"/>
          </p:cNvPicPr>
          <p:nvPr/>
        </p:nvPicPr>
        <p:blipFill>
          <a:blip r:embed="rId4"/>
          <a:stretch>
            <a:fillRect/>
          </a:stretch>
        </p:blipFill>
        <p:spPr>
          <a:xfrm>
            <a:off x="895453" y="3263706"/>
            <a:ext cx="5856989" cy="2860840"/>
          </a:xfrm>
          <a:prstGeom prst="rect">
            <a:avLst/>
          </a:prstGeom>
        </p:spPr>
      </p:pic>
    </p:spTree>
    <p:extLst>
      <p:ext uri="{BB962C8B-B14F-4D97-AF65-F5344CB8AC3E}">
        <p14:creationId xmlns:p14="http://schemas.microsoft.com/office/powerpoint/2010/main" val="2951217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D9B9-7643-3F67-C1A3-78B1AAB8DB0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AE7DBF-BB9E-95FC-5CAE-34B187073179}"/>
              </a:ext>
            </a:extLst>
          </p:cNvPr>
          <p:cNvSpPr>
            <a:spLocks noGrp="1"/>
          </p:cNvSpPr>
          <p:nvPr>
            <p:ph type="title"/>
          </p:nvPr>
        </p:nvSpPr>
        <p:spPr/>
        <p:txBody>
          <a:bodyPr>
            <a:normAutofit/>
          </a:bodyPr>
          <a:lstStyle/>
          <a:p>
            <a:r>
              <a:rPr lang="en-US" b="1" dirty="0">
                <a:solidFill>
                  <a:srgbClr val="000000"/>
                </a:solidFill>
                <a:latin typeface="Helvetica" pitchFamily="2" charset="0"/>
              </a:rPr>
              <a:t>Recall</a:t>
            </a:r>
            <a:endParaRPr lang="en-US" b="1" dirty="0">
              <a:solidFill>
                <a:srgbClr val="000000"/>
              </a:solidFill>
              <a:effectLst/>
              <a:latin typeface="Helvetica" pitchFamily="2" charset="0"/>
            </a:endParaRPr>
          </a:p>
        </p:txBody>
      </p:sp>
      <p:sp>
        <p:nvSpPr>
          <p:cNvPr id="4" name="Объект 3">
            <a:extLst>
              <a:ext uri="{FF2B5EF4-FFF2-40B4-BE49-F238E27FC236}">
                <a16:creationId xmlns:a16="http://schemas.microsoft.com/office/drawing/2014/main" id="{907981BD-A5EF-97E6-DFA4-0F6791B81C2B}"/>
              </a:ext>
            </a:extLst>
          </p:cNvPr>
          <p:cNvSpPr>
            <a:spLocks noGrp="1"/>
          </p:cNvSpPr>
          <p:nvPr>
            <p:ph idx="1"/>
          </p:nvPr>
        </p:nvSpPr>
        <p:spPr>
          <a:xfrm>
            <a:off x="838200" y="1825626"/>
            <a:ext cx="10329472" cy="1086729"/>
          </a:xfrm>
        </p:spPr>
        <p:txBody>
          <a:bodyPr>
            <a:normAutofit/>
          </a:bodyPr>
          <a:lstStyle/>
          <a:p>
            <a:pPr marL="0" indent="0">
              <a:buNone/>
            </a:pPr>
            <a:r>
              <a:rPr lang="ru-RU" sz="2200" dirty="0"/>
              <a:t>Как много кредитоспособных клиентов (тех, кто вернет кредит) находят модели?</a:t>
            </a:r>
            <a:br>
              <a:rPr lang="ru-RU" sz="2200" dirty="0"/>
            </a:br>
            <a:r>
              <a:rPr lang="ru-RU" sz="2200" dirty="0"/>
              <a:t>Среди всех клиентов, кто вернет кредит, посчитаем долю клиентов, которым модель выдала кредит</a:t>
            </a:r>
          </a:p>
          <a:p>
            <a:pPr marL="0" indent="0">
              <a:buNone/>
            </a:pPr>
            <a:endParaRPr lang="ru-RU" dirty="0"/>
          </a:p>
        </p:txBody>
      </p:sp>
      <p:sp>
        <p:nvSpPr>
          <p:cNvPr id="6" name="TextBox 5">
            <a:extLst>
              <a:ext uri="{FF2B5EF4-FFF2-40B4-BE49-F238E27FC236}">
                <a16:creationId xmlns:a16="http://schemas.microsoft.com/office/drawing/2014/main" id="{86F54340-397C-226B-F770-14214435DFD6}"/>
              </a:ext>
            </a:extLst>
          </p:cNvPr>
          <p:cNvSpPr txBox="1"/>
          <p:nvPr/>
        </p:nvSpPr>
        <p:spPr>
          <a:xfrm>
            <a:off x="1083575" y="6139934"/>
            <a:ext cx="2597462" cy="400110"/>
          </a:xfrm>
          <a:prstGeom prst="rect">
            <a:avLst/>
          </a:prstGeom>
          <a:noFill/>
        </p:spPr>
        <p:txBody>
          <a:bodyPr wrap="square" rtlCol="0">
            <a:spAutoFit/>
          </a:bodyPr>
          <a:lstStyle/>
          <a:p>
            <a:r>
              <a:rPr lang="en-US" sz="2000" dirty="0"/>
              <a:t>👍 Recall_m1 = 0.8</a:t>
            </a:r>
          </a:p>
        </p:txBody>
      </p:sp>
      <p:sp>
        <p:nvSpPr>
          <p:cNvPr id="8" name="TextBox 7">
            <a:extLst>
              <a:ext uri="{FF2B5EF4-FFF2-40B4-BE49-F238E27FC236}">
                <a16:creationId xmlns:a16="http://schemas.microsoft.com/office/drawing/2014/main" id="{C2DD5F5B-77A8-9894-72E2-731C8F86BB35}"/>
              </a:ext>
            </a:extLst>
          </p:cNvPr>
          <p:cNvSpPr txBox="1"/>
          <p:nvPr/>
        </p:nvSpPr>
        <p:spPr>
          <a:xfrm>
            <a:off x="3853721" y="6139934"/>
            <a:ext cx="2737579" cy="400110"/>
          </a:xfrm>
          <a:prstGeom prst="rect">
            <a:avLst/>
          </a:prstGeom>
          <a:noFill/>
        </p:spPr>
        <p:txBody>
          <a:bodyPr wrap="square">
            <a:spAutoFit/>
          </a:bodyPr>
          <a:lstStyle/>
          <a:p>
            <a:r>
              <a:rPr lang="en-US" sz="2000" dirty="0"/>
              <a:t>👎 Recall_m2 = 0.48</a:t>
            </a:r>
          </a:p>
        </p:txBody>
      </p:sp>
      <p:pic>
        <p:nvPicPr>
          <p:cNvPr id="7" name="Рисунок 6" descr="Изображение выглядит как текст, Шрифт, белый, число&#10;&#10;Контент, сгенерированный ИИ, может содержать ошибки.">
            <a:extLst>
              <a:ext uri="{FF2B5EF4-FFF2-40B4-BE49-F238E27FC236}">
                <a16:creationId xmlns:a16="http://schemas.microsoft.com/office/drawing/2014/main" id="{166A0FED-C35B-F23C-EE2E-E386B3243449}"/>
              </a:ext>
            </a:extLst>
          </p:cNvPr>
          <p:cNvPicPr>
            <a:picLocks noChangeAspect="1"/>
          </p:cNvPicPr>
          <p:nvPr/>
        </p:nvPicPr>
        <p:blipFill>
          <a:blip r:embed="rId3"/>
          <a:stretch>
            <a:fillRect/>
          </a:stretch>
        </p:blipFill>
        <p:spPr>
          <a:xfrm>
            <a:off x="7329613" y="3429000"/>
            <a:ext cx="3509231" cy="1086729"/>
          </a:xfrm>
          <a:prstGeom prst="rect">
            <a:avLst/>
          </a:prstGeom>
        </p:spPr>
      </p:pic>
      <p:pic>
        <p:nvPicPr>
          <p:cNvPr id="9" name="Рисунок 8">
            <a:extLst>
              <a:ext uri="{FF2B5EF4-FFF2-40B4-BE49-F238E27FC236}">
                <a16:creationId xmlns:a16="http://schemas.microsoft.com/office/drawing/2014/main" id="{7E8BC324-7429-C210-AC1C-184DC25F9E16}"/>
              </a:ext>
            </a:extLst>
          </p:cNvPr>
          <p:cNvPicPr>
            <a:picLocks noChangeAspect="1"/>
          </p:cNvPicPr>
          <p:nvPr/>
        </p:nvPicPr>
        <p:blipFill>
          <a:blip r:embed="rId4"/>
          <a:stretch>
            <a:fillRect/>
          </a:stretch>
        </p:blipFill>
        <p:spPr>
          <a:xfrm>
            <a:off x="895453" y="3263706"/>
            <a:ext cx="5856989" cy="2860840"/>
          </a:xfrm>
          <a:prstGeom prst="rect">
            <a:avLst/>
          </a:prstGeom>
        </p:spPr>
      </p:pic>
    </p:spTree>
    <p:extLst>
      <p:ext uri="{BB962C8B-B14F-4D97-AF65-F5344CB8AC3E}">
        <p14:creationId xmlns:p14="http://schemas.microsoft.com/office/powerpoint/2010/main" val="4048409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6AC23-A1CF-D51D-012E-B62A7F43A25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AAC924-B573-7900-65A8-26EACDD2C7C3}"/>
              </a:ext>
            </a:extLst>
          </p:cNvPr>
          <p:cNvSpPr>
            <a:spLocks noGrp="1"/>
          </p:cNvSpPr>
          <p:nvPr>
            <p:ph type="title"/>
          </p:nvPr>
        </p:nvSpPr>
        <p:spPr/>
        <p:txBody>
          <a:bodyPr>
            <a:normAutofit/>
          </a:bodyPr>
          <a:lstStyle/>
          <a:p>
            <a:r>
              <a:rPr lang="en-US" b="1" dirty="0">
                <a:solidFill>
                  <a:srgbClr val="000000"/>
                </a:solidFill>
                <a:latin typeface="Helvetica" pitchFamily="2" charset="0"/>
              </a:rPr>
              <a:t>Recall</a:t>
            </a:r>
            <a:endParaRPr lang="en-US" b="1" dirty="0">
              <a:solidFill>
                <a:srgbClr val="000000"/>
              </a:solidFill>
              <a:effectLst/>
              <a:latin typeface="Helvetica" pitchFamily="2" charset="0"/>
            </a:endParaRPr>
          </a:p>
        </p:txBody>
      </p:sp>
      <p:sp>
        <p:nvSpPr>
          <p:cNvPr id="4" name="Объект 3">
            <a:extLst>
              <a:ext uri="{FF2B5EF4-FFF2-40B4-BE49-F238E27FC236}">
                <a16:creationId xmlns:a16="http://schemas.microsoft.com/office/drawing/2014/main" id="{1460C590-A681-692C-E950-5A31E2C37DEE}"/>
              </a:ext>
            </a:extLst>
          </p:cNvPr>
          <p:cNvSpPr>
            <a:spLocks noGrp="1"/>
          </p:cNvSpPr>
          <p:nvPr>
            <p:ph idx="1"/>
          </p:nvPr>
        </p:nvSpPr>
        <p:spPr>
          <a:xfrm>
            <a:off x="838200" y="1825626"/>
            <a:ext cx="10329472" cy="1086729"/>
          </a:xfrm>
        </p:spPr>
        <p:txBody>
          <a:bodyPr>
            <a:normAutofit/>
          </a:bodyPr>
          <a:lstStyle/>
          <a:p>
            <a:pPr marL="0" indent="0">
              <a:buNone/>
            </a:pPr>
            <a:r>
              <a:rPr lang="ru-RU" sz="2200" dirty="0"/>
              <a:t>Как много кредитоспособных клиентов (тех, кто вернет кредит) находят модели?</a:t>
            </a:r>
            <a:br>
              <a:rPr lang="ru-RU" sz="2200" dirty="0"/>
            </a:br>
            <a:r>
              <a:rPr lang="ru-RU" sz="2200" dirty="0"/>
              <a:t>Среди всех клиентов, кто вернет кредит, посчитаем долю клиентов, которым модель выдала кредит</a:t>
            </a:r>
          </a:p>
          <a:p>
            <a:pPr marL="0" indent="0">
              <a:buNone/>
            </a:pPr>
            <a:endParaRPr lang="ru-RU" dirty="0"/>
          </a:p>
        </p:txBody>
      </p:sp>
      <p:sp>
        <p:nvSpPr>
          <p:cNvPr id="6" name="TextBox 5">
            <a:extLst>
              <a:ext uri="{FF2B5EF4-FFF2-40B4-BE49-F238E27FC236}">
                <a16:creationId xmlns:a16="http://schemas.microsoft.com/office/drawing/2014/main" id="{3E5A2E20-00EB-9E74-4B2A-5A7EB7E6F144}"/>
              </a:ext>
            </a:extLst>
          </p:cNvPr>
          <p:cNvSpPr txBox="1"/>
          <p:nvPr/>
        </p:nvSpPr>
        <p:spPr>
          <a:xfrm>
            <a:off x="1083575" y="6139934"/>
            <a:ext cx="2597462" cy="400110"/>
          </a:xfrm>
          <a:prstGeom prst="rect">
            <a:avLst/>
          </a:prstGeom>
          <a:noFill/>
        </p:spPr>
        <p:txBody>
          <a:bodyPr wrap="square" rtlCol="0">
            <a:spAutoFit/>
          </a:bodyPr>
          <a:lstStyle/>
          <a:p>
            <a:r>
              <a:rPr lang="en-US" sz="2000" dirty="0"/>
              <a:t>👍 Recall_m1 = 0.8</a:t>
            </a:r>
          </a:p>
        </p:txBody>
      </p:sp>
      <p:sp>
        <p:nvSpPr>
          <p:cNvPr id="8" name="TextBox 7">
            <a:extLst>
              <a:ext uri="{FF2B5EF4-FFF2-40B4-BE49-F238E27FC236}">
                <a16:creationId xmlns:a16="http://schemas.microsoft.com/office/drawing/2014/main" id="{E318F8E9-6614-A884-5AE6-0AEB8B443138}"/>
              </a:ext>
            </a:extLst>
          </p:cNvPr>
          <p:cNvSpPr txBox="1"/>
          <p:nvPr/>
        </p:nvSpPr>
        <p:spPr>
          <a:xfrm>
            <a:off x="3853721" y="6139934"/>
            <a:ext cx="2737579" cy="400110"/>
          </a:xfrm>
          <a:prstGeom prst="rect">
            <a:avLst/>
          </a:prstGeom>
          <a:noFill/>
        </p:spPr>
        <p:txBody>
          <a:bodyPr wrap="square">
            <a:spAutoFit/>
          </a:bodyPr>
          <a:lstStyle/>
          <a:p>
            <a:r>
              <a:rPr lang="en-US" sz="2000" dirty="0"/>
              <a:t>👎 Recall_m2 = 0.48</a:t>
            </a:r>
          </a:p>
        </p:txBody>
      </p:sp>
      <p:pic>
        <p:nvPicPr>
          <p:cNvPr id="7" name="Рисунок 6" descr="Изображение выглядит как текст, Шрифт, белый, число&#10;&#10;Контент, сгенерированный ИИ, может содержать ошибки.">
            <a:extLst>
              <a:ext uri="{FF2B5EF4-FFF2-40B4-BE49-F238E27FC236}">
                <a16:creationId xmlns:a16="http://schemas.microsoft.com/office/drawing/2014/main" id="{B76A2822-E9D2-5C27-5E8E-4284EFF0ED6C}"/>
              </a:ext>
            </a:extLst>
          </p:cNvPr>
          <p:cNvPicPr>
            <a:picLocks noChangeAspect="1"/>
          </p:cNvPicPr>
          <p:nvPr/>
        </p:nvPicPr>
        <p:blipFill>
          <a:blip r:embed="rId3"/>
          <a:stretch>
            <a:fillRect/>
          </a:stretch>
        </p:blipFill>
        <p:spPr>
          <a:xfrm>
            <a:off x="7329613" y="3429000"/>
            <a:ext cx="3509231" cy="1086729"/>
          </a:xfrm>
          <a:prstGeom prst="rect">
            <a:avLst/>
          </a:prstGeom>
        </p:spPr>
      </p:pic>
      <p:pic>
        <p:nvPicPr>
          <p:cNvPr id="9" name="Рисунок 8">
            <a:extLst>
              <a:ext uri="{FF2B5EF4-FFF2-40B4-BE49-F238E27FC236}">
                <a16:creationId xmlns:a16="http://schemas.microsoft.com/office/drawing/2014/main" id="{4A1FFB06-474A-4A4F-24F5-DFD20538767B}"/>
              </a:ext>
            </a:extLst>
          </p:cNvPr>
          <p:cNvPicPr>
            <a:picLocks noChangeAspect="1"/>
          </p:cNvPicPr>
          <p:nvPr/>
        </p:nvPicPr>
        <p:blipFill>
          <a:blip r:embed="rId4"/>
          <a:stretch>
            <a:fillRect/>
          </a:stretch>
        </p:blipFill>
        <p:spPr>
          <a:xfrm>
            <a:off x="895453" y="3263706"/>
            <a:ext cx="5856989" cy="2860840"/>
          </a:xfrm>
          <a:prstGeom prst="rect">
            <a:avLst/>
          </a:prstGeom>
        </p:spPr>
      </p:pic>
    </p:spTree>
    <p:extLst>
      <p:ext uri="{BB962C8B-B14F-4D97-AF65-F5344CB8AC3E}">
        <p14:creationId xmlns:p14="http://schemas.microsoft.com/office/powerpoint/2010/main" val="270004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920DF-EE59-30B6-384B-A762B9C8341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4FC67B-329A-7B6B-B733-371188A06CA4}"/>
              </a:ext>
            </a:extLst>
          </p:cNvPr>
          <p:cNvSpPr>
            <a:spLocks noGrp="1"/>
          </p:cNvSpPr>
          <p:nvPr>
            <p:ph type="title"/>
          </p:nvPr>
        </p:nvSpPr>
        <p:spPr/>
        <p:txBody>
          <a:bodyPr>
            <a:normAutofit/>
          </a:bodyPr>
          <a:lstStyle/>
          <a:p>
            <a:r>
              <a:rPr lang="en-US" b="1" dirty="0">
                <a:solidFill>
                  <a:srgbClr val="000000"/>
                </a:solidFill>
                <a:latin typeface="Helvetica" pitchFamily="2" charset="0"/>
              </a:rPr>
              <a:t>Precision </a:t>
            </a:r>
            <a:r>
              <a:rPr lang="ru-RU" b="1" dirty="0">
                <a:solidFill>
                  <a:srgbClr val="000000"/>
                </a:solidFill>
                <a:latin typeface="Helvetica" pitchFamily="2" charset="0"/>
              </a:rPr>
              <a:t>и </a:t>
            </a:r>
            <a:r>
              <a:rPr lang="en-US" b="1" dirty="0">
                <a:solidFill>
                  <a:srgbClr val="000000"/>
                </a:solidFill>
                <a:latin typeface="Helvetica" pitchFamily="2" charset="0"/>
              </a:rPr>
              <a:t>Recall</a:t>
            </a:r>
            <a:endParaRPr lang="en-US" b="1" dirty="0">
              <a:solidFill>
                <a:srgbClr val="000000"/>
              </a:solidFill>
              <a:effectLst/>
              <a:latin typeface="Helvetica" pitchFamily="2" charset="0"/>
            </a:endParaRPr>
          </a:p>
        </p:txBody>
      </p:sp>
      <p:sp>
        <p:nvSpPr>
          <p:cNvPr id="4" name="Объект 3">
            <a:extLst>
              <a:ext uri="{FF2B5EF4-FFF2-40B4-BE49-F238E27FC236}">
                <a16:creationId xmlns:a16="http://schemas.microsoft.com/office/drawing/2014/main" id="{D8770DA6-3C83-8E4C-B736-B9044D6C8B7B}"/>
              </a:ext>
            </a:extLst>
          </p:cNvPr>
          <p:cNvSpPr>
            <a:spLocks noGrp="1"/>
          </p:cNvSpPr>
          <p:nvPr>
            <p:ph idx="1"/>
          </p:nvPr>
        </p:nvSpPr>
        <p:spPr>
          <a:xfrm>
            <a:off x="838200" y="1825625"/>
            <a:ext cx="10329472" cy="3869321"/>
          </a:xfrm>
        </p:spPr>
        <p:txBody>
          <a:bodyPr>
            <a:normAutofit/>
          </a:bodyPr>
          <a:lstStyle/>
          <a:p>
            <a:pPr marL="0" indent="0">
              <a:buNone/>
            </a:pPr>
            <a:r>
              <a:rPr lang="ru-RU" sz="2200" dirty="0"/>
              <a:t>Нельзя однозначно ответить,  какая из этих двух моделей лучше. Возможно, банку, выдающему кредиты, важно выдавать кредиты только тем, кто их вернёт, и не выдавать кредиты тем, кто не вернет - тогда нужна высокая точность (</a:t>
            </a:r>
            <a:r>
              <a:rPr lang="en-US" sz="2200" b="1" dirty="0"/>
              <a:t>precision</a:t>
            </a:r>
            <a:r>
              <a:rPr lang="en-US" sz="2200" dirty="0"/>
              <a:t>). </a:t>
            </a:r>
            <a:r>
              <a:rPr lang="ru-RU" sz="2200" dirty="0"/>
              <a:t>А если же банк хочет выдать кредиты наибольшему количеству клиентов, кто теоретически может вернуть кредит - максимизируется полнота (</a:t>
            </a:r>
            <a:r>
              <a:rPr lang="en-US" sz="2200" b="1" dirty="0"/>
              <a:t>recall</a:t>
            </a:r>
            <a:r>
              <a:rPr lang="en-US" sz="2200" dirty="0"/>
              <a:t>).</a:t>
            </a:r>
            <a:endParaRPr lang="ru-RU" sz="2200" dirty="0"/>
          </a:p>
          <a:p>
            <a:pPr marL="0" indent="0">
              <a:buNone/>
            </a:pPr>
            <a:endParaRPr lang="en-US" sz="2200" dirty="0"/>
          </a:p>
          <a:p>
            <a:pPr marL="0" indent="0">
              <a:buNone/>
            </a:pPr>
            <a:r>
              <a:rPr lang="ru-RU" sz="2200" b="1" dirty="0"/>
              <a:t>Так что метрика выбирается,  исходя из требований заказчика!</a:t>
            </a:r>
            <a:endParaRPr lang="ru-RU" sz="2200" dirty="0"/>
          </a:p>
        </p:txBody>
      </p:sp>
    </p:spTree>
    <p:extLst>
      <p:ext uri="{BB962C8B-B14F-4D97-AF65-F5344CB8AC3E}">
        <p14:creationId xmlns:p14="http://schemas.microsoft.com/office/powerpoint/2010/main" val="2318367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40CEE-2DC7-9463-2086-536D138F1079}"/>
            </a:ext>
          </a:extLst>
        </p:cNvPr>
        <p:cNvGrpSpPr/>
        <p:nvPr/>
      </p:nvGrpSpPr>
      <p:grpSpPr>
        <a:xfrm>
          <a:off x="0" y="0"/>
          <a:ext cx="0" cy="0"/>
          <a:chOff x="0" y="0"/>
          <a:chExt cx="0" cy="0"/>
        </a:xfrm>
      </p:grpSpPr>
      <p:pic>
        <p:nvPicPr>
          <p:cNvPr id="9" name="Рисунок 8">
            <a:extLst>
              <a:ext uri="{FF2B5EF4-FFF2-40B4-BE49-F238E27FC236}">
                <a16:creationId xmlns:a16="http://schemas.microsoft.com/office/drawing/2014/main" id="{A222BF44-62B8-B3A4-2BC3-48475EEE7B02}"/>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801693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74BA5-D25E-38CC-9568-CDFC97D9DAC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0E6901-1903-C27F-4A28-757B11C97F39}"/>
              </a:ext>
            </a:extLst>
          </p:cNvPr>
          <p:cNvSpPr>
            <a:spLocks noGrp="1"/>
          </p:cNvSpPr>
          <p:nvPr>
            <p:ph type="title"/>
          </p:nvPr>
        </p:nvSpPr>
        <p:spPr/>
        <p:txBody>
          <a:bodyPr>
            <a:normAutofit/>
          </a:bodyPr>
          <a:lstStyle/>
          <a:p>
            <a:r>
              <a:rPr lang="en-US" b="1" dirty="0">
                <a:solidFill>
                  <a:srgbClr val="000000"/>
                </a:solidFill>
                <a:latin typeface="Helvetica" pitchFamily="2" charset="0"/>
              </a:rPr>
              <a:t>Precision </a:t>
            </a:r>
            <a:r>
              <a:rPr lang="ru-RU" b="1" dirty="0">
                <a:solidFill>
                  <a:srgbClr val="000000"/>
                </a:solidFill>
                <a:latin typeface="Helvetica" pitchFamily="2" charset="0"/>
              </a:rPr>
              <a:t>и </a:t>
            </a:r>
            <a:r>
              <a:rPr lang="en-US" b="1" dirty="0">
                <a:solidFill>
                  <a:srgbClr val="000000"/>
                </a:solidFill>
                <a:latin typeface="Helvetica" pitchFamily="2" charset="0"/>
              </a:rPr>
              <a:t>Recall</a:t>
            </a:r>
            <a:endParaRPr lang="en-US" b="1" dirty="0">
              <a:solidFill>
                <a:srgbClr val="000000"/>
              </a:solidFill>
              <a:effectLst/>
              <a:latin typeface="Helvetica" pitchFamily="2" charset="0"/>
            </a:endParaRPr>
          </a:p>
        </p:txBody>
      </p:sp>
      <p:sp>
        <p:nvSpPr>
          <p:cNvPr id="4" name="Объект 3">
            <a:extLst>
              <a:ext uri="{FF2B5EF4-FFF2-40B4-BE49-F238E27FC236}">
                <a16:creationId xmlns:a16="http://schemas.microsoft.com/office/drawing/2014/main" id="{ACFA2FF0-094F-428D-CA7D-D1E6C1D621BC}"/>
              </a:ext>
            </a:extLst>
          </p:cNvPr>
          <p:cNvSpPr>
            <a:spLocks noGrp="1"/>
          </p:cNvSpPr>
          <p:nvPr>
            <p:ph idx="1"/>
          </p:nvPr>
        </p:nvSpPr>
        <p:spPr>
          <a:xfrm>
            <a:off x="838200" y="1825625"/>
            <a:ext cx="10329472" cy="1719679"/>
          </a:xfrm>
        </p:spPr>
        <p:txBody>
          <a:bodyPr>
            <a:normAutofit/>
          </a:bodyPr>
          <a:lstStyle/>
          <a:p>
            <a:pPr marL="0" indent="0">
              <a:buNone/>
            </a:pPr>
            <a:r>
              <a:rPr lang="ru-RU" sz="2400" dirty="0"/>
              <a:t>Иногда важно, чтобы и точность, и полнота были побольше, при этом нет отдельных требований к точности и полноте. Тогда, конечно, можно использовать </a:t>
            </a:r>
            <a:r>
              <a:rPr lang="en-US" sz="2400" dirty="0"/>
              <a:t>accuracy. </a:t>
            </a:r>
          </a:p>
          <a:p>
            <a:pPr marL="0" indent="0">
              <a:buNone/>
            </a:pPr>
            <a:r>
              <a:rPr lang="ru-RU" sz="2400" dirty="0"/>
              <a:t>Но как считать качество, если данные </a:t>
            </a:r>
            <a:r>
              <a:rPr lang="ru-RU" sz="2400" b="1" dirty="0" err="1"/>
              <a:t>несбалансированы</a:t>
            </a:r>
            <a:r>
              <a:rPr lang="ru-RU" sz="2400" dirty="0"/>
              <a:t>? </a:t>
            </a:r>
          </a:p>
        </p:txBody>
      </p:sp>
    </p:spTree>
    <p:extLst>
      <p:ext uri="{BB962C8B-B14F-4D97-AF65-F5344CB8AC3E}">
        <p14:creationId xmlns:p14="http://schemas.microsoft.com/office/powerpoint/2010/main" val="3748931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473F10B6-C689-D63D-CAB8-6BEB718D1742}"/>
              </a:ext>
            </a:extLst>
          </p:cNvPr>
          <p:cNvPicPr>
            <a:picLocks noChangeAspect="1"/>
          </p:cNvPicPr>
          <p:nvPr/>
        </p:nvPicPr>
        <p:blipFill>
          <a:blip r:embed="rId3"/>
          <a:stretch>
            <a:fillRect/>
          </a:stretch>
        </p:blipFill>
        <p:spPr>
          <a:xfrm>
            <a:off x="0" y="0"/>
            <a:ext cx="12192000" cy="6858001"/>
          </a:xfrm>
          <a:prstGeom prst="rect">
            <a:avLst/>
          </a:prstGeom>
        </p:spPr>
      </p:pic>
      <p:sp>
        <p:nvSpPr>
          <p:cNvPr id="4" name="TextBox 3">
            <a:extLst>
              <a:ext uri="{FF2B5EF4-FFF2-40B4-BE49-F238E27FC236}">
                <a16:creationId xmlns:a16="http://schemas.microsoft.com/office/drawing/2014/main" id="{A968B1F4-9BE3-B772-2450-7A7DC0BBF7E3}"/>
              </a:ext>
            </a:extLst>
          </p:cNvPr>
          <p:cNvSpPr txBox="1"/>
          <p:nvPr/>
        </p:nvSpPr>
        <p:spPr>
          <a:xfrm>
            <a:off x="6721643" y="6488668"/>
            <a:ext cx="5470358" cy="369332"/>
          </a:xfrm>
          <a:prstGeom prst="rect">
            <a:avLst/>
          </a:prstGeom>
          <a:noFill/>
        </p:spPr>
        <p:txBody>
          <a:bodyPr wrap="square" rtlCol="0">
            <a:spAutoFit/>
          </a:bodyPr>
          <a:lstStyle/>
          <a:p>
            <a:r>
              <a:rPr lang="ru-RU" dirty="0">
                <a:hlinkClick r:id="rId4"/>
              </a:rPr>
              <a:t>Про то почему в </a:t>
            </a:r>
            <a:r>
              <a:rPr lang="en-US" dirty="0">
                <a:hlinkClick r:id="rId4"/>
              </a:rPr>
              <a:t>f1 </a:t>
            </a:r>
            <a:r>
              <a:rPr lang="ru-RU" dirty="0">
                <a:hlinkClick r:id="rId4"/>
              </a:rPr>
              <a:t>именно гармоническое среднее</a:t>
            </a:r>
            <a:endParaRPr lang="ru-GB" dirty="0"/>
          </a:p>
        </p:txBody>
      </p:sp>
    </p:spTree>
    <p:extLst>
      <p:ext uri="{BB962C8B-B14F-4D97-AF65-F5344CB8AC3E}">
        <p14:creationId xmlns:p14="http://schemas.microsoft.com/office/powerpoint/2010/main" val="1545745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B346E6-0F15-425E-B0B0-D50D268308E3}"/>
              </a:ext>
            </a:extLst>
          </p:cNvPr>
          <p:cNvSpPr>
            <a:spLocks noGrp="1"/>
          </p:cNvSpPr>
          <p:nvPr>
            <p:ph type="title"/>
          </p:nvPr>
        </p:nvSpPr>
        <p:spPr/>
        <p:txBody>
          <a:bodyPr/>
          <a:lstStyle/>
          <a:p>
            <a:r>
              <a:rPr lang="en-US" b="1" dirty="0"/>
              <a:t>ROC-AUC</a:t>
            </a:r>
            <a:endParaRPr lang="ru-GB" b="1" dirty="0"/>
          </a:p>
        </p:txBody>
      </p:sp>
      <p:sp>
        <p:nvSpPr>
          <p:cNvPr id="3" name="Объект 2">
            <a:extLst>
              <a:ext uri="{FF2B5EF4-FFF2-40B4-BE49-F238E27FC236}">
                <a16:creationId xmlns:a16="http://schemas.microsoft.com/office/drawing/2014/main" id="{C3075626-B934-7367-CF97-D3E1A10FEC00}"/>
              </a:ext>
            </a:extLst>
          </p:cNvPr>
          <p:cNvSpPr>
            <a:spLocks noGrp="1"/>
          </p:cNvSpPr>
          <p:nvPr>
            <p:ph idx="1"/>
          </p:nvPr>
        </p:nvSpPr>
        <p:spPr>
          <a:xfrm>
            <a:off x="838200" y="1825625"/>
            <a:ext cx="4712368" cy="516522"/>
          </a:xfrm>
        </p:spPr>
        <p:txBody>
          <a:bodyPr/>
          <a:lstStyle/>
          <a:p>
            <a:pPr marL="0" indent="0">
              <a:buNone/>
            </a:pPr>
            <a:r>
              <a:rPr lang="ru-RU" b="1" i="0" dirty="0">
                <a:solidFill>
                  <a:srgbClr val="222222"/>
                </a:solidFill>
                <a:effectLst/>
                <a:latin typeface="Roboto" panose="02000000000000000000" pitchFamily="2" charset="0"/>
              </a:rPr>
              <a:t>Интегральные метрики</a:t>
            </a:r>
            <a:endParaRPr lang="ru-GB" dirty="0"/>
          </a:p>
        </p:txBody>
      </p:sp>
      <p:pic>
        <p:nvPicPr>
          <p:cNvPr id="6" name="Рисунок 5">
            <a:extLst>
              <a:ext uri="{FF2B5EF4-FFF2-40B4-BE49-F238E27FC236}">
                <a16:creationId xmlns:a16="http://schemas.microsoft.com/office/drawing/2014/main" id="{144F901A-376F-0525-5EC9-9B1C5A66FC9D}"/>
              </a:ext>
            </a:extLst>
          </p:cNvPr>
          <p:cNvPicPr>
            <a:picLocks noChangeAspect="1"/>
          </p:cNvPicPr>
          <p:nvPr/>
        </p:nvPicPr>
        <p:blipFill>
          <a:blip r:embed="rId3"/>
          <a:stretch>
            <a:fillRect/>
          </a:stretch>
        </p:blipFill>
        <p:spPr>
          <a:xfrm>
            <a:off x="1070932" y="2768738"/>
            <a:ext cx="6565109" cy="3190863"/>
          </a:xfrm>
          <a:prstGeom prst="rect">
            <a:avLst/>
          </a:prstGeom>
        </p:spPr>
      </p:pic>
    </p:spTree>
    <p:extLst>
      <p:ext uri="{BB962C8B-B14F-4D97-AF65-F5344CB8AC3E}">
        <p14:creationId xmlns:p14="http://schemas.microsoft.com/office/powerpoint/2010/main" val="3869920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1860F-EA79-2B35-DCE0-5073BB6989D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1C6023-102E-5AE1-D41B-8D069636856A}"/>
              </a:ext>
            </a:extLst>
          </p:cNvPr>
          <p:cNvSpPr>
            <a:spLocks noGrp="1"/>
          </p:cNvSpPr>
          <p:nvPr>
            <p:ph type="title"/>
          </p:nvPr>
        </p:nvSpPr>
        <p:spPr/>
        <p:txBody>
          <a:bodyPr/>
          <a:lstStyle/>
          <a:p>
            <a:r>
              <a:rPr lang="en-US" b="1" dirty="0"/>
              <a:t>ROC-AUC</a:t>
            </a:r>
            <a:endParaRPr lang="ru-GB" b="1" dirty="0"/>
          </a:p>
        </p:txBody>
      </p:sp>
      <p:sp>
        <p:nvSpPr>
          <p:cNvPr id="5" name="TextBox 4">
            <a:extLst>
              <a:ext uri="{FF2B5EF4-FFF2-40B4-BE49-F238E27FC236}">
                <a16:creationId xmlns:a16="http://schemas.microsoft.com/office/drawing/2014/main" id="{F6AFC4CA-B96E-B0AE-7884-7F68241A21A8}"/>
              </a:ext>
            </a:extLst>
          </p:cNvPr>
          <p:cNvSpPr txBox="1"/>
          <p:nvPr/>
        </p:nvSpPr>
        <p:spPr>
          <a:xfrm>
            <a:off x="978568" y="2630905"/>
            <a:ext cx="184731" cy="369332"/>
          </a:xfrm>
          <a:prstGeom prst="rect">
            <a:avLst/>
          </a:prstGeom>
          <a:noFill/>
        </p:spPr>
        <p:txBody>
          <a:bodyPr wrap="none" rtlCol="0">
            <a:spAutoFit/>
          </a:bodyPr>
          <a:lstStyle/>
          <a:p>
            <a:endParaRPr lang="ru-GB" dirty="0"/>
          </a:p>
        </p:txBody>
      </p:sp>
      <p:pic>
        <p:nvPicPr>
          <p:cNvPr id="4" name="Рисунок 3">
            <a:extLst>
              <a:ext uri="{FF2B5EF4-FFF2-40B4-BE49-F238E27FC236}">
                <a16:creationId xmlns:a16="http://schemas.microsoft.com/office/drawing/2014/main" id="{4A1A6671-FD42-8E9B-7CEF-7372E565E879}"/>
              </a:ext>
            </a:extLst>
          </p:cNvPr>
          <p:cNvPicPr>
            <a:picLocks noChangeAspect="1"/>
          </p:cNvPicPr>
          <p:nvPr/>
        </p:nvPicPr>
        <p:blipFill>
          <a:blip r:embed="rId3"/>
          <a:stretch>
            <a:fillRect/>
          </a:stretch>
        </p:blipFill>
        <p:spPr>
          <a:xfrm>
            <a:off x="978567" y="2630904"/>
            <a:ext cx="3400927" cy="3165219"/>
          </a:xfrm>
          <a:prstGeom prst="rect">
            <a:avLst/>
          </a:prstGeom>
        </p:spPr>
      </p:pic>
    </p:spTree>
    <p:extLst>
      <p:ext uri="{BB962C8B-B14F-4D97-AF65-F5344CB8AC3E}">
        <p14:creationId xmlns:p14="http://schemas.microsoft.com/office/powerpoint/2010/main" val="2950860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EFF27-F396-A10E-C2F3-E4929FE1431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AD2191-A9BC-D4EE-A527-6E2A6AD27EB1}"/>
              </a:ext>
            </a:extLst>
          </p:cNvPr>
          <p:cNvSpPr>
            <a:spLocks noGrp="1"/>
          </p:cNvSpPr>
          <p:nvPr>
            <p:ph type="title"/>
          </p:nvPr>
        </p:nvSpPr>
        <p:spPr/>
        <p:txBody>
          <a:bodyPr/>
          <a:lstStyle/>
          <a:p>
            <a:r>
              <a:rPr lang="en-US" b="1" dirty="0"/>
              <a:t>ROC-AUC</a:t>
            </a:r>
            <a:endParaRPr lang="ru-GB" b="1" dirty="0"/>
          </a:p>
        </p:txBody>
      </p:sp>
      <p:sp>
        <p:nvSpPr>
          <p:cNvPr id="5" name="TextBox 4">
            <a:extLst>
              <a:ext uri="{FF2B5EF4-FFF2-40B4-BE49-F238E27FC236}">
                <a16:creationId xmlns:a16="http://schemas.microsoft.com/office/drawing/2014/main" id="{CB5C73C2-7394-1033-6520-EE88A97A15BA}"/>
              </a:ext>
            </a:extLst>
          </p:cNvPr>
          <p:cNvSpPr txBox="1"/>
          <p:nvPr/>
        </p:nvSpPr>
        <p:spPr>
          <a:xfrm>
            <a:off x="978568" y="2630905"/>
            <a:ext cx="184731" cy="369332"/>
          </a:xfrm>
          <a:prstGeom prst="rect">
            <a:avLst/>
          </a:prstGeom>
          <a:noFill/>
        </p:spPr>
        <p:txBody>
          <a:bodyPr wrap="none" rtlCol="0">
            <a:spAutoFit/>
          </a:bodyPr>
          <a:lstStyle/>
          <a:p>
            <a:endParaRPr lang="ru-GB" dirty="0"/>
          </a:p>
        </p:txBody>
      </p:sp>
      <p:sp>
        <p:nvSpPr>
          <p:cNvPr id="9" name="Объект 8">
            <a:extLst>
              <a:ext uri="{FF2B5EF4-FFF2-40B4-BE49-F238E27FC236}">
                <a16:creationId xmlns:a16="http://schemas.microsoft.com/office/drawing/2014/main" id="{28E47248-DEE6-9254-DCAC-157DE71249CD}"/>
              </a:ext>
            </a:extLst>
          </p:cNvPr>
          <p:cNvSpPr>
            <a:spLocks noGrp="1"/>
          </p:cNvSpPr>
          <p:nvPr>
            <p:ph idx="1"/>
          </p:nvPr>
        </p:nvSpPr>
        <p:spPr>
          <a:xfrm>
            <a:off x="838200" y="1825625"/>
            <a:ext cx="8546432" cy="2297196"/>
          </a:xfrm>
        </p:spPr>
        <p:txBody>
          <a:bodyPr/>
          <a:lstStyle/>
          <a:p>
            <a:pPr marL="0" indent="0">
              <a:buNone/>
            </a:pPr>
            <a:r>
              <a:rPr lang="ru-RU" dirty="0"/>
              <a:t>Алгоритм:</a:t>
            </a:r>
            <a:endParaRPr lang="en-US" dirty="0"/>
          </a:p>
          <a:p>
            <a:r>
              <a:rPr lang="ru-RU" dirty="0"/>
              <a:t>идем сверху вниз по отсортированной таблице;</a:t>
            </a:r>
          </a:p>
          <a:p>
            <a:r>
              <a:rPr lang="ru-RU" dirty="0"/>
              <a:t>если встречаем 1, то делаем шажок на 1 вверх;</a:t>
            </a:r>
          </a:p>
          <a:p>
            <a:r>
              <a:rPr lang="ru-RU" dirty="0"/>
              <a:t>если встречаем 0, то делаем шажок на 1 вправо.</a:t>
            </a:r>
          </a:p>
          <a:p>
            <a:pPr marL="0" indent="0">
              <a:buNone/>
            </a:pPr>
            <a:endParaRPr lang="ru-GB" dirty="0"/>
          </a:p>
        </p:txBody>
      </p:sp>
      <p:pic>
        <p:nvPicPr>
          <p:cNvPr id="10" name="Рисунок 9">
            <a:extLst>
              <a:ext uri="{FF2B5EF4-FFF2-40B4-BE49-F238E27FC236}">
                <a16:creationId xmlns:a16="http://schemas.microsoft.com/office/drawing/2014/main" id="{8C1C3CB2-6827-7078-F8F4-7BAC5474D1EB}"/>
              </a:ext>
            </a:extLst>
          </p:cNvPr>
          <p:cNvPicPr>
            <a:picLocks noChangeAspect="1"/>
          </p:cNvPicPr>
          <p:nvPr/>
        </p:nvPicPr>
        <p:blipFill>
          <a:blip r:embed="rId3"/>
          <a:stretch>
            <a:fillRect/>
          </a:stretch>
        </p:blipFill>
        <p:spPr>
          <a:xfrm>
            <a:off x="978568" y="4122821"/>
            <a:ext cx="4798595" cy="2152641"/>
          </a:xfrm>
          <a:prstGeom prst="rect">
            <a:avLst/>
          </a:prstGeom>
        </p:spPr>
      </p:pic>
    </p:spTree>
    <p:extLst>
      <p:ext uri="{BB962C8B-B14F-4D97-AF65-F5344CB8AC3E}">
        <p14:creationId xmlns:p14="http://schemas.microsoft.com/office/powerpoint/2010/main" val="521553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D8455-4160-0D43-7EDB-47E1CFB919A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E36B9E-010C-DE20-C13A-6F6D07B50E6F}"/>
              </a:ext>
            </a:extLst>
          </p:cNvPr>
          <p:cNvSpPr>
            <a:spLocks noGrp="1"/>
          </p:cNvSpPr>
          <p:nvPr>
            <p:ph type="title"/>
          </p:nvPr>
        </p:nvSpPr>
        <p:spPr/>
        <p:txBody>
          <a:bodyPr/>
          <a:lstStyle/>
          <a:p>
            <a:r>
              <a:rPr lang="en-US" b="1" dirty="0"/>
              <a:t>ROC-AUC</a:t>
            </a:r>
            <a:endParaRPr lang="ru-GB" b="1" dirty="0"/>
          </a:p>
        </p:txBody>
      </p:sp>
      <p:sp>
        <p:nvSpPr>
          <p:cNvPr id="5" name="TextBox 4">
            <a:extLst>
              <a:ext uri="{FF2B5EF4-FFF2-40B4-BE49-F238E27FC236}">
                <a16:creationId xmlns:a16="http://schemas.microsoft.com/office/drawing/2014/main" id="{68BF2A07-9855-F2C2-3BFD-2FE831B4652E}"/>
              </a:ext>
            </a:extLst>
          </p:cNvPr>
          <p:cNvSpPr txBox="1"/>
          <p:nvPr/>
        </p:nvSpPr>
        <p:spPr>
          <a:xfrm>
            <a:off x="978568" y="2630905"/>
            <a:ext cx="184731" cy="369332"/>
          </a:xfrm>
          <a:prstGeom prst="rect">
            <a:avLst/>
          </a:prstGeom>
          <a:noFill/>
        </p:spPr>
        <p:txBody>
          <a:bodyPr wrap="none" rtlCol="0">
            <a:spAutoFit/>
          </a:bodyPr>
          <a:lstStyle/>
          <a:p>
            <a:endParaRPr lang="ru-GB" dirty="0"/>
          </a:p>
        </p:txBody>
      </p:sp>
      <p:sp>
        <p:nvSpPr>
          <p:cNvPr id="9" name="Объект 8">
            <a:extLst>
              <a:ext uri="{FF2B5EF4-FFF2-40B4-BE49-F238E27FC236}">
                <a16:creationId xmlns:a16="http://schemas.microsoft.com/office/drawing/2014/main" id="{FA0192B1-FC2E-B3F9-3484-45964A322FD5}"/>
              </a:ext>
            </a:extLst>
          </p:cNvPr>
          <p:cNvSpPr>
            <a:spLocks noGrp="1"/>
          </p:cNvSpPr>
          <p:nvPr>
            <p:ph idx="1"/>
          </p:nvPr>
        </p:nvSpPr>
        <p:spPr>
          <a:xfrm>
            <a:off x="838200" y="1825625"/>
            <a:ext cx="8546432" cy="2297196"/>
          </a:xfrm>
        </p:spPr>
        <p:txBody>
          <a:bodyPr/>
          <a:lstStyle/>
          <a:p>
            <a:pPr marL="0" indent="0">
              <a:buNone/>
            </a:pPr>
            <a:r>
              <a:rPr lang="ru-RU" dirty="0"/>
              <a:t>Алгоритм:</a:t>
            </a:r>
            <a:endParaRPr lang="en-US" dirty="0"/>
          </a:p>
          <a:p>
            <a:r>
              <a:rPr lang="ru-RU" dirty="0"/>
              <a:t>идем сверху вниз по отсортированной таблице;</a:t>
            </a:r>
          </a:p>
          <a:p>
            <a:r>
              <a:rPr lang="ru-RU" dirty="0"/>
              <a:t>если встречаем 1, то делаем шажок на 1 вверх;</a:t>
            </a:r>
          </a:p>
          <a:p>
            <a:r>
              <a:rPr lang="ru-RU" dirty="0"/>
              <a:t>если встречаем 0, то делаем шажок на 1 вправо.</a:t>
            </a:r>
          </a:p>
          <a:p>
            <a:pPr marL="0" indent="0">
              <a:buNone/>
            </a:pPr>
            <a:endParaRPr lang="ru-GB" dirty="0"/>
          </a:p>
        </p:txBody>
      </p:sp>
      <p:pic>
        <p:nvPicPr>
          <p:cNvPr id="3" name="Рисунок 2">
            <a:extLst>
              <a:ext uri="{FF2B5EF4-FFF2-40B4-BE49-F238E27FC236}">
                <a16:creationId xmlns:a16="http://schemas.microsoft.com/office/drawing/2014/main" id="{0DFBFE35-9B07-A503-79A0-EB49D969506C}"/>
              </a:ext>
            </a:extLst>
          </p:cNvPr>
          <p:cNvPicPr>
            <a:picLocks noChangeAspect="1"/>
          </p:cNvPicPr>
          <p:nvPr/>
        </p:nvPicPr>
        <p:blipFill>
          <a:blip r:embed="rId3"/>
          <a:stretch>
            <a:fillRect/>
          </a:stretch>
        </p:blipFill>
        <p:spPr>
          <a:xfrm>
            <a:off x="838200" y="4256707"/>
            <a:ext cx="5257800" cy="2236168"/>
          </a:xfrm>
          <a:prstGeom prst="rect">
            <a:avLst/>
          </a:prstGeom>
        </p:spPr>
      </p:pic>
    </p:spTree>
    <p:extLst>
      <p:ext uri="{BB962C8B-B14F-4D97-AF65-F5344CB8AC3E}">
        <p14:creationId xmlns:p14="http://schemas.microsoft.com/office/powerpoint/2010/main" val="16426944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F7596-1FB4-9301-866B-8FA6F62A4D8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66BAB5-5E29-0295-4041-35422033C017}"/>
              </a:ext>
            </a:extLst>
          </p:cNvPr>
          <p:cNvSpPr>
            <a:spLocks noGrp="1"/>
          </p:cNvSpPr>
          <p:nvPr>
            <p:ph type="title"/>
          </p:nvPr>
        </p:nvSpPr>
        <p:spPr/>
        <p:txBody>
          <a:bodyPr/>
          <a:lstStyle/>
          <a:p>
            <a:r>
              <a:rPr lang="en-US" b="1" dirty="0"/>
              <a:t>ROC-AUC</a:t>
            </a:r>
            <a:endParaRPr lang="ru-GB" b="1" dirty="0"/>
          </a:p>
        </p:txBody>
      </p:sp>
      <p:sp>
        <p:nvSpPr>
          <p:cNvPr id="5" name="TextBox 4">
            <a:extLst>
              <a:ext uri="{FF2B5EF4-FFF2-40B4-BE49-F238E27FC236}">
                <a16:creationId xmlns:a16="http://schemas.microsoft.com/office/drawing/2014/main" id="{28FF067A-99E0-268C-FB80-62E5DA731B2B}"/>
              </a:ext>
            </a:extLst>
          </p:cNvPr>
          <p:cNvSpPr txBox="1"/>
          <p:nvPr/>
        </p:nvSpPr>
        <p:spPr>
          <a:xfrm>
            <a:off x="978568" y="2630905"/>
            <a:ext cx="184731" cy="369332"/>
          </a:xfrm>
          <a:prstGeom prst="rect">
            <a:avLst/>
          </a:prstGeom>
          <a:noFill/>
        </p:spPr>
        <p:txBody>
          <a:bodyPr wrap="none" rtlCol="0">
            <a:spAutoFit/>
          </a:bodyPr>
          <a:lstStyle/>
          <a:p>
            <a:endParaRPr lang="ru-GB" dirty="0"/>
          </a:p>
        </p:txBody>
      </p:sp>
      <p:sp>
        <p:nvSpPr>
          <p:cNvPr id="9" name="Объект 8">
            <a:extLst>
              <a:ext uri="{FF2B5EF4-FFF2-40B4-BE49-F238E27FC236}">
                <a16:creationId xmlns:a16="http://schemas.microsoft.com/office/drawing/2014/main" id="{9D280A33-04A3-036D-80D3-68DB3C6E57EF}"/>
              </a:ext>
            </a:extLst>
          </p:cNvPr>
          <p:cNvSpPr>
            <a:spLocks noGrp="1"/>
          </p:cNvSpPr>
          <p:nvPr>
            <p:ph idx="1"/>
          </p:nvPr>
        </p:nvSpPr>
        <p:spPr>
          <a:xfrm>
            <a:off x="838200" y="1825625"/>
            <a:ext cx="8546432" cy="2297196"/>
          </a:xfrm>
        </p:spPr>
        <p:txBody>
          <a:bodyPr/>
          <a:lstStyle/>
          <a:p>
            <a:pPr marL="0" indent="0">
              <a:buNone/>
            </a:pPr>
            <a:r>
              <a:rPr lang="ru-RU" dirty="0"/>
              <a:t>Алгоритм:</a:t>
            </a:r>
            <a:endParaRPr lang="en-US" dirty="0"/>
          </a:p>
          <a:p>
            <a:r>
              <a:rPr lang="ru-RU" dirty="0"/>
              <a:t>идем сверху вниз по отсортированной таблице;</a:t>
            </a:r>
          </a:p>
          <a:p>
            <a:r>
              <a:rPr lang="ru-RU" dirty="0"/>
              <a:t>если встречаем 1, то делаем шажок на 1 вверх;</a:t>
            </a:r>
          </a:p>
          <a:p>
            <a:r>
              <a:rPr lang="ru-RU" dirty="0"/>
              <a:t>если встречаем 0, то делаем шажок на 1 вправо.</a:t>
            </a:r>
          </a:p>
          <a:p>
            <a:pPr marL="0" indent="0">
              <a:buNone/>
            </a:pPr>
            <a:endParaRPr lang="ru-GB" dirty="0"/>
          </a:p>
        </p:txBody>
      </p:sp>
      <p:pic>
        <p:nvPicPr>
          <p:cNvPr id="4" name="Рисунок 3">
            <a:extLst>
              <a:ext uri="{FF2B5EF4-FFF2-40B4-BE49-F238E27FC236}">
                <a16:creationId xmlns:a16="http://schemas.microsoft.com/office/drawing/2014/main" id="{A7F62EAD-2086-3076-D5AD-93A919802595}"/>
              </a:ext>
            </a:extLst>
          </p:cNvPr>
          <p:cNvPicPr>
            <a:picLocks noChangeAspect="1"/>
          </p:cNvPicPr>
          <p:nvPr/>
        </p:nvPicPr>
        <p:blipFill>
          <a:blip r:embed="rId3"/>
          <a:stretch>
            <a:fillRect/>
          </a:stretch>
        </p:blipFill>
        <p:spPr>
          <a:xfrm>
            <a:off x="838200" y="4229321"/>
            <a:ext cx="5257800" cy="2263554"/>
          </a:xfrm>
          <a:prstGeom prst="rect">
            <a:avLst/>
          </a:prstGeom>
        </p:spPr>
      </p:pic>
      <p:pic>
        <p:nvPicPr>
          <p:cNvPr id="6" name="Рисунок 5">
            <a:extLst>
              <a:ext uri="{FF2B5EF4-FFF2-40B4-BE49-F238E27FC236}">
                <a16:creationId xmlns:a16="http://schemas.microsoft.com/office/drawing/2014/main" id="{DC417111-3AF9-68F4-C361-BA83B62E185D}"/>
              </a:ext>
            </a:extLst>
          </p:cNvPr>
          <p:cNvPicPr>
            <a:picLocks noChangeAspect="1"/>
          </p:cNvPicPr>
          <p:nvPr/>
        </p:nvPicPr>
        <p:blipFill>
          <a:blip r:embed="rId4"/>
          <a:stretch>
            <a:fillRect/>
          </a:stretch>
        </p:blipFill>
        <p:spPr>
          <a:xfrm>
            <a:off x="7950200" y="4257757"/>
            <a:ext cx="2268982" cy="2235117"/>
          </a:xfrm>
          <a:prstGeom prst="rect">
            <a:avLst/>
          </a:prstGeom>
        </p:spPr>
      </p:pic>
    </p:spTree>
    <p:extLst>
      <p:ext uri="{BB962C8B-B14F-4D97-AF65-F5344CB8AC3E}">
        <p14:creationId xmlns:p14="http://schemas.microsoft.com/office/powerpoint/2010/main" val="4281256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ED9F9-AD04-A76B-BDA1-7F04EA32218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7E19CE-6687-5ACE-A8BC-DF98AB4C55B2}"/>
              </a:ext>
            </a:extLst>
          </p:cNvPr>
          <p:cNvSpPr>
            <a:spLocks noGrp="1"/>
          </p:cNvSpPr>
          <p:nvPr>
            <p:ph type="title"/>
          </p:nvPr>
        </p:nvSpPr>
        <p:spPr/>
        <p:txBody>
          <a:bodyPr/>
          <a:lstStyle/>
          <a:p>
            <a:r>
              <a:rPr lang="en-US" b="1" dirty="0"/>
              <a:t>ROC-AUC</a:t>
            </a:r>
            <a:endParaRPr lang="ru-GB" b="1" dirty="0"/>
          </a:p>
        </p:txBody>
      </p:sp>
      <p:sp>
        <p:nvSpPr>
          <p:cNvPr id="5" name="TextBox 4">
            <a:extLst>
              <a:ext uri="{FF2B5EF4-FFF2-40B4-BE49-F238E27FC236}">
                <a16:creationId xmlns:a16="http://schemas.microsoft.com/office/drawing/2014/main" id="{21E4D99F-6C9F-B2CD-C7E0-75078CADE473}"/>
              </a:ext>
            </a:extLst>
          </p:cNvPr>
          <p:cNvSpPr txBox="1"/>
          <p:nvPr/>
        </p:nvSpPr>
        <p:spPr>
          <a:xfrm>
            <a:off x="978568" y="2630905"/>
            <a:ext cx="184731" cy="369332"/>
          </a:xfrm>
          <a:prstGeom prst="rect">
            <a:avLst/>
          </a:prstGeom>
          <a:noFill/>
        </p:spPr>
        <p:txBody>
          <a:bodyPr wrap="none" rtlCol="0">
            <a:spAutoFit/>
          </a:bodyPr>
          <a:lstStyle/>
          <a:p>
            <a:endParaRPr lang="ru-GB" dirty="0"/>
          </a:p>
        </p:txBody>
      </p:sp>
      <p:sp>
        <p:nvSpPr>
          <p:cNvPr id="9" name="Объект 8">
            <a:extLst>
              <a:ext uri="{FF2B5EF4-FFF2-40B4-BE49-F238E27FC236}">
                <a16:creationId xmlns:a16="http://schemas.microsoft.com/office/drawing/2014/main" id="{42E6621A-D358-DF65-5C03-B1B36E678E7E}"/>
              </a:ext>
            </a:extLst>
          </p:cNvPr>
          <p:cNvSpPr>
            <a:spLocks noGrp="1"/>
          </p:cNvSpPr>
          <p:nvPr>
            <p:ph idx="1"/>
          </p:nvPr>
        </p:nvSpPr>
        <p:spPr>
          <a:xfrm>
            <a:off x="838199" y="1825625"/>
            <a:ext cx="9525001" cy="3724943"/>
          </a:xfrm>
        </p:spPr>
        <p:txBody>
          <a:bodyPr>
            <a:normAutofit fontScale="92500" lnSpcReduction="20000"/>
          </a:bodyPr>
          <a:lstStyle/>
          <a:p>
            <a:pPr marL="0" indent="0">
              <a:buNone/>
            </a:pPr>
            <a:r>
              <a:rPr lang="ru-RU" dirty="0"/>
              <a:t>Свойства </a:t>
            </a:r>
            <a:r>
              <a:rPr lang="en-US" b="1" dirty="0"/>
              <a:t>ROC-AUC</a:t>
            </a:r>
            <a:r>
              <a:rPr lang="en-US" dirty="0"/>
              <a:t>:</a:t>
            </a:r>
          </a:p>
          <a:p>
            <a:r>
              <a:rPr lang="en-US" dirty="0"/>
              <a:t>ROC-AUC </a:t>
            </a:r>
            <a:r>
              <a:rPr lang="ru-RU" dirty="0"/>
              <a:t>принимает значение от 0 до 1.</a:t>
            </a:r>
          </a:p>
          <a:p>
            <a:r>
              <a:rPr lang="en-US" dirty="0"/>
              <a:t>ROC-AUC </a:t>
            </a:r>
            <a:r>
              <a:rPr lang="ru-RU" dirty="0"/>
              <a:t>идеальной модели равен 1 (так как в таблице после сортировки стоят сначала все 1, а потом все 0, и мы идем по квадрату до конца вверх, а потом до конца вправо - получаем, что </a:t>
            </a:r>
            <a:r>
              <a:rPr lang="en-US" dirty="0"/>
              <a:t>ROC-</a:t>
            </a:r>
            <a:r>
              <a:rPr lang="ru-RU" dirty="0"/>
              <a:t>кривая идет по сторонам квадрата).</a:t>
            </a:r>
          </a:p>
          <a:p>
            <a:r>
              <a:rPr lang="en-US" dirty="0"/>
              <a:t>ROC-AUC </a:t>
            </a:r>
            <a:r>
              <a:rPr lang="ru-RU" dirty="0"/>
              <a:t>модели, которая случайным образом предсказывает классы, равен 0.5.</a:t>
            </a:r>
          </a:p>
          <a:p>
            <a:r>
              <a:rPr lang="ru-RU" dirty="0"/>
              <a:t>Чем больше </a:t>
            </a:r>
            <a:r>
              <a:rPr lang="en-US" dirty="0"/>
              <a:t>ROC-AUC, </a:t>
            </a:r>
            <a:r>
              <a:rPr lang="ru-RU" dirty="0"/>
              <a:t>тем лучше наш алгоритм сортирует объекты по вероятностям - то есть тем лучше алгоритм решает задачу классификации.</a:t>
            </a:r>
            <a:endParaRPr lang="ru-GB" dirty="0"/>
          </a:p>
        </p:txBody>
      </p:sp>
    </p:spTree>
    <p:extLst>
      <p:ext uri="{BB962C8B-B14F-4D97-AF65-F5344CB8AC3E}">
        <p14:creationId xmlns:p14="http://schemas.microsoft.com/office/powerpoint/2010/main" val="628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3FB18-541A-CF96-094E-8C263F90B79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0BAE75-38DC-F543-CF3D-D69989274F7B}"/>
              </a:ext>
            </a:extLst>
          </p:cNvPr>
          <p:cNvSpPr>
            <a:spLocks noGrp="1"/>
          </p:cNvSpPr>
          <p:nvPr>
            <p:ph type="title"/>
          </p:nvPr>
        </p:nvSpPr>
        <p:spPr/>
        <p:txBody>
          <a:bodyPr/>
          <a:lstStyle/>
          <a:p>
            <a:r>
              <a:rPr lang="en-US" b="1" dirty="0"/>
              <a:t>ROC-AUC</a:t>
            </a:r>
            <a:endParaRPr lang="ru-GB" b="1" dirty="0"/>
          </a:p>
        </p:txBody>
      </p:sp>
      <p:sp>
        <p:nvSpPr>
          <p:cNvPr id="5" name="TextBox 4">
            <a:extLst>
              <a:ext uri="{FF2B5EF4-FFF2-40B4-BE49-F238E27FC236}">
                <a16:creationId xmlns:a16="http://schemas.microsoft.com/office/drawing/2014/main" id="{037F23EF-E25F-CAB9-5B80-10862AF6F6A0}"/>
              </a:ext>
            </a:extLst>
          </p:cNvPr>
          <p:cNvSpPr txBox="1"/>
          <p:nvPr/>
        </p:nvSpPr>
        <p:spPr>
          <a:xfrm>
            <a:off x="978568" y="2630905"/>
            <a:ext cx="184731" cy="369332"/>
          </a:xfrm>
          <a:prstGeom prst="rect">
            <a:avLst/>
          </a:prstGeom>
          <a:noFill/>
        </p:spPr>
        <p:txBody>
          <a:bodyPr wrap="none" rtlCol="0">
            <a:spAutoFit/>
          </a:bodyPr>
          <a:lstStyle/>
          <a:p>
            <a:endParaRPr lang="ru-GB" dirty="0"/>
          </a:p>
        </p:txBody>
      </p:sp>
      <p:sp>
        <p:nvSpPr>
          <p:cNvPr id="9" name="Объект 8">
            <a:extLst>
              <a:ext uri="{FF2B5EF4-FFF2-40B4-BE49-F238E27FC236}">
                <a16:creationId xmlns:a16="http://schemas.microsoft.com/office/drawing/2014/main" id="{3CA1ED68-45A7-F157-87D4-18183CB2FF30}"/>
              </a:ext>
            </a:extLst>
          </p:cNvPr>
          <p:cNvSpPr>
            <a:spLocks noGrp="1"/>
          </p:cNvSpPr>
          <p:nvPr>
            <p:ph idx="1"/>
          </p:nvPr>
        </p:nvSpPr>
        <p:spPr>
          <a:xfrm>
            <a:off x="838200" y="1825625"/>
            <a:ext cx="9396664" cy="2634079"/>
          </a:xfrm>
        </p:spPr>
        <p:txBody>
          <a:bodyPr>
            <a:normAutofit fontScale="92500" lnSpcReduction="20000"/>
          </a:bodyPr>
          <a:lstStyle/>
          <a:p>
            <a:pPr marL="0" indent="0">
              <a:buNone/>
            </a:pPr>
            <a:r>
              <a:rPr lang="ru-RU" b="1" dirty="0"/>
              <a:t>Формальный алгоритм построения </a:t>
            </a:r>
            <a:r>
              <a:rPr lang="en-US" b="1" dirty="0"/>
              <a:t>ROC-</a:t>
            </a:r>
            <a:r>
              <a:rPr lang="ru-RU" b="1" dirty="0"/>
              <a:t>кривой</a:t>
            </a:r>
          </a:p>
          <a:p>
            <a:pPr marL="0" indent="0">
              <a:buNone/>
            </a:pPr>
            <a:endParaRPr lang="ru-GB" dirty="0"/>
          </a:p>
          <a:p>
            <a:pPr marL="0" indent="0">
              <a:buNone/>
            </a:pPr>
            <a:r>
              <a:rPr lang="en-US" dirty="0"/>
              <a:t>False Positive Rate (FPR) - </a:t>
            </a:r>
            <a:r>
              <a:rPr lang="ru-RU" dirty="0"/>
              <a:t>доля неверно принятых объектов отрицательного класса</a:t>
            </a:r>
            <a:endParaRPr lang="en-US" dirty="0"/>
          </a:p>
          <a:p>
            <a:pPr marL="0" indent="0">
              <a:buNone/>
            </a:pPr>
            <a:endParaRPr lang="en-US" dirty="0"/>
          </a:p>
          <a:p>
            <a:pPr marL="0" indent="0">
              <a:buNone/>
            </a:pPr>
            <a:r>
              <a:rPr lang="en-US" dirty="0"/>
              <a:t>True Positive Rate (TPR) - </a:t>
            </a:r>
            <a:r>
              <a:rPr lang="ru-RU" dirty="0"/>
              <a:t>доля верно принятых объектов положительного класса</a:t>
            </a:r>
            <a:endParaRPr lang="ru-GB" dirty="0"/>
          </a:p>
        </p:txBody>
      </p:sp>
      <p:pic>
        <p:nvPicPr>
          <p:cNvPr id="4" name="Рисунок 3" descr="Изображение выглядит как Шрифт, текст, число, белый&#10;&#10;Контент, сгенерированный ИИ, может содержать ошибки.">
            <a:extLst>
              <a:ext uri="{FF2B5EF4-FFF2-40B4-BE49-F238E27FC236}">
                <a16:creationId xmlns:a16="http://schemas.microsoft.com/office/drawing/2014/main" id="{FD42021E-CEF9-D7F3-2F48-03CE4C148AB9}"/>
              </a:ext>
            </a:extLst>
          </p:cNvPr>
          <p:cNvPicPr>
            <a:picLocks noChangeAspect="1"/>
          </p:cNvPicPr>
          <p:nvPr/>
        </p:nvPicPr>
        <p:blipFill>
          <a:blip r:embed="rId3"/>
          <a:stretch>
            <a:fillRect/>
          </a:stretch>
        </p:blipFill>
        <p:spPr>
          <a:xfrm>
            <a:off x="838198" y="4948684"/>
            <a:ext cx="3153189" cy="1051063"/>
          </a:xfrm>
          <a:prstGeom prst="rect">
            <a:avLst/>
          </a:prstGeom>
        </p:spPr>
      </p:pic>
      <p:pic>
        <p:nvPicPr>
          <p:cNvPr id="7" name="Рисунок 6" descr="Изображение выглядит как текст, Шрифт, белый, число&#10;&#10;Контент, сгенерированный ИИ, может содержать ошибки.">
            <a:extLst>
              <a:ext uri="{FF2B5EF4-FFF2-40B4-BE49-F238E27FC236}">
                <a16:creationId xmlns:a16="http://schemas.microsoft.com/office/drawing/2014/main" id="{7C8FCE94-4F08-9788-46BF-2470348C630C}"/>
              </a:ext>
            </a:extLst>
          </p:cNvPr>
          <p:cNvPicPr>
            <a:picLocks noChangeAspect="1"/>
          </p:cNvPicPr>
          <p:nvPr/>
        </p:nvPicPr>
        <p:blipFill>
          <a:blip r:embed="rId4"/>
          <a:stretch>
            <a:fillRect/>
          </a:stretch>
        </p:blipFill>
        <p:spPr>
          <a:xfrm>
            <a:off x="4902200" y="4976757"/>
            <a:ext cx="3006870" cy="1231537"/>
          </a:xfrm>
          <a:prstGeom prst="rect">
            <a:avLst/>
          </a:prstGeom>
        </p:spPr>
      </p:pic>
    </p:spTree>
    <p:extLst>
      <p:ext uri="{BB962C8B-B14F-4D97-AF65-F5344CB8AC3E}">
        <p14:creationId xmlns:p14="http://schemas.microsoft.com/office/powerpoint/2010/main" val="1892517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3C706-6AE6-2D68-5EE2-CB3DB218D71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74CD32-8EDA-BD79-5CCE-7229B8A2982E}"/>
              </a:ext>
            </a:extLst>
          </p:cNvPr>
          <p:cNvSpPr>
            <a:spLocks noGrp="1"/>
          </p:cNvSpPr>
          <p:nvPr>
            <p:ph type="title"/>
          </p:nvPr>
        </p:nvSpPr>
        <p:spPr/>
        <p:txBody>
          <a:bodyPr/>
          <a:lstStyle/>
          <a:p>
            <a:r>
              <a:rPr lang="en-US" b="1" dirty="0"/>
              <a:t>ROC-AUC</a:t>
            </a:r>
            <a:endParaRPr lang="ru-GB" b="1" dirty="0"/>
          </a:p>
        </p:txBody>
      </p:sp>
      <p:sp>
        <p:nvSpPr>
          <p:cNvPr id="5" name="TextBox 4">
            <a:extLst>
              <a:ext uri="{FF2B5EF4-FFF2-40B4-BE49-F238E27FC236}">
                <a16:creationId xmlns:a16="http://schemas.microsoft.com/office/drawing/2014/main" id="{B81833FB-053E-F96E-A1D5-FD27F73B0F13}"/>
              </a:ext>
            </a:extLst>
          </p:cNvPr>
          <p:cNvSpPr txBox="1"/>
          <p:nvPr/>
        </p:nvSpPr>
        <p:spPr>
          <a:xfrm>
            <a:off x="978568" y="2630905"/>
            <a:ext cx="184731" cy="369332"/>
          </a:xfrm>
          <a:prstGeom prst="rect">
            <a:avLst/>
          </a:prstGeom>
          <a:noFill/>
        </p:spPr>
        <p:txBody>
          <a:bodyPr wrap="none" rtlCol="0">
            <a:spAutoFit/>
          </a:bodyPr>
          <a:lstStyle/>
          <a:p>
            <a:endParaRPr lang="ru-GB" dirty="0"/>
          </a:p>
        </p:txBody>
      </p:sp>
      <p:sp>
        <p:nvSpPr>
          <p:cNvPr id="9" name="Объект 8">
            <a:extLst>
              <a:ext uri="{FF2B5EF4-FFF2-40B4-BE49-F238E27FC236}">
                <a16:creationId xmlns:a16="http://schemas.microsoft.com/office/drawing/2014/main" id="{E178B28B-A24C-6BD7-BB3B-86A34538407E}"/>
              </a:ext>
            </a:extLst>
          </p:cNvPr>
          <p:cNvSpPr>
            <a:spLocks noGrp="1"/>
          </p:cNvSpPr>
          <p:nvPr>
            <p:ph idx="1"/>
          </p:nvPr>
        </p:nvSpPr>
        <p:spPr>
          <a:xfrm>
            <a:off x="838200" y="1825625"/>
            <a:ext cx="9396664" cy="2634079"/>
          </a:xfrm>
        </p:spPr>
        <p:txBody>
          <a:bodyPr>
            <a:normAutofit fontScale="85000" lnSpcReduction="20000"/>
          </a:bodyPr>
          <a:lstStyle/>
          <a:p>
            <a:pPr marL="0" indent="0">
              <a:buNone/>
            </a:pPr>
            <a:r>
              <a:rPr lang="ru-RU" b="1" dirty="0"/>
              <a:t>Формальный алгоритм построения </a:t>
            </a:r>
            <a:r>
              <a:rPr lang="en-US" b="1" dirty="0"/>
              <a:t>ROC-</a:t>
            </a:r>
            <a:r>
              <a:rPr lang="ru-RU" b="1" dirty="0"/>
              <a:t>кривой</a:t>
            </a:r>
            <a:endParaRPr lang="ru-RU" dirty="0"/>
          </a:p>
          <a:p>
            <a:r>
              <a:rPr lang="ru-RU" dirty="0"/>
              <a:t>Рисуем плоскость, ось </a:t>
            </a:r>
            <a:r>
              <a:rPr lang="en-US" dirty="0"/>
              <a:t>x </a:t>
            </a:r>
            <a:r>
              <a:rPr lang="ru-RU" dirty="0"/>
              <a:t>называем </a:t>
            </a:r>
            <a:r>
              <a:rPr lang="en-US" dirty="0"/>
              <a:t>FPR, </a:t>
            </a:r>
            <a:r>
              <a:rPr lang="ru-RU" dirty="0"/>
              <a:t>ось</a:t>
            </a:r>
            <a:r>
              <a:rPr lang="en-US" dirty="0"/>
              <a:t> y - TPR.</a:t>
            </a:r>
          </a:p>
          <a:p>
            <a:r>
              <a:rPr lang="ru-RU" dirty="0"/>
              <a:t>Для каждого возможного порога перевода вероятностей в классы (на практике достаточно рассматривать только пороги, равные вероятностям из таблицы, так как промежуточные пороги не изменяют </a:t>
            </a:r>
            <a:r>
              <a:rPr lang="en-US" dirty="0"/>
              <a:t>TPR </a:t>
            </a:r>
            <a:r>
              <a:rPr lang="ru-RU" dirty="0"/>
              <a:t>и </a:t>
            </a:r>
            <a:r>
              <a:rPr lang="en-US" dirty="0"/>
              <a:t>FPR) </a:t>
            </a:r>
            <a:r>
              <a:rPr lang="ru-RU" dirty="0"/>
              <a:t>вычисляем </a:t>
            </a:r>
            <a:r>
              <a:rPr lang="en-US" dirty="0"/>
              <a:t>TPR </a:t>
            </a:r>
            <a:r>
              <a:rPr lang="ru-RU" dirty="0"/>
              <a:t>и </a:t>
            </a:r>
            <a:r>
              <a:rPr lang="en-US" dirty="0"/>
              <a:t>FPR. </a:t>
            </a:r>
            <a:r>
              <a:rPr lang="ru-RU" dirty="0"/>
              <a:t>Отмечаем точку с координатами (</a:t>
            </a:r>
            <a:r>
              <a:rPr lang="en-US" dirty="0"/>
              <a:t>FPR, TPR) </a:t>
            </a:r>
            <a:r>
              <a:rPr lang="ru-RU" dirty="0"/>
              <a:t>на плоскости.</a:t>
            </a:r>
          </a:p>
          <a:p>
            <a:r>
              <a:rPr lang="ru-RU" dirty="0"/>
              <a:t>Соединяем полученные точки кривой - получаем </a:t>
            </a:r>
            <a:r>
              <a:rPr lang="en-US" dirty="0"/>
              <a:t>ROC-</a:t>
            </a:r>
            <a:r>
              <a:rPr lang="ru-RU" dirty="0"/>
              <a:t>кривую</a:t>
            </a:r>
            <a:endParaRPr lang="ru-GB" dirty="0"/>
          </a:p>
        </p:txBody>
      </p:sp>
    </p:spTree>
    <p:extLst>
      <p:ext uri="{BB962C8B-B14F-4D97-AF65-F5344CB8AC3E}">
        <p14:creationId xmlns:p14="http://schemas.microsoft.com/office/powerpoint/2010/main" val="3368424375"/>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1366</TotalTime>
  <Words>1745</Words>
  <Application>Microsoft Macintosh PowerPoint</Application>
  <PresentationFormat>Широкоэкранный</PresentationFormat>
  <Paragraphs>221</Paragraphs>
  <Slides>34</Slides>
  <Notes>32</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34</vt:i4>
      </vt:variant>
    </vt:vector>
  </HeadingPairs>
  <TitlesOfParts>
    <vt:vector size="44" baseType="lpstr">
      <vt:lpstr>Aptos</vt:lpstr>
      <vt:lpstr>Aptos Display</vt:lpstr>
      <vt:lpstr>Arial</vt:lpstr>
      <vt:lpstr>Cambria Math</vt:lpstr>
      <vt:lpstr>Helvetica</vt:lpstr>
      <vt:lpstr>KaTeX_Main</vt:lpstr>
      <vt:lpstr>quote-cjk-patch</vt:lpstr>
      <vt:lpstr>Roboto</vt:lpstr>
      <vt:lpstr>YSText</vt:lpstr>
      <vt:lpstr>Тема Office</vt:lpstr>
      <vt:lpstr>Метрики классификации</vt:lpstr>
      <vt:lpstr>План</vt:lpstr>
      <vt:lpstr>Мотивация</vt:lpstr>
      <vt:lpstr>Мотивация</vt:lpstr>
      <vt:lpstr>Мотивация</vt:lpstr>
      <vt:lpstr>Бинарная классификация</vt:lpstr>
      <vt:lpstr>Бинарная классификация</vt:lpstr>
      <vt:lpstr>Confusion matrix</vt:lpstr>
      <vt:lpstr>Confusion matrix</vt:lpstr>
      <vt:lpstr>Confusion matrix</vt:lpstr>
      <vt:lpstr>Confusion matrix</vt:lpstr>
      <vt:lpstr>Confusion matrix</vt:lpstr>
      <vt:lpstr>Accuracy</vt:lpstr>
      <vt:lpstr>Accuracy</vt:lpstr>
      <vt:lpstr>Accuracy</vt:lpstr>
      <vt:lpstr>Precision</vt:lpstr>
      <vt:lpstr>Precision</vt:lpstr>
      <vt:lpstr>Precision</vt:lpstr>
      <vt:lpstr>Recall</vt:lpstr>
      <vt:lpstr>Recall</vt:lpstr>
      <vt:lpstr>Recall</vt:lpstr>
      <vt:lpstr>Recall</vt:lpstr>
      <vt:lpstr>Precision и Recall</vt:lpstr>
      <vt:lpstr>Презентация PowerPoint</vt:lpstr>
      <vt:lpstr>Precision и Recall</vt:lpstr>
      <vt:lpstr>Презентация PowerPoint</vt:lpstr>
      <vt:lpstr>ROC-AUC</vt:lpstr>
      <vt:lpstr>ROC-AUC</vt:lpstr>
      <vt:lpstr>ROC-AUC</vt:lpstr>
      <vt:lpstr>ROC-AUC</vt:lpstr>
      <vt:lpstr>ROC-AUC</vt:lpstr>
      <vt:lpstr>ROC-AUC</vt:lpstr>
      <vt:lpstr>ROC-AUC</vt:lpstr>
      <vt:lpstr>ROC-AUC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c77904</dc:creator>
  <cp:lastModifiedBy>c77904</cp:lastModifiedBy>
  <cp:revision>1</cp:revision>
  <dcterms:created xsi:type="dcterms:W3CDTF">2026-02-26T12:49:36Z</dcterms:created>
  <dcterms:modified xsi:type="dcterms:W3CDTF">2026-02-27T11:36:15Z</dcterms:modified>
</cp:coreProperties>
</file>