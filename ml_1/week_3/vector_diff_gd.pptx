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63" r:id="rId6"/>
    <p:sldId id="259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60" r:id="rId18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83258"/>
  </p:normalViewPr>
  <p:slideViewPr>
    <p:cSldViewPr snapToGrid="0">
      <p:cViewPr>
        <p:scale>
          <a:sx n="77" d="100"/>
          <a:sy n="77" d="100"/>
        </p:scale>
        <p:origin x="2016" y="560"/>
      </p:cViewPr>
      <p:guideLst/>
    </p:cSldViewPr>
  </p:slideViewPr>
  <p:notesTextViewPr>
    <p:cViewPr>
      <p:scale>
        <a:sx n="114" d="100"/>
        <a:sy n="114" d="100"/>
      </p:scale>
      <p:origin x="0" y="-49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D9FDE-784A-D949-8C6D-2940D4E0265C}" type="datetimeFigureOut">
              <a:rPr lang="ru-GB" smtClean="0"/>
              <a:t>05/02/2026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ACD5B-CF44-5A47-BE99-8E17ACED8927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96685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ru-GB" dirty="0"/>
              <a:t>налогия дифференциал это изменение функции потерь, </a:t>
            </a:r>
            <a:r>
              <a:rPr lang="en-US" dirty="0"/>
              <a:t>dx </a:t>
            </a:r>
            <a:r>
              <a:rPr lang="ru-RU" dirty="0"/>
              <a:t>– это </a:t>
            </a:r>
            <a:r>
              <a:rPr lang="en-US" dirty="0"/>
              <a:t>learning rate, </a:t>
            </a:r>
            <a:r>
              <a:rPr lang="ru-RU" dirty="0"/>
              <a:t>производная - </a:t>
            </a:r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437244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4746-7195-F661-8A6B-88B27311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6357F9-249D-2DAB-E09F-1ECB42758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B1F769-32E7-9BAE-E112-F6873DA85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Пусть дана функция </a:t>
            </a:r>
            <a:r>
              <a:rPr lang="en-US" dirty="0"/>
              <a:t>f.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Мы хотим понять, как ведёт себя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f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вблизи некоторой точки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x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при небольшом изменении аргумента на величину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h</a:t>
            </a:r>
            <a:r>
              <a:rPr lang="ru-RU" b="0" i="1" dirty="0">
                <a:solidFill>
                  <a:srgbClr val="F9FAFB"/>
                </a:solidFill>
                <a:effectLst/>
                <a:latin typeface="KaTeX_Math"/>
              </a:rPr>
              <a:t> .</a:t>
            </a:r>
            <a:r>
              <a:rPr lang="ru-GB" dirty="0"/>
              <a:t>Функция </a:t>
            </a:r>
            <a:r>
              <a:rPr lang="en-US" dirty="0"/>
              <a:t>f</a:t>
            </a:r>
            <a:r>
              <a:rPr lang="ru-RU" dirty="0"/>
              <a:t> 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дифференцируема в точке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x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если существует такое число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A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что при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h→0</a:t>
            </a:r>
            <a:r>
              <a:rPr lang="ru-RU" b="0" i="1" dirty="0">
                <a:solidFill>
                  <a:srgbClr val="F9FAFB"/>
                </a:solidFill>
                <a:effectLst/>
                <a:latin typeface="KaTeX_Math"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выполняется разложение(показано на экране).  </a:t>
            </a: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Число А – производная функции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f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в точке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x 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o(h)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остаток который убывает быстрее чем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h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или функция </a:t>
            </a:r>
          </a:p>
          <a:p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h –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приращение</a:t>
            </a:r>
          </a:p>
          <a:p>
            <a:endParaRPr lang="ru-GB" dirty="0"/>
          </a:p>
          <a:p>
            <a:r>
              <a:rPr lang="ru-GB" dirty="0"/>
              <a:t>Дифференциалом функции </a:t>
            </a:r>
            <a:r>
              <a:rPr lang="en-US" dirty="0"/>
              <a:t>f</a:t>
            </a:r>
            <a:r>
              <a:rPr lang="ru-RU" dirty="0"/>
              <a:t> в точке </a:t>
            </a:r>
            <a:r>
              <a:rPr lang="en-US" dirty="0"/>
              <a:t>x</a:t>
            </a:r>
            <a:r>
              <a:rPr lang="ru-RU" dirty="0"/>
              <a:t> называется линейная функция </a:t>
            </a:r>
            <a:r>
              <a:rPr lang="en-US" dirty="0"/>
              <a:t>A*h</a:t>
            </a:r>
            <a:r>
              <a:rPr lang="ru-RU" dirty="0"/>
              <a:t>, где А-производная в точке </a:t>
            </a:r>
            <a:r>
              <a:rPr lang="en-US" dirty="0"/>
              <a:t>x</a:t>
            </a:r>
            <a:r>
              <a:rPr lang="ru-RU" dirty="0"/>
              <a:t>, а </a:t>
            </a:r>
            <a:r>
              <a:rPr lang="en-US" dirty="0"/>
              <a:t>h</a:t>
            </a:r>
            <a:r>
              <a:rPr lang="ru-RU" dirty="0"/>
              <a:t> – переменная.</a:t>
            </a:r>
          </a:p>
          <a:p>
            <a:endParaRPr lang="ru-RU" dirty="0"/>
          </a:p>
          <a:p>
            <a:r>
              <a:rPr lang="en-US" dirty="0"/>
              <a:t>dx</a:t>
            </a:r>
            <a:r>
              <a:rPr lang="ru-RU" dirty="0"/>
              <a:t> в дальнейшем это дифференциал аргумента</a:t>
            </a:r>
          </a:p>
          <a:p>
            <a:r>
              <a:rPr lang="ru-RU" dirty="0"/>
              <a:t>А </a:t>
            </a:r>
            <a:r>
              <a:rPr lang="en-US" dirty="0" err="1"/>
              <a:t>df</a:t>
            </a:r>
            <a:r>
              <a:rPr lang="en-US" dirty="0"/>
              <a:t> - </a:t>
            </a:r>
            <a:r>
              <a:rPr lang="ru-RU" b="0" i="0" u="none" strike="noStrike" dirty="0">
                <a:solidFill>
                  <a:srgbClr val="F9FAFB"/>
                </a:solidFill>
                <a:effectLst/>
                <a:latin typeface="quote-cjk-patch"/>
              </a:rPr>
              <a:t>дифференциал функции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02EBFE-BC30-DAE6-A349-C8E85E5E7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370060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11FF-6ACB-2BC0-370E-11F5363C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077C58-B01E-609E-B027-5908C4FA5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F4C8D5-5155-6134-5C58-45BAC9DA8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E822D0-A0B9-2344-22B1-89C3C43EA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60713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5987-14B7-6A85-60D2-060F5FC7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2CE3E6-37F1-DB4F-9E26-ECA35B761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182CE4A-F9BF-1F1F-5EF6-7FE540E9B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Мы рассмотрели одномерный случай.</a:t>
            </a:r>
          </a:p>
          <a:p>
            <a:endParaRPr lang="ru-GB" dirty="0"/>
          </a:p>
          <a:p>
            <a:r>
              <a:rPr lang="ru-RU" dirty="0"/>
              <a:t>Р</a:t>
            </a:r>
            <a:r>
              <a:rPr lang="ru-GB" dirty="0"/>
              <a:t>ассмотрим многомерный случай.</a:t>
            </a:r>
          </a:p>
          <a:p>
            <a:r>
              <a:rPr lang="ru-RU" dirty="0"/>
              <a:t>Н</a:t>
            </a:r>
            <a:r>
              <a:rPr lang="ru-GB" dirty="0"/>
              <a:t>аша функция зависит от нескольких переменных, следовательно мы «берем производную по всем переменным».</a:t>
            </a:r>
          </a:p>
          <a:p>
            <a:r>
              <a:rPr lang="ru-GB" dirty="0"/>
              <a:t>Производной по всем переменным является градиент.</a:t>
            </a:r>
          </a:p>
          <a:p>
            <a:r>
              <a:rPr lang="ru-GB" dirty="0"/>
              <a:t>Градиент - </a:t>
            </a:r>
            <a:r>
              <a:rPr lang="ru-RU" b="0" i="0" u="none" strike="noStrike" dirty="0">
                <a:solidFill>
                  <a:srgbClr val="E6E8F0"/>
                </a:solidFill>
                <a:effectLst/>
                <a:latin typeface="Google Sans"/>
              </a:rPr>
              <a:t>вектор, указывающий направление наискорейшего роста, состоящий частных производных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59337B-3B3A-2218-397B-3D06BD46D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282571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961E-1011-353B-0674-F52097A9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E595A70-07A1-9AC7-9E79-819EA15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52BAC9-34D9-2BB7-EC06-D7CFED8E1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B5A76B-B5E9-557F-85C5-9F33CB479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75275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576C-FE23-0365-00A1-783C5953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0D5C92B-17B8-FA59-5743-5FE80EC21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231CB7-6300-FE26-7167-61B832778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GB" dirty="0"/>
              <a:t>Аккуратно с векторами и матрицами, т.к. важен порядок переменных, </a:t>
            </a:r>
          </a:p>
          <a:p>
            <a:r>
              <a:rPr lang="ru-GB" dirty="0"/>
              <a:t>например, </a:t>
            </a:r>
            <a:r>
              <a:rPr lang="en-US" dirty="0"/>
              <a:t>XY != YX</a:t>
            </a:r>
            <a:r>
              <a:rPr lang="ru-RU" dirty="0"/>
              <a:t>, т.к. у </a:t>
            </a:r>
            <a:r>
              <a:rPr lang="en-US" dirty="0"/>
              <a:t>X ~ [1xn] </a:t>
            </a:r>
            <a:r>
              <a:rPr lang="ru-RU" dirty="0"/>
              <a:t>а </a:t>
            </a:r>
            <a:r>
              <a:rPr lang="en-US" dirty="0"/>
              <a:t>Y~[nx1]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5D8A4F-B8B4-9CDF-D405-EF93D42A6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784090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95D8-B4F2-A8EC-71F3-70BAE9A6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7AA584-6F21-DC36-1024-9C1FADC75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36D4931-A2E8-7C68-72B4-FC1F95E8D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Здесь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X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матрица размера 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KaTeX_Main"/>
              </a:rPr>
              <a:t>m×n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которую можно рассматривать как вектор длины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m</a:t>
            </a:r>
            <a:r>
              <a:rPr lang="ru-RU" b="0" i="0" dirty="0">
                <a:solidFill>
                  <a:srgbClr val="F9FAFB"/>
                </a:solidFill>
                <a:effectLst/>
                <a:latin typeface="KaTeX_Main"/>
              </a:rPr>
              <a:t>*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n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упакованный в таблицу.</a:t>
            </a: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 - это 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частные производные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 функции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f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 элементам матрицы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X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endParaRPr lang="ru-RU" b="0" i="0" dirty="0">
              <a:solidFill>
                <a:srgbClr val="F9FAFB"/>
              </a:solidFill>
              <a:effectLst/>
              <a:latin typeface="KaTeX_Main"/>
            </a:endParaRPr>
          </a:p>
          <a:p>
            <a:r>
              <a:rPr lang="ru-RU" b="0" i="0" dirty="0">
                <a:solidFill>
                  <a:srgbClr val="F9FAFB"/>
                </a:solidFill>
                <a:effectLst/>
                <a:latin typeface="KaTeX_Main"/>
              </a:rPr>
              <a:t>Запись снизу называют </a:t>
            </a:r>
            <a:r>
              <a:rPr lang="ru-RU" b="1" i="0" dirty="0" err="1">
                <a:solidFill>
                  <a:srgbClr val="F9FAFB"/>
                </a:solidFill>
                <a:effectLst/>
                <a:latin typeface="KaTeX_Main"/>
              </a:rPr>
              <a:t>Фронебиусовым</a:t>
            </a:r>
            <a:r>
              <a:rPr lang="ru-RU" b="1" i="0" dirty="0">
                <a:solidFill>
                  <a:srgbClr val="F9FAFB"/>
                </a:solidFill>
                <a:effectLst/>
                <a:latin typeface="KaTeX_Main"/>
              </a:rPr>
              <a:t> скалярным произведение</a:t>
            </a:r>
            <a:r>
              <a:rPr lang="ru-RU" b="0" i="0" dirty="0">
                <a:solidFill>
                  <a:srgbClr val="F9FAFB"/>
                </a:solidFill>
                <a:effectLst/>
                <a:latin typeface="KaTeX_Main"/>
              </a:rPr>
              <a:t> матриц 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X </a:t>
            </a:r>
            <a:r>
              <a:rPr lang="ru-RU" b="0" i="0" dirty="0">
                <a:solidFill>
                  <a:srgbClr val="F9FAFB"/>
                </a:solidFill>
                <a:effectLst/>
                <a:latin typeface="KaTeX_Main"/>
              </a:rPr>
              <a:t>и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 Y</a:t>
            </a:r>
            <a:endParaRPr lang="ru-RU" b="1" i="0" dirty="0">
              <a:solidFill>
                <a:srgbClr val="F9FAFB"/>
              </a:solidFill>
              <a:effectLst/>
              <a:latin typeface="KaTeX_Main"/>
            </a:endParaRPr>
          </a:p>
          <a:p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Tr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след матрицы (</a:t>
            </a:r>
            <a:r>
              <a:rPr lang="ru-RU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сумма всех элементов главной диагонали квадратной матрицы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</a:p>
          <a:p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dirty="0"/>
              <a:t>Снизу написана </a:t>
            </a:r>
            <a:r>
              <a:rPr lang="ru-RU" dirty="0" err="1"/>
              <a:t>Фронебиусовая</a:t>
            </a:r>
            <a:r>
              <a:rPr lang="ru-RU" dirty="0"/>
              <a:t> норма матрицы.</a:t>
            </a:r>
          </a:p>
          <a:p>
            <a:endParaRPr lang="ru-RU" dirty="0"/>
          </a:p>
          <a:p>
            <a:r>
              <a:rPr lang="ru-RU" dirty="0"/>
              <a:t>По аналогии с </a:t>
            </a:r>
            <a:r>
              <a:rPr lang="en-US" dirty="0"/>
              <a:t>Rn </a:t>
            </a:r>
            <a:r>
              <a:rPr lang="ru-RU" dirty="0"/>
              <a:t>не сложно показать что матрица А, это не что иное как градиент.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A91E04-935F-809C-6ACB-BFA0FD7F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33746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9F6E-DC7A-5C7A-1CDF-187B54A5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708FB6-49A2-E3C9-9A45-7205279F6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399320E-16A7-CCA6-2005-83B84ADA4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Рассмотрим крайне важный пример матрично-векторной функции — функция потерь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MSE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для задачи линейной регрессии.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X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матрица «объект-признак» (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N*d,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где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N –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кол-во объектов,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d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-кол-во признаков),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y —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столбец целевой переменной, а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w –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 параметры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веса модели (линейной регрессии).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Допустим мы хотим обучать линейную регрессию с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MSE 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с помощью градиентного спуска. Необходимо найти градиент функции потерь по отношению к параметрам модели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w</a:t>
            </a: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000000"/>
                </a:solidFill>
                <a:effectLst/>
                <a:latin typeface="Helvetica" pitchFamily="2" charset="0"/>
              </a:rPr>
              <a:t>правило произведения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C8CF0D-C67C-5D00-BC40-75EA9F659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666507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2062-359A-633D-1C8D-3E34CAA2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94277D-2F3B-DD56-4A44-2747B153D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D695FA4-9A09-30E5-114D-751949400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Дифференциал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d(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KaTeX_Main"/>
              </a:rPr>
              <a:t>Xw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−y)</a:t>
            </a:r>
            <a:r>
              <a:rPr lang="ru-RU" b="0" i="0" dirty="0">
                <a:solidFill>
                  <a:srgbClr val="F9FAFB"/>
                </a:solidFill>
                <a:effectLst/>
                <a:latin typeface="KaTeX_Main"/>
              </a:rPr>
              <a:t>:</a:t>
            </a:r>
          </a:p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Так как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y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не зависит от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w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то 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KaTeX_Main"/>
              </a:rPr>
              <a:t>dy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=0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b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US" b="0" i="0" dirty="0" err="1">
                <a:solidFill>
                  <a:srgbClr val="F9FAFB"/>
                </a:solidFill>
                <a:effectLst/>
                <a:latin typeface="KaTeX_Main"/>
              </a:rPr>
              <a:t>Xw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линейная функция от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w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поэтому:</a:t>
            </a:r>
          </a:p>
          <a:p>
            <a:r>
              <a:rPr lang="en-US" dirty="0"/>
              <a:t>d(</a:t>
            </a:r>
            <a:r>
              <a:rPr lang="en-US" dirty="0" err="1"/>
              <a:t>Xw</a:t>
            </a:r>
            <a:r>
              <a:rPr lang="en-US" dirty="0"/>
              <a:t>) = </a:t>
            </a:r>
            <a:r>
              <a:rPr lang="en-US" dirty="0" err="1"/>
              <a:t>Xdw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Найдя градиент мы можем его использовать для градиентного спуска и не только.</a:t>
            </a: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818E39-44EC-4B73-AF51-7E278BBB2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256657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EC99-FAF7-73AA-9334-1D00F11B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A716FA-118C-6631-3454-F52B7C488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F4ECDB-17EC-3AE4-AAD5-470CE471E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GB" dirty="0"/>
              <a:t>Запишем аналитическое решение лин рега</a:t>
            </a:r>
          </a:p>
          <a:p>
            <a:pPr algn="l">
              <a:spcBef>
                <a:spcPts val="2400"/>
              </a:spcBef>
              <a:spcAft>
                <a:spcPts val="1200"/>
              </a:spcAft>
            </a:pPr>
            <a:endParaRPr lang="ru-GB" dirty="0"/>
          </a:p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Функция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L(w)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выпуклая квадратичная функция от </a:t>
            </a:r>
            <a:r>
              <a:rPr lang="en-US" b="0" i="0" dirty="0">
                <a:solidFill>
                  <a:srgbClr val="F9FAFB"/>
                </a:solidFill>
                <a:effectLst/>
                <a:latin typeface="KaTeX_Main"/>
              </a:rPr>
              <a:t>w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Необходимое условие минимума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: градиент должен быть равен нулю.</a:t>
            </a:r>
          </a:p>
          <a:p>
            <a:pPr algn="l">
              <a:spcBef>
                <a:spcPts val="2400"/>
              </a:spcBef>
              <a:spcAft>
                <a:spcPts val="1200"/>
              </a:spcAft>
            </a:pPr>
            <a:br>
              <a:rPr lang="en-US" dirty="0"/>
            </a:b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D61C6F-1089-D2E2-DFEF-10CAF3C5B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397351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BD5F-FA5F-9B1A-C2E4-8D17075B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8CB546-4360-BEDD-8803-9CF1C06A9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C231D9-CB5D-55F8-1A9C-084C5CB0D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64A8C5-1D9C-12E8-3839-DB58950E3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548723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024E-BD62-573D-BC86-6DCD12DE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C14C4BE-67E8-9FDE-AB5E-CD8013FEC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82BCAF-2901-3BA1-211B-926F65E49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73FB07-5AD0-BDD8-FB82-B60E8B441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611299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CB46-790D-11DB-FFED-83B9797F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4B0519-0C6F-CA8E-614A-20ADD90A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9BE646-C66C-1E22-4544-3DAA13915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764B74-51AE-BF91-470A-321C760B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099377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6401-159E-34AE-D0BE-5EBFDEEF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0DDA1A-7AC4-8358-DF22-D33285589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529CF2-1BF1-B4CC-EF35-564F21B51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62228C-F37B-E8C9-76C1-1F162AB35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58886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2A0C-EE53-01F5-3C95-6B1188B7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6FE2C0-B2C5-970F-7B3C-AEFD3A848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98D83B9-D0E5-61DC-51AC-AE49C8A2E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C9D7E7-B90D-6C77-6735-34A20CF6F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ACD5B-CF44-5A47-BE99-8E17ACED8927}" type="slidenum">
              <a:rPr lang="ru-GB" smtClean="0"/>
              <a:t>17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62649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8BCC8-F7DF-3A41-F49A-BA6000084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44409D-6541-5B5F-1A53-8D714761E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664C31-DF7B-DDA2-73AF-A9BDC496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0A2C97-B709-16D6-2DAF-220A4135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80CD71-A023-9EF0-4B6D-C5A7812D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6969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B72F4-9BD3-03B5-8BB1-950652AB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E0A313-9BC6-F80C-9302-85102E7E2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9BBDBE-37AB-A37D-457C-23DFE6A3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BAAC6-CFEA-E6FB-6999-AA8CDBF9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CA3891-11C0-437D-C1AA-5440FB7D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9866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BAC5A-5D88-1521-04D9-D6D95983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263B89-97DB-A76B-9CE9-831205275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62F49F-880A-18DA-8B63-073BFDC8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3F5337-F906-A025-7BDA-0B394768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D4FEA-BEF8-343F-300E-BE6F8237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93354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CCE9F-A6BD-01A2-BC4B-16771226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8FA700-C046-D453-B70C-C24D26F39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C609C7-7294-E354-9B4E-2E54B329B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EB7954-E943-AB33-A8E5-AB253E24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70694C-740F-53F3-71E0-45B145F0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D3CA12-EFD7-A20A-5DF7-E16B1757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233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065C3-AFB8-929C-961E-6C22333A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E97593-7D2B-F19D-AFBA-F12C86B64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7B79FA-71E2-A56A-6C72-6C4813D45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954F73-3548-AEE4-0408-7437FBA12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AA39C4-4E31-38CB-926C-EA1784522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292FB9-E86F-DC05-399A-D8F4B38F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12B56A-2C42-5535-4CB0-D1D54E62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61FF9A-6D57-41B5-9B14-C18B9F81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65694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F4EA7-24CA-0B63-120E-9B446B67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6ADC96-FFAD-4355-6451-177C5C45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3CCE34-A6D1-6F9B-27D0-5B8D86B6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B2B353-85EB-2225-7A3D-D5FF4778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57214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60A4A-B9E2-9A03-8FD8-00F910B8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D730845-F00B-D065-9D2C-6BF5ABAA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B837BB-3C0A-D63F-135D-8CA84B48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29556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2C838-ABAE-3A18-FDA3-93EE3BAA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7F0638-1A47-4E63-55E4-F39F788D3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3DEE95-A2DC-4BEF-A7D3-227A3809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B5D40B-B815-BB35-2BB7-430B4928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7F4E0E-5F06-7BD1-F1F8-07ADA48E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2897E4-B68E-7F91-25C2-867ECFD1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50995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842BF-74D2-3159-3746-DC0FF157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9C9768A-AF66-BA37-6FCF-202F2BBB8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E17139-C390-64C1-9277-3C06B2490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52693B-3A9C-7ABE-22E7-F906C761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E1F390-54CF-EFF0-CF96-BDDFAAC3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93E38E-96EF-B458-1FBD-8DDD1626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22280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D768B-C05D-D1E6-C42C-6AAEA33F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A5CEFC-82D1-368E-BCD7-D321043A6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C7F370-EF9A-7FD0-8BED-C259BD72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FBEA45-855E-A469-5030-28A1F253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E8EC65-B032-D02E-B412-C8BD442D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3420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C46867-9534-F66C-1703-7DC155FA7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2886BC-FC76-BE20-5204-E153FC407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A33BEA-4C05-F01D-40DE-E6C072FB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752A02-303A-9DBC-8D8B-F05895D8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2D6BB-4941-A995-A558-373BC0E3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6479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4E4D2-6378-B07A-3774-15B61B66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86D65F-18AF-F0B7-7CFF-A43781ED7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B2DF6A-F326-BABE-17FD-77DA1A8C9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D1045-B64F-F44F-8F73-508556646819}" type="datetimeFigureOut">
              <a:rPr lang="ru-GB" smtClean="0"/>
              <a:t>04/02/2026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C4A104-A9A6-083E-8774-255B44E8A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8D0B8F-E9FF-890A-17F9-A372DD712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953A8-28C0-EE41-AB57-9A9A186406E6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1998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62AB0-7C17-4E3F-3A6C-88F798145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GB" b="1" dirty="0"/>
              <a:t>Векторно-матричное дифференцирование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B8B436-21FF-9653-46FA-3E86907B0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GB" dirty="0"/>
              <a:t>Семинар 3</a:t>
            </a:r>
          </a:p>
        </p:txBody>
      </p:sp>
    </p:spTree>
    <p:extLst>
      <p:ext uri="{BB962C8B-B14F-4D97-AF65-F5344CB8AC3E}">
        <p14:creationId xmlns:p14="http://schemas.microsoft.com/office/powerpoint/2010/main" val="24777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8C6B0-C639-C1FE-A594-A7AA3AF1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GB" b="1" dirty="0"/>
              <a:t>Агенда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A80373-D171-1484-387F-C485B02A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Зачем это нужно?</a:t>
            </a:r>
          </a:p>
          <a:p>
            <a:r>
              <a:rPr lang="ru-RU" dirty="0"/>
              <a:t>Дифференцирование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SGD</a:t>
            </a:r>
          </a:p>
          <a:p>
            <a:endParaRPr lang="ru-RU" dirty="0"/>
          </a:p>
          <a:p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54784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4F81C-D1FA-CF79-94E1-0533CB40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 это нужно?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A6FB7F-5A5C-6E89-497E-235E53D4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</a:t>
            </a:r>
            <a:r>
              <a:rPr lang="en-US" dirty="0"/>
              <a:t>ML/DL </a:t>
            </a:r>
            <a:r>
              <a:rPr lang="ru-RU" dirty="0"/>
              <a:t>большинство моделей обучаются с помощью методов оптимизации, основанных на </a:t>
            </a:r>
            <a:r>
              <a:rPr lang="ru-RU" b="1" dirty="0"/>
              <a:t>градиентном спуске </a:t>
            </a:r>
            <a:r>
              <a:rPr lang="ru-RU" dirty="0"/>
              <a:t>или его модификациях. </a:t>
            </a:r>
          </a:p>
          <a:p>
            <a:pPr marL="0" indent="0">
              <a:buNone/>
            </a:pPr>
            <a:r>
              <a:rPr lang="ru-RU" dirty="0"/>
              <a:t>Для этого необходимо уметь вычислять </a:t>
            </a:r>
            <a:r>
              <a:rPr lang="ru-RU" b="1" dirty="0"/>
              <a:t>градиенты функции потерь </a:t>
            </a:r>
            <a:r>
              <a:rPr lang="ru-RU" dirty="0"/>
              <a:t>относительно </a:t>
            </a:r>
            <a:r>
              <a:rPr lang="ru-RU" b="1" dirty="0"/>
              <a:t>параметров модели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Однако в задачах, где параметры представлены </a:t>
            </a:r>
            <a:r>
              <a:rPr lang="ru-RU" b="1" dirty="0"/>
              <a:t>векторами или матрицами</a:t>
            </a:r>
            <a:r>
              <a:rPr lang="ru-RU" dirty="0"/>
              <a:t>, покоординатное вычисление производных становится </a:t>
            </a:r>
            <a:r>
              <a:rPr lang="ru-RU" b="1" dirty="0"/>
              <a:t>громоздким и непрактичным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312490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2AC7-3EDE-07CA-B276-A308642B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7B4FE-8F80-A563-8E49-2BB9E3C0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Одномерный случай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1B35556-ECA5-FE8D-1303-0B001A08B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1690688"/>
            <a:ext cx="8070273" cy="455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7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ABC2F-CB08-F175-DFE8-6740FD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BCA0A-05DD-EFAD-6EB6-B9484C8E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Одномерный случай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444757-467A-A6F1-8B56-A0EB2E687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Г</a:t>
            </a:r>
            <a:r>
              <a:rPr lang="ru-GB" dirty="0"/>
              <a:t>еометрический смысл производной</a:t>
            </a:r>
          </a:p>
        </p:txBody>
      </p:sp>
      <p:pic>
        <p:nvPicPr>
          <p:cNvPr id="5" name="Объект 4" descr="Изображение выглядит как линия, Цвет электр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B14EF1-DB6B-1479-C0AA-59D6F2E76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40625"/>
            <a:ext cx="10515600" cy="299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1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0DA2-A9E2-DA58-EC83-53C1E5B8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08AED-A0CF-1A24-0024-A499B7EF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Многомерная функция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F96E8EFC-2254-D8CF-2B1E-DFCE21C70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1690687"/>
            <a:ext cx="8624455" cy="43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3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2770-BCBE-78B6-1E67-8AE1599B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EB827-49FB-3EFF-EDC6-97E2884D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Многомерная функция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75593A-A1ED-A2F1-04D7-5F96F11C6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Г</a:t>
            </a:r>
            <a:r>
              <a:rPr lang="ru-GB" dirty="0"/>
              <a:t>еометрический сымсл градиента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CED1B11-E0DC-8169-AF86-521823D49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60581" y="2456584"/>
            <a:ext cx="8335818" cy="385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97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015D-B24D-0CE6-E466-5A8B6ED7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Шрифт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0CBEFBD-A0CF-9D48-F57E-B64878B6E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9486900" cy="33147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06398-32FF-F70E-0037-D623174F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Дифференциал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3D02E8-8B51-A8AD-0247-B8C11678D72A}"/>
              </a:ext>
            </a:extLst>
          </p:cNvPr>
          <p:cNvSpPr/>
          <p:nvPr/>
        </p:nvSpPr>
        <p:spPr>
          <a:xfrm>
            <a:off x="1091381" y="2286000"/>
            <a:ext cx="4195916" cy="19984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17130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A3BD-63A2-3747-283E-2EFF94DD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64ED3083-3943-7107-B033-A19346EA8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798240"/>
            <a:ext cx="10621804" cy="335954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4C0F2-C331-B4BB-B8F4-11E7B2643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Матричнозначная</a:t>
            </a:r>
            <a:r>
              <a:rPr lang="ru-RU" b="1" dirty="0"/>
              <a:t>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3506183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60D3-DE8B-7B01-DC45-61961CBE9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119D8-AC48-C434-977A-54FF96AE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Линейная регрессия в матричном виде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176928E-9759-A0D1-0A88-65538B77F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083854" cy="351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B7E4-E9E5-7340-9564-3F85CF70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B2150-4881-1022-BA5C-B17A299F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Линейная регрессия в матричном виде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86A286D-DFE5-2BE0-855F-B408A4398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329472" cy="382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4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4C0E9-490D-DCC6-C368-88E29037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78E9D-A103-EF9F-AF3A-CD31387D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Аналитическое решение линейной регрессии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FAA32735-AC9D-401E-B0F7-B7C49EE2A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1690688"/>
            <a:ext cx="5538514" cy="41971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B85DB6-21B8-5F82-2207-6854FDA5765B}"/>
                  </a:ext>
                </a:extLst>
              </p:cNvPr>
              <p:cNvSpPr txBox="1"/>
              <p:nvPr/>
            </p:nvSpPr>
            <p:spPr>
              <a:xfrm>
                <a:off x="6690732" y="1973766"/>
                <a:ext cx="4663067" cy="1242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Обращение матрицы </a:t>
                </a:r>
                <a:r>
                  <a:rPr lang="en-US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endParaRPr lang="ru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GB" dirty="0"/>
                  <a:t>Если матрица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GB" dirty="0"/>
                  <a:t> необратима, то решений нет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u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B85DB6-21B8-5F82-2207-6854FDA57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732" y="1973766"/>
                <a:ext cx="4663067" cy="1242776"/>
              </a:xfrm>
              <a:prstGeom prst="rect">
                <a:avLst/>
              </a:prstGeom>
              <a:blipFill>
                <a:blip r:embed="rId4"/>
                <a:stretch>
                  <a:fillRect l="-1090" t="-2020"/>
                </a:stretch>
              </a:blipFill>
            </p:spPr>
            <p:txBody>
              <a:bodyPr/>
              <a:lstStyle/>
              <a:p>
                <a:r>
                  <a:rPr lang="ru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813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81A02-6E2A-0D51-16AC-8E01AAF7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015C5F1-6EFD-9177-37F8-306112588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7919" y="2787364"/>
            <a:ext cx="3557156" cy="2667867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85236-FEEE-5C72-5447-553070C9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Градиентный спуск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24B279-12D6-F274-91B4-EE58397DE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55" y="2787364"/>
            <a:ext cx="3654137" cy="2740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32B9D-2957-7698-1F66-80400B0F10D1}"/>
              </a:ext>
            </a:extLst>
          </p:cNvPr>
          <p:cNvSpPr txBox="1"/>
          <p:nvPr/>
        </p:nvSpPr>
        <p:spPr>
          <a:xfrm>
            <a:off x="5624946" y="5455231"/>
            <a:ext cx="242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Большой </a:t>
            </a:r>
            <a:r>
              <a:rPr lang="en-US" dirty="0"/>
              <a:t>learning rate</a:t>
            </a:r>
            <a:endParaRPr lang="ru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912E7-D538-0A45-9D93-CA49C20E650E}"/>
              </a:ext>
            </a:extLst>
          </p:cNvPr>
          <p:cNvSpPr txBox="1"/>
          <p:nvPr/>
        </p:nvSpPr>
        <p:spPr>
          <a:xfrm>
            <a:off x="1473414" y="5460858"/>
            <a:ext cx="264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Маленький </a:t>
            </a:r>
            <a:r>
              <a:rPr lang="en-US" dirty="0"/>
              <a:t>learning rate</a:t>
            </a:r>
            <a:endParaRPr lang="ru-GB" dirty="0"/>
          </a:p>
        </p:txBody>
      </p:sp>
      <p:pic>
        <p:nvPicPr>
          <p:cNvPr id="12" name="Рисунок 11" descr="Изображение выглядит как Шрифт, типография, текст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856AC5E-3DB8-D969-EA37-5B3A2CF797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0"/>
          <a:stretch/>
        </p:blipFill>
        <p:spPr>
          <a:xfrm>
            <a:off x="1222445" y="1858026"/>
            <a:ext cx="2693512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0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9A86-69B3-1080-1C8C-BFBC1474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Объект 9" descr="Изображение выглядит как текст, Шрифт, чек, алгеб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F6EEFDE-4747-1E1B-8D41-EB3F46034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1919" y="1694844"/>
            <a:ext cx="10988162" cy="2249545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0B606-C038-0C18-C7CC-DD7FAEFB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Градиентный спуск</a:t>
            </a:r>
          </a:p>
        </p:txBody>
      </p:sp>
    </p:spTree>
    <p:extLst>
      <p:ext uri="{BB962C8B-B14F-4D97-AF65-F5344CB8AC3E}">
        <p14:creationId xmlns:p14="http://schemas.microsoft.com/office/powerpoint/2010/main" val="323669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8FBD-D593-B393-5A85-F4CA2849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7BFDF-6494-C65C-BCC5-2373A99D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SGD</a:t>
            </a:r>
            <a:endParaRPr lang="ru-RU" b="1" dirty="0"/>
          </a:p>
        </p:txBody>
      </p:sp>
      <p:pic>
        <p:nvPicPr>
          <p:cNvPr id="6" name="Объект 5" descr="Изображение выглядит как текст, чек, алгебр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B7C81A5-3D1C-51C1-A18F-E247CCB53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515600" cy="2210023"/>
          </a:xfrm>
        </p:spPr>
      </p:pic>
    </p:spTree>
    <p:extLst>
      <p:ext uri="{BB962C8B-B14F-4D97-AF65-F5344CB8AC3E}">
        <p14:creationId xmlns:p14="http://schemas.microsoft.com/office/powerpoint/2010/main" val="95992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DD1AB-3F0A-EB4D-8A30-43438DFF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21673-EFF0-9DA3-35F8-BAF7A341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Mini-Batch Gradient Descent</a:t>
            </a:r>
            <a:endParaRPr lang="ru-RU" b="1" dirty="0"/>
          </a:p>
        </p:txBody>
      </p:sp>
      <p:pic>
        <p:nvPicPr>
          <p:cNvPr id="4" name="Рисунок 3" descr="Изображение выглядит как Шрифт, текст, белый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704FFE2-ED52-0E83-19D1-7E0B65F22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85719"/>
            <a:ext cx="6933709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65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E9DD-3725-B996-ABC3-8684F90A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54E869-02B7-3154-C157-A9C5EECA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283" y="1232537"/>
            <a:ext cx="4905433" cy="439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27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590</Words>
  <Application>Microsoft Macintosh PowerPoint</Application>
  <PresentationFormat>Широкоэкранный</PresentationFormat>
  <Paragraphs>88</Paragraphs>
  <Slides>17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Google Sans</vt:lpstr>
      <vt:lpstr>Helvetica</vt:lpstr>
      <vt:lpstr>KaTeX_Main</vt:lpstr>
      <vt:lpstr>KaTeX_Math</vt:lpstr>
      <vt:lpstr>quote-cjk-patch</vt:lpstr>
      <vt:lpstr>Roboto</vt:lpstr>
      <vt:lpstr>Тема Office</vt:lpstr>
      <vt:lpstr>Векторно-матричное дифференцирование</vt:lpstr>
      <vt:lpstr>Агенда</vt:lpstr>
      <vt:lpstr>Зачем это нужно?</vt:lpstr>
      <vt:lpstr>Одномерный случай</vt:lpstr>
      <vt:lpstr>Одномерный случай</vt:lpstr>
      <vt:lpstr>Многомерная функция</vt:lpstr>
      <vt:lpstr>Многомерная функция</vt:lpstr>
      <vt:lpstr>Дифференциал</vt:lpstr>
      <vt:lpstr>Матричнозначная функция</vt:lpstr>
      <vt:lpstr>Линейная регрессия в матричном виде</vt:lpstr>
      <vt:lpstr>Линейная регрессия в матричном виде</vt:lpstr>
      <vt:lpstr>Аналитическое решение линейной регрессии</vt:lpstr>
      <vt:lpstr>Градиентный спуск</vt:lpstr>
      <vt:lpstr>Градиентный спуск</vt:lpstr>
      <vt:lpstr>SGD</vt:lpstr>
      <vt:lpstr>Mini-Batch Gradient Descent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c77904</dc:creator>
  <cp:lastModifiedBy>c77904</cp:lastModifiedBy>
  <cp:revision>1</cp:revision>
  <dcterms:created xsi:type="dcterms:W3CDTF">2026-02-04T15:55:00Z</dcterms:created>
  <dcterms:modified xsi:type="dcterms:W3CDTF">2026-02-06T11:50:04Z</dcterms:modified>
</cp:coreProperties>
</file>