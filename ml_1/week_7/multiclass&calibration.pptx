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93" r:id="rId7"/>
    <p:sldId id="294" r:id="rId8"/>
    <p:sldId id="295" r:id="rId9"/>
    <p:sldId id="296" r:id="rId10"/>
    <p:sldId id="297" r:id="rId11"/>
    <p:sldId id="299" r:id="rId12"/>
    <p:sldId id="300" r:id="rId13"/>
    <p:sldId id="298" r:id="rId14"/>
    <p:sldId id="261" r:id="rId15"/>
    <p:sldId id="301" r:id="rId16"/>
    <p:sldId id="302" r:id="rId17"/>
    <p:sldId id="303" r:id="rId18"/>
    <p:sldId id="305" r:id="rId19"/>
    <p:sldId id="304" r:id="rId20"/>
    <p:sldId id="309" r:id="rId21"/>
    <p:sldId id="310" r:id="rId22"/>
    <p:sldId id="312" r:id="rId23"/>
    <p:sldId id="311" r:id="rId24"/>
    <p:sldId id="262" r:id="rId25"/>
    <p:sldId id="306" r:id="rId26"/>
    <p:sldId id="307" r:id="rId27"/>
    <p:sldId id="308" r:id="rId28"/>
    <p:sldId id="313" r:id="rId29"/>
  </p:sldIdLst>
  <p:sldSz cx="12192000" cy="6858000"/>
  <p:notesSz cx="6858000" cy="9144000"/>
  <p:defaultTextStyle>
    <a:defPPr>
      <a:defRPr lang="ru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294"/>
    <p:restoredTop sz="91942"/>
  </p:normalViewPr>
  <p:slideViewPr>
    <p:cSldViewPr snapToGrid="0">
      <p:cViewPr varScale="1">
        <p:scale>
          <a:sx n="110" d="100"/>
          <a:sy n="110" d="100"/>
        </p:scale>
        <p:origin x="6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GB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BEBF00-5E8D-264A-97EB-3271BEE203CE}" type="datetimeFigureOut">
              <a:rPr lang="ru-GB" smtClean="0"/>
              <a:t>3/12/26</a:t>
            </a:fld>
            <a:endParaRPr lang="ru-GB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GB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GB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7AE5BE-D43F-D646-9368-4EA0133E6314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815787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6990866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D0925-64CD-75A3-E7E4-28B76B46E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3E2A01B-4546-D337-74EC-69E4C7FFDC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3ACF96C-436B-D6CD-7B35-AE6B1E758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E8B81DE-BCB2-C553-E385-C2CE9D534A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4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527573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2C6BC-F273-990A-35AE-C6916383D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0C89409-391F-2FC4-06D6-8AFE7A162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89888F0-6E6D-1718-F628-45A23E6C7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1AE9A4-C887-7494-5851-806BD1AAB3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5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1449341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75A20-8EDF-7CE5-A75A-D1F7C1785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F2B4FC3-7681-7B82-F452-7F1CE6246D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933A44A-FC87-BFD0-FDAC-79B9DA2FC0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A564FDD-3C06-3EAE-D4F2-CC74CC24D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6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916434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3C021-8791-2A54-9720-3CC017BEB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A377209-8D0A-C429-EF55-836D048CD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293B285-27A3-D009-40F1-B604BFBE31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1E9F29C-FB26-D710-2149-DA7CACE6B1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7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7566524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32DBB-9445-9308-8917-4D418184E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B575315-A5CB-45CB-8419-74F95DC7D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9FB642E-F132-D4A3-8DAD-1FA084A46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BF6AB8C-6706-B9E9-7156-B1DFA69AFE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8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8678386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B433A-D182-14E3-6C0F-8F4B63177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06C68BF-F1AD-85A9-BEE2-D69B5F160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AA6FF40-4337-5952-5ED0-093076436F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EEF4335-5BB6-D731-8A87-B1CF2A7073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9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78421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6F7D0-08F2-D9B3-91ED-6BAE5E445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BEB0B35-B2D5-DD97-66DA-65698DAB77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FAC2608-7CD3-277B-34B1-49C0E227C8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3A39E39-32D1-38EA-336F-C08F7EEF63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10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342730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5C459-C6F6-5829-F520-A5C3A0B2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0918DB8-5C9A-3B03-D55A-EA5F2A8642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7E20A0B-8F6B-925D-F808-BAEC22ACE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1ADD2A0-F7C7-8F63-5D0D-BAD96A51F1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11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9740550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20448-C2E7-6DE9-3E0C-3D337A1C5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E7257C-21DE-7CAA-4FEE-05D6B0419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131F47E-B07A-0F80-3AB3-D2A9E97C6D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6AF9084-A943-89DD-39BB-AF8685C209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12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5912103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FD396-E9BC-CD97-6F18-FCE623D63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F070ECF-38B7-8FE6-FEC9-64AD48C22C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2522B6E-BB62-576E-F96C-1751D8008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BCF18A1-5EC7-8D95-39A7-C302C1F75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13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0700063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EFC7A-DC27-F11B-3D64-006AA7D02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A624433-596A-9438-B629-6A766CB94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C57DA9E-0CD6-9C33-6D36-4E4BE6B64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5E87930-55A3-02FB-B156-028AFD2445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14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413838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9AAF1-C884-6850-2CFC-CFC296D5C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EA53DA9-D711-ED07-B06A-50F8AD0043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D4332B8-ED94-E707-FF46-F19B614C7F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8802009-195A-50F1-5211-9A695D3C20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15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3392238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A1AB4-7124-125E-B065-5D1FC873C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358A8D2-BA74-DCCF-FC9C-4F4F4753BD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2D6838E-6DB1-DDEF-7729-72F67A41E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26CFBD-45FE-FFF5-73B1-1CE5B3C322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16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631688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0764A-B65C-3374-7102-DE583E642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B82E294-E89D-5DC3-7296-6D8A3148D0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A219090-12F1-1689-6E89-96E37A6E2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3FA251A-CB16-393F-EB82-AB21B37A3F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17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373636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83038-44FE-F743-5410-CD1E836D6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075AA17-1BB8-02E1-856F-83C752DED4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DFD509A-3C6F-19CF-7531-0A85CC4F2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EEE6148-D9CF-0FE7-C779-E6BFBFADB4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18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7937207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6D062-1B02-551B-9B7E-9DA08B8B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9077E23-600E-A9B3-65C3-F92CDF4E45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41D2CEB-EA57-8DFB-15EC-4958DC5D95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703C8C1-0213-973B-22FC-8273C3999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19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4331515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41FD3-25F4-7302-0A76-B27795920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1C5089-6F6D-0B03-804D-13C15072E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892B6DC-8C57-EC12-D294-DE32479E1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8E69BA3-1D38-83C2-C065-7FD8AD946E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20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0948041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B8C68-575D-4164-48B8-EE3393AAE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BA749AB-5527-BB9B-5449-6F03E6C32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0B5DECC-1D24-8B87-95DA-9E0E68F7E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E1A9B4C-DF64-5372-96C1-653BF7F4EE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21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5608871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5FBF7-6799-8A04-C995-3D12E7E9E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9C3E103F-C9A1-08D7-4D10-0955216B5F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C0CA8F6-B6F6-2491-2D46-1519A1FCA2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A24314C-DAFA-0BF0-285C-DE08DE517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22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6819115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5B171-45B3-06B2-1A75-91B04DEA3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A23FC7-A6AE-A9E7-CDF4-5705398BE6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30B1B2A-5131-BFE0-F478-8ED37FCB1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E61F39A-5F3F-3A5F-49BB-3F57D0493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23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57451175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4E403-C8C7-29A6-5577-338F8D28A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45FC44E-701F-5B13-8FDD-6396E1441E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D154850-58CB-F6CD-5884-2D33250BE2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7F05238-7133-77FE-5D15-D3B2779C4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24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4145739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E5737-8E5A-2C94-4761-373FC0E16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A2CC640-A9B4-D168-C232-E49A149C6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18DB295-DF82-5C93-E773-72E3499C5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C617B1-B3D1-47E9-9259-50C5CC583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25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70001607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17758-478D-4ABF-9255-8BCD15018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C8698AE-1A6A-2B84-791C-DC7B078940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431D041-B63B-6B25-0BB8-2C8DAA4BCD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A4D618C-D29F-9B9E-1855-6C29ED5293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26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0492568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CD701-4DF4-F090-C378-2AB9B0719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2F6E61E-FED1-FDD5-3556-599157761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CA05279-DB26-BEA8-A03D-CB1A3C24CE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8CA32DF-0C63-A403-9BE3-742EA44B3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27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959940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47330-1A2E-0F2D-BBFC-7B18F75B2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F522D8E-0C4C-AB0D-B0D2-B4E2A153B8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0F24614-45B5-221D-E4C2-02E42D479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0E4E1F-FA76-282C-E413-E263ACABB3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7AE5BE-D43F-D646-9368-4EA0133E6314}" type="slidenum">
              <a:rPr lang="ru-GB" smtClean="0"/>
              <a:t>28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905368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8AA6B2-48EA-9306-5A6D-7D9CEA4AE7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F471C99-3C65-9AA2-5CA5-05A2D3C449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D7AFF9-65E4-A01D-7A52-658E97997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80C48-8932-7A4C-BED0-B627A1572044}" type="datetimeFigureOut">
              <a:rPr lang="ru-GB" smtClean="0"/>
              <a:t>3/12/26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FF6081-808D-0A12-F342-15A4DE0B4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CD5F81-A1E3-D4B4-476D-696DE8E0A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500F5-C96B-CA4F-8D0F-F03105DD4614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64929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8EBF7D-55CC-9731-03C1-3F1A23E62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9F2BBB-349B-3E1B-C005-665C9CA5E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EE9F784-9B9C-6D8F-9049-92C3F0D1A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80C48-8932-7A4C-BED0-B627A1572044}" type="datetimeFigureOut">
              <a:rPr lang="ru-GB" smtClean="0"/>
              <a:t>3/12/26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E021B0-E3DC-7006-E3BB-DF147FC55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767E03C-7178-1975-AC2E-21CC99C22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500F5-C96B-CA4F-8D0F-F03105DD4614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1316502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6EEECE-6CD2-D739-A097-D6BEF11A1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953E19B-1C9E-0213-C3B7-ED01F0570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171647-4026-2440-5027-838F1A197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80C48-8932-7A4C-BED0-B627A1572044}" type="datetimeFigureOut">
              <a:rPr lang="ru-GB" smtClean="0"/>
              <a:t>3/12/26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D466F5D-4104-6906-99BD-AB0A7AAE2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7B60B8E-65ED-4FFB-DABD-CAAC23E4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500F5-C96B-CA4F-8D0F-F03105DD4614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4284852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01970D-F678-4A7F-0797-ABAA299C0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DD7AED-A8BC-E785-8900-1C222F93A2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1ED92BF-52CC-CDEB-C62C-C3B3168EA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0397F16-0FEA-41D8-098C-A618C1C3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80C48-8932-7A4C-BED0-B627A1572044}" type="datetimeFigureOut">
              <a:rPr lang="ru-GB" smtClean="0"/>
              <a:t>3/12/26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62FCF92-DE3F-18CC-D861-F0740BF4F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EC3FB51-7DAA-A98C-65D1-BEB5E038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500F5-C96B-CA4F-8D0F-F03105DD4614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448877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726F3B-F088-416A-4419-FDA91D455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8ACF235-0704-5B39-FA6D-8CE589634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2101F8D-9696-E2A9-E1D4-FCA66DD33E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29BAA3C-1592-911C-8ED3-91D83F67D3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3AC0C44-7FBA-5F76-8948-EF19E69850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63ACA4E-D6E6-488B-2EBA-FF6408AD9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80C48-8932-7A4C-BED0-B627A1572044}" type="datetimeFigureOut">
              <a:rPr lang="ru-GB" smtClean="0"/>
              <a:t>3/12/26</a:t>
            </a:fld>
            <a:endParaRPr lang="ru-GB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B3F6AEA-587C-D01B-6DCF-ABED2E2ED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55FDF26-E208-8FCA-6102-0BE29E2A3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500F5-C96B-CA4F-8D0F-F03105DD4614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841154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2A0ED9-D603-F355-54A2-7B0EA284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D5ACFCF-39E6-5D52-106A-1F3434AC4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80C48-8932-7A4C-BED0-B627A1572044}" type="datetimeFigureOut">
              <a:rPr lang="ru-GB" smtClean="0"/>
              <a:t>3/12/26</a:t>
            </a:fld>
            <a:endParaRPr lang="ru-GB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25E1009-0356-E94F-1AEA-A25A02CAE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EE5BACC-7820-7FB9-A721-DA7A2D022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500F5-C96B-CA4F-8D0F-F03105DD4614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724667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57D7C18-80AB-0479-6907-EFDFDD3F6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80C48-8932-7A4C-BED0-B627A1572044}" type="datetimeFigureOut">
              <a:rPr lang="ru-GB" smtClean="0"/>
              <a:t>3/12/26</a:t>
            </a:fld>
            <a:endParaRPr lang="ru-GB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8DB5BF1-FD3C-033D-9404-774FBB2DC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F29E85D-4ABB-D6F7-CC1E-14633C2BF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500F5-C96B-CA4F-8D0F-F03105DD4614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641182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691BED-1A56-73D2-B151-FEC96394C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68278DC-4DC4-D216-D314-B65413803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0D25E4-F7E8-B8C7-61A5-5B1B16E03F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4B0297-B1CB-9AA0-64F8-D872B092B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80C48-8932-7A4C-BED0-B627A1572044}" type="datetimeFigureOut">
              <a:rPr lang="ru-GB" smtClean="0"/>
              <a:t>3/12/26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A2B5DEE-A949-C584-C6DB-2154DF7E0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E03790B-161B-F7DA-D951-4578107A8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500F5-C96B-CA4F-8D0F-F03105DD4614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41715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9B4CEB-2833-0C20-5C97-A0EA1CA4E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0CB86EF-B70C-C0F1-5766-D5655DBBC1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GB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22E5D3B-257E-3959-F2C8-EF78C6093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79C052-2987-9D01-0BC2-E9D0585FD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80C48-8932-7A4C-BED0-B627A1572044}" type="datetimeFigureOut">
              <a:rPr lang="ru-GB" smtClean="0"/>
              <a:t>3/12/26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957F0D-2DAE-F137-D61C-9EEB7B542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54B5F4-30A2-981E-018A-767086F21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500F5-C96B-CA4F-8D0F-F03105DD4614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621641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C8AA94-F032-977B-283C-31F023398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D5601CF-13C3-EDB8-81E9-D223D8093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DC68E24-BBD0-435C-5021-5442D9C37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80C48-8932-7A4C-BED0-B627A1572044}" type="datetimeFigureOut">
              <a:rPr lang="ru-GB" smtClean="0"/>
              <a:t>3/12/26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8B0EF8-2520-AF38-EB3D-66C92A706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3987068-30D2-8242-827A-8F75A6F0F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500F5-C96B-CA4F-8D0F-F03105DD4614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522799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FA3CAD3-ABBD-596C-3C78-FCCFFB65C0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05C9E60-C3B0-E00A-38FB-6915AB0DF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7ECB03-9B0A-F5D1-0625-37587AD7A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80C48-8932-7A4C-BED0-B627A1572044}" type="datetimeFigureOut">
              <a:rPr lang="ru-GB" smtClean="0"/>
              <a:t>3/12/26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595B85-92E2-6877-7D5F-21914F070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4CA5C8B-C20C-6FDD-C66B-06C746F7B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500F5-C96B-CA4F-8D0F-F03105DD4614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4051982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0BE459-4019-D737-214E-C1739E037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5AD991-9CB1-F66E-2F16-DC353179D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9EA80F-5656-4F11-C568-D22C999EE9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680C48-8932-7A4C-BED0-B627A1572044}" type="datetimeFigureOut">
              <a:rPr lang="ru-GB" smtClean="0"/>
              <a:t>3/12/26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88CB29-9BBB-8A3C-0F5C-744DECC67E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9E8C2B8-E155-F59D-4BDF-80D7B64F70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6500F5-C96B-CA4F-8D0F-F03105DD4614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397967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e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E8AC80-B180-8C86-099D-771CA4BCDC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err="1"/>
              <a:t>Многоклассовая</a:t>
            </a:r>
            <a:r>
              <a:rPr lang="ru-RU" b="1" dirty="0"/>
              <a:t> классификация и калибровка вероятностей</a:t>
            </a:r>
            <a:endParaRPr lang="ru-GB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EFDFE3D-A5F5-9F92-FF80-929CB54E55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GB" dirty="0"/>
              <a:t>Семинар </a:t>
            </a:r>
            <a:r>
              <a:rPr lang="en-US" dirty="0"/>
              <a:t>7</a:t>
            </a:r>
            <a:endParaRPr lang="ru-GB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4269EA8-222F-C8F3-064E-6C1E49397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10" y="5025163"/>
            <a:ext cx="10990379" cy="1167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495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B76692-509F-5182-62E1-931BBBE90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GB" b="1" dirty="0"/>
              <a:t>План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9C750B3-F8CC-092A-E435-2A9E03997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Почему </a:t>
            </a:r>
            <a:r>
              <a:rPr lang="en-US" dirty="0">
                <a:solidFill>
                  <a:srgbClr val="000000"/>
                </a:solidFill>
                <a:effectLst/>
                <a:latin typeface="Helvetica" pitchFamily="2" charset="0"/>
              </a:rPr>
              <a:t>ROC-AUC "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врет" при дисбалансе классов?</a:t>
            </a:r>
          </a:p>
          <a:p>
            <a:r>
              <a:rPr lang="ru-RU" dirty="0">
                <a:latin typeface="Helvetica" pitchFamily="2" charset="0"/>
              </a:rPr>
              <a:t>Как модели прогнозируют </a:t>
            </a:r>
            <a:r>
              <a:rPr lang="en-US" dirty="0">
                <a:latin typeface="Helvetica" pitchFamily="2" charset="0"/>
              </a:rPr>
              <a:t>“</a:t>
            </a:r>
            <a:r>
              <a:rPr lang="ru-RU" dirty="0">
                <a:latin typeface="Helvetica" pitchFamily="2" charset="0"/>
              </a:rPr>
              <a:t>вероятности</a:t>
            </a:r>
            <a:r>
              <a:rPr lang="en-US" dirty="0">
                <a:latin typeface="Helvetica" pitchFamily="2" charset="0"/>
              </a:rPr>
              <a:t>”</a:t>
            </a:r>
            <a:r>
              <a:rPr lang="ru-RU" dirty="0">
                <a:latin typeface="Helvetica" pitchFamily="2" charset="0"/>
              </a:rPr>
              <a:t>?</a:t>
            </a:r>
            <a:endParaRPr lang="ru-GB" dirty="0">
              <a:latin typeface="Helvetica" pitchFamily="2" charset="0"/>
            </a:endParaRPr>
          </a:p>
          <a:p>
            <a:r>
              <a:rPr lang="ru-RU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Многоклассовая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классификация</a:t>
            </a:r>
            <a:endParaRPr lang="en-US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Метрики </a:t>
            </a:r>
            <a:r>
              <a:rPr lang="ru-RU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многоклассовой</a:t>
            </a:r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классификации</a:t>
            </a:r>
            <a:endParaRPr lang="en-US" dirty="0">
              <a:solidFill>
                <a:srgbClr val="000000"/>
              </a:solidFill>
              <a:effectLst/>
              <a:latin typeface="Helvetica" pitchFamily="2" charset="0"/>
            </a:endParaRPr>
          </a:p>
          <a:p>
            <a:r>
              <a:rPr lang="ru-RU" dirty="0">
                <a:solidFill>
                  <a:srgbClr val="000000"/>
                </a:solidFill>
                <a:effectLst/>
                <a:latin typeface="Helvetica" pitchFamily="2" charset="0"/>
              </a:rPr>
              <a:t>Калибровка вероятностей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9096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703CB-C711-85E9-78EE-EBF448E55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E8CD1B-FB3B-48E6-B1FC-F0C867FDB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Почему </a:t>
            </a:r>
            <a:r>
              <a:rPr lang="en-US" b="1" dirty="0">
                <a:solidFill>
                  <a:srgbClr val="000000"/>
                </a:solidFill>
                <a:effectLst/>
                <a:latin typeface="Helvetica" pitchFamily="2" charset="0"/>
              </a:rPr>
              <a:t>ROC-AUC "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врет" при дисбалансе классов?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A683890-A1E9-D024-96C6-50951E6A9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57700" cy="600075"/>
          </a:xfrm>
        </p:spPr>
        <p:txBody>
          <a:bodyPr/>
          <a:lstStyle/>
          <a:p>
            <a:pPr marL="0" indent="0">
              <a:buNone/>
            </a:pPr>
            <a:r>
              <a:rPr lang="ru-GB" dirty="0"/>
              <a:t>ноутбук </a:t>
            </a:r>
            <a:r>
              <a:rPr lang="en-US" dirty="0" err="1"/>
              <a:t>auc.ipynb</a:t>
            </a:r>
            <a:r>
              <a:rPr lang="ru-GB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655928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C7A92-DD04-691C-8949-C622DBA3B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4299E0-27E4-826D-3EE8-28AE1D823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Как модели прогнозируют </a:t>
            </a:r>
            <a:r>
              <a:rPr lang="en-US" b="1" dirty="0">
                <a:solidFill>
                  <a:srgbClr val="000000"/>
                </a:solidFill>
                <a:effectLst/>
                <a:latin typeface="Helvetica" pitchFamily="2" charset="0"/>
              </a:rPr>
              <a:t>“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вероятности</a:t>
            </a:r>
            <a:r>
              <a:rPr lang="en-US" b="1" dirty="0">
                <a:solidFill>
                  <a:srgbClr val="000000"/>
                </a:solidFill>
                <a:effectLst/>
                <a:latin typeface="Helvetica" pitchFamily="2" charset="0"/>
              </a:rPr>
              <a:t>”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?</a:t>
            </a:r>
          </a:p>
        </p:txBody>
      </p:sp>
      <p:pic>
        <p:nvPicPr>
          <p:cNvPr id="4" name="Объект 3" descr="Изображение выглядит как линия, График, текст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CAE67B1-5067-7221-EA41-5728F9DF4A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21877"/>
            <a:ext cx="7477897" cy="3291959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76D2FE6-9FD0-1AF3-FE5E-788283984A84}"/>
                  </a:ext>
                </a:extLst>
              </p:cNvPr>
              <p:cNvSpPr txBox="1"/>
              <p:nvPr/>
            </p:nvSpPr>
            <p:spPr>
              <a:xfrm>
                <a:off x="1767017" y="5029170"/>
                <a:ext cx="17924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</m:oMath>
                  </m:oMathPara>
                </a14:m>
                <a:endParaRPr lang="ru-GB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76D2FE6-9FD0-1AF3-FE5E-788283984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017" y="5029170"/>
                <a:ext cx="179241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8C54B1-CC45-4AAF-88A9-A5DD28BC3143}"/>
                  </a:ext>
                </a:extLst>
              </p:cNvPr>
              <p:cNvSpPr txBox="1"/>
              <p:nvPr/>
            </p:nvSpPr>
            <p:spPr>
              <a:xfrm>
                <a:off x="4771957" y="5029170"/>
                <a:ext cx="3679469" cy="6173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−&lt;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8C54B1-CC45-4AAF-88A9-A5DD28BC31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1957" y="5029170"/>
                <a:ext cx="3679469" cy="617348"/>
              </a:xfrm>
              <a:prstGeom prst="rect">
                <a:avLst/>
              </a:prstGeom>
              <a:blipFill>
                <a:blip r:embed="rId5"/>
                <a:stretch>
                  <a:fillRect b="-2041"/>
                </a:stretch>
              </a:blipFill>
            </p:spPr>
            <p:txBody>
              <a:bodyPr/>
              <a:lstStyle/>
              <a:p>
                <a:r>
                  <a:rPr lang="ru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67802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90D86-1D18-F0AC-249F-A50FE94B5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7D3B60-C496-0531-FF0D-2F2F9B1C0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Многоклассовая классификация</a:t>
            </a:r>
            <a:endParaRPr lang="ru-GB" b="1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F826A3E-6AE4-C590-BA10-8D5D22112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03858" cy="330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GB" b="1" dirty="0"/>
              <a:t>Примеры:</a:t>
            </a:r>
          </a:p>
          <a:p>
            <a:r>
              <a:rPr lang="ru-RU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определения объекта на изображении</a:t>
            </a:r>
          </a:p>
          <a:p>
            <a:r>
              <a:rPr lang="ru-RU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определения тональности отзыва и многие другие</a:t>
            </a:r>
          </a:p>
          <a:p>
            <a:r>
              <a:rPr lang="ru-RU" dirty="0">
                <a:solidFill>
                  <a:srgbClr val="222222"/>
                </a:solidFill>
                <a:latin typeface="Roboto" panose="02000000000000000000" pitchFamily="2" charset="0"/>
              </a:rPr>
              <a:t>предсказание следующего слова при генерации текста </a:t>
            </a:r>
            <a:r>
              <a:rPr lang="en-US" dirty="0">
                <a:solidFill>
                  <a:srgbClr val="222222"/>
                </a:solidFill>
                <a:latin typeface="Roboto" panose="02000000000000000000" pitchFamily="2" charset="0"/>
              </a:rPr>
              <a:t>LLM</a:t>
            </a:r>
          </a:p>
          <a:p>
            <a:r>
              <a:rPr lang="ru-RU" dirty="0">
                <a:solidFill>
                  <a:srgbClr val="222222"/>
                </a:solidFill>
                <a:latin typeface="Roboto" panose="02000000000000000000" pitchFamily="2" charset="0"/>
              </a:rPr>
              <a:t>и </a:t>
            </a:r>
            <a:r>
              <a:rPr lang="ru-RU" dirty="0" err="1">
                <a:solidFill>
                  <a:srgbClr val="222222"/>
                </a:solidFill>
                <a:latin typeface="Roboto" panose="02000000000000000000" pitchFamily="2" charset="0"/>
              </a:rPr>
              <a:t>т.д</a:t>
            </a:r>
            <a:endParaRPr lang="ru-GB" dirty="0"/>
          </a:p>
          <a:p>
            <a:pPr marL="0" indent="0">
              <a:buNone/>
            </a:pPr>
            <a:endParaRPr lang="ru-GB" b="1" dirty="0"/>
          </a:p>
        </p:txBody>
      </p:sp>
    </p:spTree>
    <p:extLst>
      <p:ext uri="{BB962C8B-B14F-4D97-AF65-F5344CB8AC3E}">
        <p14:creationId xmlns:p14="http://schemas.microsoft.com/office/powerpoint/2010/main" val="35032742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828FF-BB0B-5193-CF79-6C22B8F85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546C79-A1B5-66EA-F7CA-CE7EBE249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Многоклассовая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классификация</a:t>
            </a:r>
            <a:endParaRPr lang="ru-GB" b="1" dirty="0"/>
          </a:p>
        </p:txBody>
      </p:sp>
      <p:pic>
        <p:nvPicPr>
          <p:cNvPr id="3074" name="Picture 2" descr="GitHub - floydhub/image-classification-template: Build a deep learning  model for classifying dog breeds from their images">
            <a:extLst>
              <a:ext uri="{FF2B5EF4-FFF2-40B4-BE49-F238E27FC236}">
                <a16:creationId xmlns:a16="http://schemas.microsoft.com/office/drawing/2014/main" id="{BAE076AC-4C3A-DA50-F129-D474C5971FC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155" y="1458460"/>
            <a:ext cx="4574751" cy="3694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Next Token Prediction is a Fundamental Function of the World">
            <a:extLst>
              <a:ext uri="{FF2B5EF4-FFF2-40B4-BE49-F238E27FC236}">
                <a16:creationId xmlns:a16="http://schemas.microsoft.com/office/drawing/2014/main" id="{47B4037F-CD78-2C1F-0D6C-2A0ABEB08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6625" y="1458459"/>
            <a:ext cx="4147375" cy="4612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Text classification in NLP">
            <a:extLst>
              <a:ext uri="{FF2B5EF4-FFF2-40B4-BE49-F238E27FC236}">
                <a16:creationId xmlns:a16="http://schemas.microsoft.com/office/drawing/2014/main" id="{B4C8717A-7C9B-F77B-E91F-2BD0486AD9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6800" y="3323772"/>
            <a:ext cx="2458400" cy="3294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6908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8E309-8C33-0949-D888-761FA823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BBC3C4-7F30-11B6-8105-3149D3B78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Многоклассовая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классификация</a:t>
            </a:r>
            <a:endParaRPr lang="ru-GB" b="1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EF2FE63-724F-B3ED-0FA2-ABEA0442CD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 dirty="0"/>
              <a:t>Multiclass </a:t>
            </a:r>
            <a:r>
              <a:rPr lang="ru-RU" sz="2400" dirty="0"/>
              <a:t>и </a:t>
            </a:r>
            <a:r>
              <a:rPr lang="en-US" sz="2400" b="1" dirty="0"/>
              <a:t>multilabel </a:t>
            </a:r>
            <a:r>
              <a:rPr lang="ru-RU" sz="2400" dirty="0"/>
              <a:t>классификации - это задачи разных типов.</a:t>
            </a:r>
          </a:p>
          <a:p>
            <a:r>
              <a:rPr lang="en-US" sz="2400" b="1" dirty="0"/>
              <a:t>Multiclass-</a:t>
            </a:r>
            <a:r>
              <a:rPr lang="ru-RU" sz="2400" b="1" dirty="0"/>
              <a:t>классификация:</a:t>
            </a:r>
            <a:r>
              <a:rPr lang="ru-RU" sz="2400" dirty="0"/>
              <a:t> задача, в которой целевая переменная - это один из нескольких классов (где классов может быть больше,  чем два)</a:t>
            </a:r>
          </a:p>
          <a:p>
            <a:r>
              <a:rPr lang="en-US" sz="2400" b="1" dirty="0"/>
              <a:t>Multilabel-</a:t>
            </a:r>
            <a:r>
              <a:rPr lang="ru-RU" sz="2400" b="1" dirty="0"/>
              <a:t>классификация:</a:t>
            </a:r>
            <a:r>
              <a:rPr lang="ru-RU" sz="2400" dirty="0"/>
              <a:t> задача, в которой для каждого объекта предсказывается несколько меток (например, для фильма одновременно можно предсказать его жанр, год выпуска, язык фильма и так далее). Или же на картинке может быть изображен не один объект, а несколько - и наша задача определить классы всех объектов.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Multilabel</a:t>
            </a:r>
            <a:r>
              <a:rPr lang="en-US" sz="2400" dirty="0"/>
              <a:t>-</a:t>
            </a:r>
            <a:r>
              <a:rPr lang="ru-RU" sz="2400" dirty="0"/>
              <a:t>задачу можно свести к серии </a:t>
            </a:r>
            <a:r>
              <a:rPr lang="en-US" sz="2400" b="1" dirty="0"/>
              <a:t>multiclass</a:t>
            </a:r>
            <a:r>
              <a:rPr lang="en-US" sz="2400" dirty="0"/>
              <a:t>-</a:t>
            </a:r>
            <a:r>
              <a:rPr lang="ru-RU" sz="2400" dirty="0"/>
              <a:t>задач.</a:t>
            </a:r>
          </a:p>
          <a:p>
            <a:pPr marL="0" indent="0">
              <a:buNone/>
            </a:pPr>
            <a:endParaRPr lang="ru-RU" sz="2400" dirty="0"/>
          </a:p>
          <a:p>
            <a:pPr marL="0" indent="0">
              <a:buNone/>
            </a:pPr>
            <a:r>
              <a:rPr lang="ru-RU" sz="2400" dirty="0"/>
              <a:t>Дальше мы будем обсуждать </a:t>
            </a:r>
            <a:r>
              <a:rPr lang="en-US" sz="2400" b="1" dirty="0"/>
              <a:t>multiclass</a:t>
            </a:r>
            <a:r>
              <a:rPr lang="en-US" sz="2400" dirty="0"/>
              <a:t>-</a:t>
            </a:r>
            <a:r>
              <a:rPr lang="ru-RU" sz="2400" dirty="0"/>
              <a:t>классификацию, когда у каждого объекта одна метка.</a:t>
            </a:r>
            <a:endParaRPr lang="ru-GB" sz="2400" dirty="0"/>
          </a:p>
        </p:txBody>
      </p:sp>
    </p:spTree>
    <p:extLst>
      <p:ext uri="{BB962C8B-B14F-4D97-AF65-F5344CB8AC3E}">
        <p14:creationId xmlns:p14="http://schemas.microsoft.com/office/powerpoint/2010/main" val="2638224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3CF2-DF0D-F761-1AE0-C00BF6683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C851F4-FD19-AEB5-B4D3-1CEDB8ABC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Многоклассовая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классификация</a:t>
            </a:r>
            <a:endParaRPr lang="ru-GB" b="1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3F80169-60E0-774E-1FF2-E9A2FE6E4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9"/>
            <a:ext cx="10515600" cy="16466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b="1" dirty="0"/>
              <a:t>Сведение к бинарной классификации</a:t>
            </a:r>
            <a:endParaRPr lang="en-US" sz="2400" b="1" dirty="0"/>
          </a:p>
          <a:p>
            <a:pPr marL="0" indent="0">
              <a:buNone/>
            </a:pPr>
            <a:r>
              <a:rPr lang="ru-RU" sz="2400" dirty="0"/>
              <a:t>Задачи </a:t>
            </a:r>
            <a:r>
              <a:rPr lang="ru-RU" sz="2400" dirty="0" err="1"/>
              <a:t>многоклассовой</a:t>
            </a:r>
            <a:r>
              <a:rPr lang="ru-RU" sz="2400" dirty="0"/>
              <a:t> (</a:t>
            </a:r>
            <a:r>
              <a:rPr lang="en-US" sz="2400" dirty="0"/>
              <a:t>multiclass) </a:t>
            </a:r>
            <a:r>
              <a:rPr lang="ru-RU" sz="2400" dirty="0"/>
              <a:t>классификации можно свести к серии бинарных задач. Два основных подхода называются </a:t>
            </a:r>
            <a:r>
              <a:rPr lang="en-US" sz="2400" b="1" dirty="0"/>
              <a:t>one-versus-one (OVO) </a:t>
            </a:r>
            <a:r>
              <a:rPr lang="ru-RU" sz="2400" b="1" dirty="0"/>
              <a:t>и </a:t>
            </a:r>
            <a:r>
              <a:rPr lang="en-US" sz="2400" b="1" dirty="0"/>
              <a:t>one-versus-rest (OVR)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b="1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47B472F-AC58-65F0-8E3C-6FB28D5FD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6258" y="2916387"/>
            <a:ext cx="4829996" cy="3392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8D417C-77A9-37F0-A024-513A878CC81F}"/>
              </a:ext>
            </a:extLst>
          </p:cNvPr>
          <p:cNvSpPr txBox="1"/>
          <p:nvPr/>
        </p:nvSpPr>
        <p:spPr>
          <a:xfrm>
            <a:off x="838200" y="3669958"/>
            <a:ext cx="609805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000" b="1" dirty="0"/>
              <a:t>One-versus-rest (OVR) </a:t>
            </a:r>
            <a:r>
              <a:rPr lang="ru-RU" sz="2000" b="1" dirty="0"/>
              <a:t>подход</a:t>
            </a:r>
            <a:endParaRPr lang="en-US" sz="2000" b="1" dirty="0"/>
          </a:p>
          <a:p>
            <a:pPr marL="0" indent="0">
              <a:buNone/>
            </a:pPr>
            <a:r>
              <a:rPr lang="ru-RU" sz="2000" dirty="0"/>
              <a:t>Сводим задачу к серии бинарных классификаторов, где </a:t>
            </a:r>
            <a:r>
              <a:rPr lang="en-US" sz="2000" dirty="0" err="1"/>
              <a:t>i</a:t>
            </a:r>
            <a:r>
              <a:rPr lang="en-US" sz="2000" dirty="0"/>
              <a:t>-</a:t>
            </a:r>
            <a:r>
              <a:rPr lang="ru-RU" sz="2000" dirty="0"/>
              <a:t>й классификатор определяет, относится объект к классу </a:t>
            </a:r>
            <a:r>
              <a:rPr lang="en-US" sz="2000" dirty="0"/>
              <a:t> </a:t>
            </a:r>
            <a:r>
              <a:rPr lang="en-US" sz="2000" dirty="0" err="1"/>
              <a:t>i</a:t>
            </a:r>
            <a:r>
              <a:rPr lang="en-US" sz="2000" dirty="0"/>
              <a:t> </a:t>
            </a:r>
            <a:r>
              <a:rPr lang="ru-RU" sz="2000" dirty="0"/>
              <a:t>или не относится (два варианта, то есть бинарный классификатор).</a:t>
            </a:r>
            <a:endParaRPr lang="ru-GB" sz="2000" dirty="0"/>
          </a:p>
        </p:txBody>
      </p:sp>
    </p:spTree>
    <p:extLst>
      <p:ext uri="{BB962C8B-B14F-4D97-AF65-F5344CB8AC3E}">
        <p14:creationId xmlns:p14="http://schemas.microsoft.com/office/powerpoint/2010/main" val="252602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EE4C0-8971-5CB2-4D61-32868A276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ECB775-C628-8090-8F4C-8410C32B5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Многоклассовая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классификация</a:t>
            </a:r>
            <a:endParaRPr lang="ru-GB" b="1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DE4C441-5B9E-8EF9-9DBA-74D7CA941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9"/>
            <a:ext cx="10515600" cy="16466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sz="2400" b="1" dirty="0"/>
              <a:t>Сведение к бинарной классификации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One-versus-one (OVO) </a:t>
            </a:r>
            <a:r>
              <a:rPr lang="ru-RU" sz="2400" b="1" dirty="0"/>
              <a:t>подход</a:t>
            </a:r>
          </a:p>
          <a:p>
            <a:pPr marL="0" indent="0">
              <a:buNone/>
            </a:pPr>
            <a:r>
              <a:rPr lang="ru-RU" sz="2400" dirty="0"/>
              <a:t>В этом подходе каждый бинарный классификатор пытается отличить, принадлежит объект классу </a:t>
            </a:r>
            <a:r>
              <a:rPr lang="en-US" sz="2400" dirty="0" err="1"/>
              <a:t>i</a:t>
            </a:r>
            <a:r>
              <a:rPr lang="en-US" sz="2400" dirty="0"/>
              <a:t> </a:t>
            </a:r>
            <a:r>
              <a:rPr lang="ru-RU" sz="2400" dirty="0"/>
              <a:t>или классу </a:t>
            </a:r>
            <a:r>
              <a:rPr lang="en-US" sz="2400" dirty="0"/>
              <a:t>j. </a:t>
            </a:r>
            <a:r>
              <a:rPr lang="ru-RU" sz="2400" dirty="0"/>
              <a:t>Каждый такой классификатор обучается только на объектах </a:t>
            </a:r>
            <a:r>
              <a:rPr lang="en-US" sz="2400" dirty="0" err="1"/>
              <a:t>i</a:t>
            </a:r>
            <a:r>
              <a:rPr lang="en-US" sz="2400" dirty="0"/>
              <a:t>-</a:t>
            </a:r>
            <a:r>
              <a:rPr lang="ru-RU" sz="2400" dirty="0"/>
              <a:t>го и </a:t>
            </a:r>
            <a:r>
              <a:rPr lang="en-US" sz="2400" dirty="0"/>
              <a:t>j-</a:t>
            </a:r>
            <a:r>
              <a:rPr lang="ru-RU" sz="2400" dirty="0"/>
              <a:t>го классов.</a:t>
            </a:r>
            <a:endParaRPr lang="en-US" sz="2400" b="1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0792CB1-54F4-081E-22EB-5CA4DC519A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7557" y="3188043"/>
            <a:ext cx="5193957" cy="3479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404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CF6C6-F1A2-9A7B-D26D-BD1079CF5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D15389-DC0E-23AC-3CEB-5D414E6B6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Многоклассовая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классификация</a:t>
            </a:r>
            <a:endParaRPr lang="ru-GB" b="1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723536E-572F-45D5-068C-568A0B52A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8"/>
            <a:ext cx="10515600" cy="430332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400" b="1" dirty="0"/>
              <a:t>Сведение к бинарной классификации</a:t>
            </a:r>
            <a:endParaRPr lang="en-US" sz="2400" b="1" dirty="0"/>
          </a:p>
          <a:p>
            <a:pPr marL="0" indent="0">
              <a:buNone/>
            </a:pPr>
            <a:r>
              <a:rPr lang="ru-RU" sz="2400" dirty="0"/>
              <a:t>Нельзя в общем случае сказать, какой из подходов лучше. Однако у каждого из подходов есть особенности, связанные со скоростью обучения:</a:t>
            </a:r>
          </a:p>
          <a:p>
            <a:r>
              <a:rPr lang="ru-RU" sz="2400" dirty="0"/>
              <a:t>Если мы выбираем подход </a:t>
            </a:r>
            <a:r>
              <a:rPr lang="en-US" sz="2400" b="1" dirty="0"/>
              <a:t>one-versus-all</a:t>
            </a:r>
            <a:r>
              <a:rPr lang="en-US" sz="2400" dirty="0"/>
              <a:t>, </a:t>
            </a:r>
            <a:r>
              <a:rPr lang="ru-RU" sz="2400" dirty="0"/>
              <a:t>то при большом количестве объектов в данных обучение будет долгим, ведь нужно обучить несколько бинарных классификаторов на большом </a:t>
            </a:r>
            <a:r>
              <a:rPr lang="ru-RU" sz="2400" dirty="0" err="1"/>
              <a:t>датасете</a:t>
            </a:r>
            <a:r>
              <a:rPr lang="ru-RU" sz="2400" dirty="0"/>
              <a:t>. В случае </a:t>
            </a:r>
            <a:r>
              <a:rPr lang="en-US" sz="2400" dirty="0"/>
              <a:t>one-versus-one </a:t>
            </a:r>
            <a:r>
              <a:rPr lang="ru-RU" sz="2400" dirty="0"/>
              <a:t>каждый бинарный классификатор (с номером </a:t>
            </a:r>
            <a:r>
              <a:rPr lang="en-US" sz="2400" dirty="0" err="1"/>
              <a:t>ij</a:t>
            </a:r>
            <a:r>
              <a:rPr lang="en-US" sz="2400" dirty="0"/>
              <a:t>) </a:t>
            </a:r>
            <a:r>
              <a:rPr lang="ru-RU" sz="2400" dirty="0"/>
              <a:t>обучается только на части </a:t>
            </a:r>
            <a:r>
              <a:rPr lang="ru-RU" sz="2400" dirty="0" err="1"/>
              <a:t>датасета</a:t>
            </a:r>
            <a:r>
              <a:rPr lang="ru-RU" sz="2400" dirty="0"/>
              <a:t>, состоящей из классов </a:t>
            </a:r>
            <a:r>
              <a:rPr lang="en-US" sz="2400" dirty="0" err="1"/>
              <a:t>i</a:t>
            </a:r>
            <a:r>
              <a:rPr lang="en-US" sz="2400" dirty="0"/>
              <a:t> </a:t>
            </a:r>
            <a:r>
              <a:rPr lang="ru-RU" sz="2400" dirty="0"/>
              <a:t>и </a:t>
            </a:r>
            <a:r>
              <a:rPr lang="en-US" sz="2400" dirty="0"/>
              <a:t>j</a:t>
            </a:r>
            <a:r>
              <a:rPr lang="ru-RU" sz="2400" dirty="0"/>
              <a:t>.</a:t>
            </a:r>
            <a:endParaRPr lang="en-US" sz="2400" dirty="0"/>
          </a:p>
          <a:p>
            <a:r>
              <a:rPr lang="ru-RU" sz="2400" dirty="0"/>
              <a:t>Если же классов в задаче много, то подход </a:t>
            </a:r>
            <a:r>
              <a:rPr lang="en-US" sz="2400" b="1" dirty="0"/>
              <a:t>one-versus-one</a:t>
            </a:r>
            <a:r>
              <a:rPr lang="en-US" sz="2400" dirty="0"/>
              <a:t> </a:t>
            </a:r>
            <a:r>
              <a:rPr lang="ru-RU" sz="2400" dirty="0"/>
              <a:t>будет работать долго, так как он сводится к обучению бинарных классификаторов на каждой паре классов, то есть, если в задаче </a:t>
            </a:r>
            <a:r>
              <a:rPr lang="en-US" sz="2400" dirty="0"/>
              <a:t>N </a:t>
            </a:r>
            <a:r>
              <a:rPr lang="ru-RU" sz="2400" dirty="0"/>
              <a:t>классов, то необходимо обучить </a:t>
            </a:r>
            <a:r>
              <a:rPr lang="en-US" sz="2400" dirty="0"/>
              <a:t>N(N−1)/2 </a:t>
            </a:r>
            <a:r>
              <a:rPr lang="ru-RU" sz="2400" dirty="0"/>
              <a:t>бинарных классификаторов.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12720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73A40-9F15-342B-95FD-E84863510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C4197C-D1E1-34FE-724A-02AC0E3DB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Многоклассовая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классификация</a:t>
            </a:r>
            <a:endParaRPr lang="ru-GB" b="1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76DE10B-82BA-7C7A-D9C1-C6D0E522A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9"/>
            <a:ext cx="7025640" cy="6165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/>
              <a:t>LogReg</a:t>
            </a:r>
            <a:r>
              <a:rPr lang="en-US" sz="2400" b="1" dirty="0"/>
              <a:t> </a:t>
            </a:r>
            <a:r>
              <a:rPr lang="ru-RU" sz="2400" b="1" dirty="0"/>
              <a:t>для </a:t>
            </a:r>
            <a:r>
              <a:rPr lang="ru-RU" sz="2400" b="1" dirty="0" err="1"/>
              <a:t>мультиклассовой</a:t>
            </a:r>
            <a:r>
              <a:rPr lang="ru-RU" sz="2400" b="1" dirty="0"/>
              <a:t> классификации</a:t>
            </a:r>
            <a:endParaRPr lang="en-US" sz="2400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07CDAE13-3C4B-1B97-3A14-BD61AB72C4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7224885"/>
              </p:ext>
            </p:extLst>
          </p:nvPr>
        </p:nvGraphicFramePr>
        <p:xfrm>
          <a:off x="505968" y="1849702"/>
          <a:ext cx="11472672" cy="4370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31136">
                  <a:extLst>
                    <a:ext uri="{9D8B030D-6E8A-4147-A177-3AD203B41FA5}">
                      <a16:colId xmlns:a16="http://schemas.microsoft.com/office/drawing/2014/main" val="2457593496"/>
                    </a:ext>
                  </a:extLst>
                </a:gridCol>
                <a:gridCol w="4553712">
                  <a:extLst>
                    <a:ext uri="{9D8B030D-6E8A-4147-A177-3AD203B41FA5}">
                      <a16:colId xmlns:a16="http://schemas.microsoft.com/office/drawing/2014/main" val="1706986347"/>
                    </a:ext>
                  </a:extLst>
                </a:gridCol>
                <a:gridCol w="4687824">
                  <a:extLst>
                    <a:ext uri="{9D8B030D-6E8A-4147-A177-3AD203B41FA5}">
                      <a16:colId xmlns:a16="http://schemas.microsoft.com/office/drawing/2014/main" val="3500475168"/>
                    </a:ext>
                  </a:extLst>
                </a:gridCol>
              </a:tblGrid>
              <a:tr h="862225">
                <a:tc>
                  <a:txBody>
                    <a:bodyPr/>
                    <a:lstStyle/>
                    <a:p>
                      <a:pPr algn="ctr"/>
                      <a:endParaRPr lang="ru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Binary classification</a:t>
                      </a:r>
                      <a:endParaRPr lang="ru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Multiclass classification</a:t>
                      </a:r>
                      <a:endParaRPr lang="ru-GB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8131626"/>
                  </a:ext>
                </a:extLst>
              </a:tr>
              <a:tr h="223471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targets</a:t>
                      </a:r>
                      <a:endParaRPr lang="ru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{0,1}</a:t>
                      </a:r>
                      <a:endParaRPr lang="ru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{1,2, …, C} </a:t>
                      </a:r>
                      <a:endParaRPr lang="ru-RU" dirty="0"/>
                    </a:p>
                    <a:p>
                      <a:pPr algn="l"/>
                      <a:r>
                        <a:rPr lang="ru-RU" dirty="0"/>
                        <a:t>или же </a:t>
                      </a:r>
                      <a:endParaRPr lang="en-US" dirty="0"/>
                    </a:p>
                    <a:p>
                      <a:pPr algn="l"/>
                      <a:r>
                        <a:rPr lang="en-US" dirty="0"/>
                        <a:t>[</a:t>
                      </a:r>
                    </a:p>
                    <a:p>
                      <a:pPr algn="l"/>
                      <a:r>
                        <a:rPr lang="en-US" dirty="0"/>
                        <a:t>    [1, 0, 0, 0, …, 0]</a:t>
                      </a:r>
                    </a:p>
                    <a:p>
                      <a:pPr algn="l"/>
                      <a:r>
                        <a:rPr lang="en-US" dirty="0"/>
                        <a:t>    [0, 1, 0, 0, …, 0]</a:t>
                      </a:r>
                    </a:p>
                    <a:p>
                      <a:pPr algn="l"/>
                      <a:r>
                        <a:rPr lang="en-US" dirty="0"/>
                        <a:t>    ...</a:t>
                      </a:r>
                    </a:p>
                    <a:p>
                      <a:pPr algn="l"/>
                      <a:r>
                        <a:rPr lang="en-US" dirty="0"/>
                        <a:t>    [0, 0, 0, 0, …, 1]</a:t>
                      </a:r>
                    </a:p>
                    <a:p>
                      <a:pPr algn="l"/>
                      <a:r>
                        <a:rPr lang="en-US" dirty="0"/>
                        <a:t>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170797"/>
                  </a:ext>
                </a:extLst>
              </a:tr>
              <a:tr h="122251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predictions (example)</a:t>
                      </a:r>
                      <a:endParaRPr lang="ru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</a:t>
                      </a:r>
                      <a:endParaRPr lang="ru-GB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[0.8, 0.1, 0.05, 0, …, 0.05]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822494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4AB7B13-D89B-7175-5E87-36915FA7921C}"/>
              </a:ext>
            </a:extLst>
          </p:cNvPr>
          <p:cNvSpPr txBox="1"/>
          <p:nvPr/>
        </p:nvSpPr>
        <p:spPr>
          <a:xfrm>
            <a:off x="950976" y="6194787"/>
            <a:ext cx="2121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– </a:t>
            </a:r>
            <a:r>
              <a:rPr lang="ru-RU" dirty="0"/>
              <a:t>кол-во классов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38659123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98D2A-EEE3-C6AF-D154-51C02D093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656B7B-8764-EF87-537E-50820591A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Многоклассовая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классификация</a:t>
            </a:r>
            <a:endParaRPr lang="ru-GB" b="1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E8220FA-1C9C-2993-E01B-FC39EF0E1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9"/>
            <a:ext cx="7025640" cy="6165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/>
              <a:t>LogReg</a:t>
            </a:r>
            <a:r>
              <a:rPr lang="en-US" sz="2400" b="1" dirty="0"/>
              <a:t> </a:t>
            </a:r>
            <a:r>
              <a:rPr lang="ru-RU" sz="2400" b="1" dirty="0"/>
              <a:t>для </a:t>
            </a:r>
            <a:r>
              <a:rPr lang="ru-RU" sz="2400" b="1" dirty="0" err="1"/>
              <a:t>мультиклассовой</a:t>
            </a:r>
            <a:r>
              <a:rPr lang="ru-RU" sz="2400" b="1" dirty="0"/>
              <a:t> классификации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6AB70493-8CDC-37BC-AAB8-9B826E4A1E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12626819"/>
                  </p:ext>
                </p:extLst>
              </p:nvPr>
            </p:nvGraphicFramePr>
            <p:xfrm>
              <a:off x="182880" y="2157984"/>
              <a:ext cx="11753088" cy="3761754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774789">
                      <a:extLst>
                        <a:ext uri="{9D8B030D-6E8A-4147-A177-3AD203B41FA5}">
                          <a16:colId xmlns:a16="http://schemas.microsoft.com/office/drawing/2014/main" val="2457593496"/>
                        </a:ext>
                      </a:extLst>
                    </a:gridCol>
                    <a:gridCol w="5060603">
                      <a:extLst>
                        <a:ext uri="{9D8B030D-6E8A-4147-A177-3AD203B41FA5}">
                          <a16:colId xmlns:a16="http://schemas.microsoft.com/office/drawing/2014/main" val="1706986347"/>
                        </a:ext>
                      </a:extLst>
                    </a:gridCol>
                    <a:gridCol w="3917696">
                      <a:extLst>
                        <a:ext uri="{9D8B030D-6E8A-4147-A177-3AD203B41FA5}">
                          <a16:colId xmlns:a16="http://schemas.microsoft.com/office/drawing/2014/main" val="3500475168"/>
                        </a:ext>
                      </a:extLst>
                    </a:gridCol>
                  </a:tblGrid>
                  <a:tr h="882013">
                    <a:tc>
                      <a:txBody>
                        <a:bodyPr/>
                        <a:lstStyle/>
                        <a:p>
                          <a:pPr algn="ctr"/>
                          <a:endParaRPr lang="ru-GB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Binary classification</a:t>
                          </a:r>
                          <a:endParaRPr lang="ru-GB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Multiclass classification</a:t>
                          </a:r>
                          <a:endParaRPr lang="ru-GB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18131626"/>
                      </a:ext>
                    </a:extLst>
                  </a:tr>
                  <a:tr h="162917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activation function</a:t>
                          </a:r>
                          <a:endParaRPr lang="ru-GB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sigmoid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≺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&gt;</m:t>
                                      </m:r>
                                    </m:sup>
                                  </m:sSup>
                                </m:den>
                              </m:f>
                            </m:oMath>
                          </a14:m>
                          <a:endParaRPr lang="ru-GB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sofmax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&lt;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 &gt;</m:t>
                                      </m:r>
                                    </m:sup>
                                  </m:sSup>
                                </m:num>
                                <m:den>
                                  <m:nary>
                                    <m:naryPr>
                                      <m:chr m:val="∑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&lt;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 &gt;</m:t>
                                          </m:r>
                                        </m:sup>
                                      </m:sSup>
                                    </m:e>
                                  </m:nary>
                                </m:den>
                              </m:f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69170797"/>
                      </a:ext>
                    </a:extLst>
                  </a:tr>
                  <a:tr h="125056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loss</a:t>
                          </a:r>
                          <a:endParaRPr lang="ru-GB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log-loss =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𝑦𝑙𝑜𝑔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⁡(1−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oMath>
                          </a14:m>
                          <a:endParaRPr lang="ru-GB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cross entropy =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⁡(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oMath>
                          </a14:m>
                          <a:r>
                            <a:rPr lang="en-US" dirty="0"/>
                            <a:t>  </a:t>
                          </a:r>
                          <a:endParaRPr lang="ru-GB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7822494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Таблица 4">
                <a:extLst>
                  <a:ext uri="{FF2B5EF4-FFF2-40B4-BE49-F238E27FC236}">
                    <a16:creationId xmlns:a16="http://schemas.microsoft.com/office/drawing/2014/main" id="{6AB70493-8CDC-37BC-AAB8-9B826E4A1E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12626819"/>
                  </p:ext>
                </p:extLst>
              </p:nvPr>
            </p:nvGraphicFramePr>
            <p:xfrm>
              <a:off x="182880" y="2157984"/>
              <a:ext cx="11753088" cy="3761754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774789">
                      <a:extLst>
                        <a:ext uri="{9D8B030D-6E8A-4147-A177-3AD203B41FA5}">
                          <a16:colId xmlns:a16="http://schemas.microsoft.com/office/drawing/2014/main" val="2457593496"/>
                        </a:ext>
                      </a:extLst>
                    </a:gridCol>
                    <a:gridCol w="5060603">
                      <a:extLst>
                        <a:ext uri="{9D8B030D-6E8A-4147-A177-3AD203B41FA5}">
                          <a16:colId xmlns:a16="http://schemas.microsoft.com/office/drawing/2014/main" val="1706986347"/>
                        </a:ext>
                      </a:extLst>
                    </a:gridCol>
                    <a:gridCol w="3917696">
                      <a:extLst>
                        <a:ext uri="{9D8B030D-6E8A-4147-A177-3AD203B41FA5}">
                          <a16:colId xmlns:a16="http://schemas.microsoft.com/office/drawing/2014/main" val="3500475168"/>
                        </a:ext>
                      </a:extLst>
                    </a:gridCol>
                  </a:tblGrid>
                  <a:tr h="882013">
                    <a:tc>
                      <a:txBody>
                        <a:bodyPr/>
                        <a:lstStyle/>
                        <a:p>
                          <a:pPr algn="ctr"/>
                          <a:endParaRPr lang="ru-GB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Binary classification</a:t>
                          </a:r>
                          <a:endParaRPr lang="ru-GB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Multiclass classification</a:t>
                          </a:r>
                          <a:endParaRPr lang="ru-GB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18131626"/>
                      </a:ext>
                    </a:extLst>
                  </a:tr>
                  <a:tr h="162917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activation function</a:t>
                          </a:r>
                          <a:endParaRPr lang="ru-GB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GB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5025" t="-54264" r="-77638" b="-883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GB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99676" t="-54264" b="-883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9170797"/>
                      </a:ext>
                    </a:extLst>
                  </a:tr>
                  <a:tr h="125056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loss</a:t>
                          </a:r>
                          <a:endParaRPr lang="ru-GB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GB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5025" t="-201010" r="-77638" b="-151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GB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99676" t="-201010" b="-151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7822494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AD7C7BF-4D01-5B56-A444-9A194651C2D8}"/>
              </a:ext>
            </a:extLst>
          </p:cNvPr>
          <p:cNvSpPr txBox="1"/>
          <p:nvPr/>
        </p:nvSpPr>
        <p:spPr>
          <a:xfrm>
            <a:off x="950976" y="6194787"/>
            <a:ext cx="2121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– </a:t>
            </a:r>
            <a:r>
              <a:rPr lang="ru-RU" dirty="0"/>
              <a:t>кол-во классов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2107709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0716A-33A4-D852-B5C4-52AD53CC0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A8E417-6731-F1F8-3839-1EB8441C5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Многоклассовая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классификация</a:t>
            </a:r>
            <a:endParaRPr lang="ru-GB" b="1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D25FD01-3514-E395-6D5A-5CDF0B617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9"/>
            <a:ext cx="6891528" cy="5434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/>
              <a:t>LogReg</a:t>
            </a:r>
            <a:r>
              <a:rPr lang="en-US" sz="2400" b="1" dirty="0"/>
              <a:t> </a:t>
            </a:r>
            <a:r>
              <a:rPr lang="ru-RU" sz="2400" b="1" dirty="0"/>
              <a:t>для </a:t>
            </a:r>
            <a:r>
              <a:rPr lang="ru-RU" sz="2400" b="1" dirty="0" err="1"/>
              <a:t>мультиклассовой</a:t>
            </a:r>
            <a:r>
              <a:rPr lang="ru-RU" sz="2400" b="1" dirty="0"/>
              <a:t> классификации</a:t>
            </a:r>
            <a:endParaRPr lang="ru-RU" sz="2400" dirty="0"/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8196" name="Picture 4" descr="Softmax Activation Function in Neural Networks - GeeksforGeeks">
            <a:extLst>
              <a:ext uri="{FF2B5EF4-FFF2-40B4-BE49-F238E27FC236}">
                <a16:creationId xmlns:a16="http://schemas.microsoft.com/office/drawing/2014/main" id="{C1422E25-63C1-15F4-8538-39E74E0B7F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343287"/>
            <a:ext cx="4879252" cy="2973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08639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22FE-5618-E0FA-DEC2-B549FE46D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FC12CE-11A5-7E26-F4C4-3DC8208E5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Метрики </a:t>
            </a:r>
            <a:r>
              <a:rPr lang="ru-RU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многоклассовой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классификации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595EF18-6E0B-9B99-2CF2-5BE41330B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37817"/>
            <a:ext cx="10515600" cy="23440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Accuracy</a:t>
            </a:r>
            <a:r>
              <a:rPr lang="en-US" b="0" i="1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 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- </a:t>
            </a:r>
            <a:r>
              <a:rPr lang="ru-RU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это доля правильных ответов модели, без изменений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ru-RU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для любого количества классов</a:t>
            </a:r>
            <a:endParaRPr lang="en-US" b="0" i="0" u="none" strike="noStrike" dirty="0">
              <a:solidFill>
                <a:srgbClr val="222222"/>
              </a:solidFill>
              <a:effectLst/>
              <a:latin typeface="Roboto" panose="02000000000000000000" pitchFamily="2" charset="0"/>
            </a:endParaRPr>
          </a:p>
          <a:p>
            <a:pPr marL="0" indent="0">
              <a:buNone/>
            </a:pPr>
            <a:endParaRPr lang="en-US" dirty="0">
              <a:solidFill>
                <a:srgbClr val="222222"/>
              </a:solidFill>
              <a:latin typeface="Roboto" panose="02000000000000000000" pitchFamily="2" charset="0"/>
            </a:endParaRPr>
          </a:p>
          <a:p>
            <a:pPr marL="0" indent="0">
              <a:buNone/>
            </a:pPr>
            <a:r>
              <a:rPr lang="ru-RU" dirty="0"/>
              <a:t>Как модифицируются метрики </a:t>
            </a:r>
            <a:r>
              <a:rPr lang="en-US" b="1" dirty="0"/>
              <a:t>precision</a:t>
            </a:r>
            <a:r>
              <a:rPr lang="en-US" dirty="0"/>
              <a:t>, </a:t>
            </a:r>
            <a:r>
              <a:rPr lang="en-US" b="1" dirty="0"/>
              <a:t>recall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b="1" dirty="0"/>
              <a:t>f1-score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ru-RU" dirty="0" err="1"/>
              <a:t>многоклассовом</a:t>
            </a:r>
            <a:r>
              <a:rPr lang="ru-RU" dirty="0"/>
              <a:t> случае</a:t>
            </a:r>
            <a:r>
              <a:rPr lang="en-US" dirty="0"/>
              <a:t>?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3558770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13B4E-3AE5-D31B-1492-24DB05C19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7C208E-9DC3-F739-F6E1-82DA5C2FA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Метрики </a:t>
            </a:r>
            <a:r>
              <a:rPr lang="ru-RU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многоклассовой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классификации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C375036-6E31-8AE1-30EA-D1B34C6841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37817"/>
            <a:ext cx="10515600" cy="23440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Accuracy</a:t>
            </a:r>
            <a:r>
              <a:rPr lang="en-US" b="0" i="1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 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- </a:t>
            </a:r>
            <a:r>
              <a:rPr lang="ru-RU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это доля правильных ответов модели, без изменений</a:t>
            </a:r>
            <a:r>
              <a:rPr lang="en-US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 </a:t>
            </a:r>
            <a:r>
              <a:rPr lang="ru-RU" b="0" i="0" u="none" strike="noStrike" dirty="0">
                <a:solidFill>
                  <a:srgbClr val="222222"/>
                </a:solidFill>
                <a:effectLst/>
                <a:latin typeface="Roboto" panose="02000000000000000000" pitchFamily="2" charset="0"/>
              </a:rPr>
              <a:t>для любого количества классов</a:t>
            </a:r>
            <a:endParaRPr lang="en-US" b="0" i="0" u="none" strike="noStrike" dirty="0">
              <a:solidFill>
                <a:srgbClr val="222222"/>
              </a:solidFill>
              <a:effectLst/>
              <a:latin typeface="Roboto" panose="02000000000000000000" pitchFamily="2" charset="0"/>
            </a:endParaRPr>
          </a:p>
          <a:p>
            <a:pPr marL="0" indent="0">
              <a:buNone/>
            </a:pPr>
            <a:endParaRPr lang="en-US" dirty="0">
              <a:solidFill>
                <a:srgbClr val="222222"/>
              </a:solidFill>
              <a:latin typeface="Roboto" panose="02000000000000000000" pitchFamily="2" charset="0"/>
            </a:endParaRPr>
          </a:p>
          <a:p>
            <a:pPr marL="0" indent="0">
              <a:buNone/>
            </a:pPr>
            <a:r>
              <a:rPr lang="ru-RU" dirty="0"/>
              <a:t>Как модифицируются метрики </a:t>
            </a:r>
            <a:r>
              <a:rPr lang="en-US" b="1" dirty="0"/>
              <a:t>precision</a:t>
            </a:r>
            <a:r>
              <a:rPr lang="en-US" dirty="0"/>
              <a:t>, </a:t>
            </a:r>
            <a:r>
              <a:rPr lang="en-US" b="1" dirty="0"/>
              <a:t>recall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b="1" dirty="0"/>
              <a:t>f1-score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ru-RU" dirty="0" err="1"/>
              <a:t>многоклассовом</a:t>
            </a:r>
            <a:r>
              <a:rPr lang="ru-RU" dirty="0"/>
              <a:t> случае</a:t>
            </a:r>
            <a:r>
              <a:rPr lang="en-US" dirty="0"/>
              <a:t>?</a:t>
            </a:r>
            <a:endParaRPr lang="ru-GB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20A92A8-8518-E3AD-BECD-23F23E5C8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4328985"/>
            <a:ext cx="5435600" cy="1828800"/>
          </a:xfrm>
          <a:prstGeom prst="rect">
            <a:avLst/>
          </a:prstGeom>
        </p:spPr>
      </p:pic>
      <p:pic>
        <p:nvPicPr>
          <p:cNvPr id="5" name="Рисунок 4" descr="Изображение выглядит как текст, Шрифт, белый, типограф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EE2B958-317F-000E-B51B-2EA683C473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949"/>
          <a:stretch/>
        </p:blipFill>
        <p:spPr>
          <a:xfrm>
            <a:off x="6644640" y="4597209"/>
            <a:ext cx="3221407" cy="1267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862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201FA-C770-E372-B747-8F2D8F76D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58B583-52C9-CACB-8903-04C723751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Метрики </a:t>
            </a:r>
            <a:r>
              <a:rPr lang="ru-RU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многоклассовой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классификации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7C517EFC-A3A7-89D5-5D3A-513AC89F66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3984117"/>
            <a:ext cx="6090498" cy="234315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648638-33DB-C431-5034-C4F89B6D52ED}"/>
              </a:ext>
            </a:extLst>
          </p:cNvPr>
          <p:cNvSpPr txBox="1"/>
          <p:nvPr/>
        </p:nvSpPr>
        <p:spPr>
          <a:xfrm>
            <a:off x="838200" y="2182374"/>
            <a:ext cx="652454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</a:t>
            </a:r>
            <a:r>
              <a:rPr lang="ru-RU" sz="2400" b="1" dirty="0" err="1"/>
              <a:t>уществует</a:t>
            </a:r>
            <a:r>
              <a:rPr lang="ru-RU" sz="2400" b="1" dirty="0"/>
              <a:t> несколько подходов: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 err="1"/>
              <a:t>Микроусреднение</a:t>
            </a:r>
            <a:r>
              <a:rPr lang="ru-RU" sz="2400" dirty="0"/>
              <a:t> (</a:t>
            </a:r>
            <a:r>
              <a:rPr lang="en-US" sz="2400" dirty="0"/>
              <a:t>micro-average)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 err="1"/>
              <a:t>Макроусреднение</a:t>
            </a:r>
            <a:r>
              <a:rPr lang="ru-RU" sz="2400" dirty="0"/>
              <a:t> (</a:t>
            </a:r>
            <a:r>
              <a:rPr lang="en-US" sz="2400" dirty="0"/>
              <a:t>macro-average)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Взвешенное усреднение (</a:t>
            </a:r>
            <a:r>
              <a:rPr lang="en-US" sz="2400" dirty="0"/>
              <a:t>weighted-average)</a:t>
            </a:r>
            <a:endParaRPr lang="ru-GB" sz="2400" dirty="0"/>
          </a:p>
        </p:txBody>
      </p:sp>
    </p:spTree>
    <p:extLst>
      <p:ext uri="{BB962C8B-B14F-4D97-AF65-F5344CB8AC3E}">
        <p14:creationId xmlns:p14="http://schemas.microsoft.com/office/powerpoint/2010/main" val="26941694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32FBC-82C9-3BE4-DFC6-2B2773B52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CB9149-25A1-49F7-16C2-4BE57CBC0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Метрики </a:t>
            </a:r>
            <a:r>
              <a:rPr lang="ru-RU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многоклассовой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F6FE84-1EE0-50E0-9ADB-87B140C8D506}"/>
              </a:ext>
            </a:extLst>
          </p:cNvPr>
          <p:cNvSpPr txBox="1"/>
          <p:nvPr/>
        </p:nvSpPr>
        <p:spPr>
          <a:xfrm>
            <a:off x="838200" y="1962918"/>
            <a:ext cx="99151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 err="1"/>
              <a:t>Макроусреднение</a:t>
            </a:r>
            <a:r>
              <a:rPr lang="ru-RU" sz="2400" b="1" dirty="0"/>
              <a:t> (</a:t>
            </a:r>
            <a:r>
              <a:rPr lang="en-US" sz="2400" b="1" dirty="0"/>
              <a:t>macro-average)</a:t>
            </a:r>
          </a:p>
          <a:p>
            <a:r>
              <a:rPr lang="ru-RU" sz="2400" dirty="0"/>
              <a:t>Вычисляем значение выбранной метрики для каждой бинарной ситуации (кошка/не кошка, рыба/не рыба, курица/не курица), а затем усредняем полученные числа</a:t>
            </a:r>
            <a:endParaRPr lang="ru-GB" sz="2400" dirty="0"/>
          </a:p>
        </p:txBody>
      </p:sp>
      <p:pic>
        <p:nvPicPr>
          <p:cNvPr id="8" name="Объект 7">
            <a:extLst>
              <a:ext uri="{FF2B5EF4-FFF2-40B4-BE49-F238E27FC236}">
                <a16:creationId xmlns:a16="http://schemas.microsoft.com/office/drawing/2014/main" id="{9EECD117-3CF7-5F3A-C2FF-97C9F545E0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2672" y="3804808"/>
            <a:ext cx="6236970" cy="239083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4942CD9-8CE3-CC96-A473-9B06F85E3B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2052" y="3897574"/>
            <a:ext cx="4073453" cy="46239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9FD7269-885F-A9CC-504F-E1198C396E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5060" y="4447174"/>
            <a:ext cx="3294888" cy="510476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A60D4D6C-A056-B526-CC73-807D1EA7F9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4665" y="5005102"/>
            <a:ext cx="5247335" cy="54341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2DF611D-998A-F8A6-E5E2-D76FD0B7C744}"/>
              </a:ext>
            </a:extLst>
          </p:cNvPr>
          <p:cNvSpPr txBox="1"/>
          <p:nvPr/>
        </p:nvSpPr>
        <p:spPr>
          <a:xfrm>
            <a:off x="7002052" y="5704593"/>
            <a:ext cx="3421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Аналогично вычисляется </a:t>
            </a:r>
            <a:r>
              <a:rPr lang="en-US" dirty="0"/>
              <a:t>recall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3869848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0431C-FDAD-9A25-F106-0611E65DC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006CFE-E856-D5D5-26D2-A428BFBD4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Метрики </a:t>
            </a:r>
            <a:r>
              <a:rPr lang="ru-RU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многоклассовой</a:t>
            </a:r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1E8569-CA33-0646-A11F-50BA350F2CD4}"/>
              </a:ext>
            </a:extLst>
          </p:cNvPr>
          <p:cNvSpPr txBox="1"/>
          <p:nvPr/>
        </p:nvSpPr>
        <p:spPr>
          <a:xfrm>
            <a:off x="838200" y="1962918"/>
            <a:ext cx="99151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Взвешенное усреднение (</a:t>
            </a:r>
            <a:r>
              <a:rPr lang="en-US" sz="2400" b="1" dirty="0"/>
              <a:t>weighted-average)</a:t>
            </a:r>
          </a:p>
          <a:p>
            <a:r>
              <a:rPr lang="ru-RU" sz="2400" dirty="0"/>
              <a:t>Усредняем посчитанные для каждого класса метрики с весами, пропорциональными количеству объектов класса</a:t>
            </a:r>
            <a:endParaRPr lang="ru-GB" sz="2400" dirty="0"/>
          </a:p>
        </p:txBody>
      </p:sp>
      <p:pic>
        <p:nvPicPr>
          <p:cNvPr id="8" name="Объект 7">
            <a:extLst>
              <a:ext uri="{FF2B5EF4-FFF2-40B4-BE49-F238E27FC236}">
                <a16:creationId xmlns:a16="http://schemas.microsoft.com/office/drawing/2014/main" id="{392B743F-7421-91D9-1F09-F528755FC2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48665" y="3293613"/>
            <a:ext cx="5247335" cy="201147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77ACE58-8B1D-B488-7C7B-92703D63FEFE}"/>
              </a:ext>
            </a:extLst>
          </p:cNvPr>
          <p:cNvSpPr txBox="1"/>
          <p:nvPr/>
        </p:nvSpPr>
        <p:spPr>
          <a:xfrm>
            <a:off x="848665" y="6308209"/>
            <a:ext cx="3421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Аналогично вычисляется </a:t>
            </a:r>
            <a:r>
              <a:rPr lang="en-US" dirty="0"/>
              <a:t>recall</a:t>
            </a:r>
            <a:endParaRPr lang="ru-GB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4834B72-7222-A60B-4C86-605CE058C4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892" y="5435458"/>
            <a:ext cx="7977283" cy="804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1555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AFE4E-5567-B197-46CC-A34FC3024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47E95A-37F2-F614-BFE8-F99725B82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7781"/>
            <a:ext cx="11459818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solidFill>
                  <a:srgbClr val="000000"/>
                </a:solidFill>
                <a:effectLst/>
                <a:latin typeface="Helvetica" pitchFamily="2" charset="0"/>
              </a:rPr>
              <a:t>Метрики </a:t>
            </a:r>
            <a:r>
              <a:rPr lang="ru-RU" sz="4000" b="1" dirty="0" err="1">
                <a:solidFill>
                  <a:srgbClr val="000000"/>
                </a:solidFill>
                <a:effectLst/>
                <a:latin typeface="Helvetica" pitchFamily="2" charset="0"/>
              </a:rPr>
              <a:t>многоклассовой</a:t>
            </a:r>
            <a:r>
              <a:rPr lang="ru-RU" sz="4000" b="1" dirty="0">
                <a:solidFill>
                  <a:srgbClr val="000000"/>
                </a:solidFill>
                <a:effectLst/>
                <a:latin typeface="Helvetica" pitchFamily="2" charset="0"/>
              </a:rPr>
              <a:t> классификации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BAE1F0-75FE-60F3-94F9-65462CBD89FE}"/>
              </a:ext>
            </a:extLst>
          </p:cNvPr>
          <p:cNvSpPr txBox="1"/>
          <p:nvPr/>
        </p:nvSpPr>
        <p:spPr>
          <a:xfrm>
            <a:off x="838200" y="1127750"/>
            <a:ext cx="991514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 err="1"/>
              <a:t>Микроусреднение</a:t>
            </a:r>
            <a:r>
              <a:rPr lang="ru-RU" sz="2400" b="1" dirty="0"/>
              <a:t> (</a:t>
            </a:r>
            <a:r>
              <a:rPr lang="en-US" sz="2400" b="1" dirty="0"/>
              <a:t>micro-average)</a:t>
            </a:r>
          </a:p>
          <a:p>
            <a:r>
              <a:rPr lang="ru-RU" sz="2400" dirty="0"/>
              <a:t>Вычисляем значения </a:t>
            </a:r>
            <a:r>
              <a:rPr lang="en-US" sz="2400" dirty="0"/>
              <a:t>TP, TN, FP, FN </a:t>
            </a:r>
            <a:r>
              <a:rPr lang="ru-RU" sz="2400" dirty="0"/>
              <a:t>по всей матрице ошибок сразу, исходя из их определения. Затем по полученным числам вычисляем выбранные метрики</a:t>
            </a:r>
            <a:endParaRPr lang="en-US" sz="2400" dirty="0"/>
          </a:p>
          <a:p>
            <a:r>
              <a:rPr lang="en-US" sz="2400" dirty="0"/>
              <a:t>FP - </a:t>
            </a:r>
            <a:r>
              <a:rPr lang="ru-RU" sz="2400" dirty="0"/>
              <a:t>это суммарное количество </a:t>
            </a:r>
            <a:r>
              <a:rPr lang="en-US" sz="2400" dirty="0"/>
              <a:t>false positive-</a:t>
            </a:r>
            <a:r>
              <a:rPr lang="ru-RU" sz="2400" dirty="0"/>
              <a:t>предсказаний. Например, если </a:t>
            </a:r>
            <a:r>
              <a:rPr lang="en-US" sz="2400" dirty="0"/>
              <a:t>cat </a:t>
            </a:r>
            <a:r>
              <a:rPr lang="ru-RU" sz="2400" dirty="0"/>
              <a:t>предсказана как </a:t>
            </a:r>
            <a:r>
              <a:rPr lang="en-US" sz="2400" dirty="0"/>
              <a:t>fish, </a:t>
            </a:r>
            <a:r>
              <a:rPr lang="ru-RU" sz="2400" dirty="0"/>
              <a:t>то это </a:t>
            </a:r>
            <a:r>
              <a:rPr lang="en-US" sz="2400" dirty="0"/>
              <a:t>false positive </a:t>
            </a:r>
            <a:r>
              <a:rPr lang="ru-RU" sz="2400" dirty="0"/>
              <a:t>для </a:t>
            </a:r>
            <a:r>
              <a:rPr lang="en-US" sz="2400" dirty="0"/>
              <a:t>fish. </a:t>
            </a:r>
            <a:r>
              <a:rPr lang="ru-RU" sz="2400" dirty="0"/>
              <a:t>Таким образом,  </a:t>
            </a:r>
            <a:r>
              <a:rPr lang="en-US" sz="2400" dirty="0"/>
              <a:t>FP - </a:t>
            </a:r>
            <a:r>
              <a:rPr lang="ru-RU" sz="2400" dirty="0"/>
              <a:t>это сумма всех неверных предсказаний, то есть </a:t>
            </a:r>
            <a:r>
              <a:rPr lang="en-US" sz="2400" dirty="0"/>
              <a:t>FP=6+3+1+0+1+2=13</a:t>
            </a:r>
            <a:endParaRPr lang="ru-GB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D92F3A5-01FD-BE0F-5FAF-6EF600C92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63" y="4572000"/>
            <a:ext cx="5502717" cy="21170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C658D92-81E4-0BA5-C623-2FF611B649A8}"/>
              </a:ext>
            </a:extLst>
          </p:cNvPr>
          <p:cNvSpPr txBox="1"/>
          <p:nvPr/>
        </p:nvSpPr>
        <p:spPr>
          <a:xfrm>
            <a:off x="6732103" y="4572000"/>
            <a:ext cx="46483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FN = FP  -&gt;  precision = recall = f1</a:t>
            </a:r>
          </a:p>
        </p:txBody>
      </p:sp>
      <p:pic>
        <p:nvPicPr>
          <p:cNvPr id="11" name="Рисунок 10" descr="Изображение выглядит как текст, Шрифт, белый, числ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A95A9C0-F2BD-194F-68AC-17407D563A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2104" y="5430926"/>
            <a:ext cx="3277631" cy="837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3399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88D71-DEFB-D91D-1EC3-B3AFE5E3C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4704F892-22B0-EB2F-3B90-3B6336385939}"/>
              </a:ext>
            </a:extLst>
          </p:cNvPr>
          <p:cNvSpPr txBox="1">
            <a:spLocks/>
          </p:cNvSpPr>
          <p:nvPr/>
        </p:nvSpPr>
        <p:spPr>
          <a:xfrm>
            <a:off x="990600" y="29760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>
                <a:solidFill>
                  <a:srgbClr val="000000"/>
                </a:solidFill>
                <a:latin typeface="Helvetica" pitchFamily="2" charset="0"/>
              </a:rPr>
              <a:t>Метрики </a:t>
            </a:r>
            <a:r>
              <a:rPr lang="ru-RU" b="1" dirty="0" err="1">
                <a:solidFill>
                  <a:srgbClr val="000000"/>
                </a:solidFill>
                <a:latin typeface="Helvetica" pitchFamily="2" charset="0"/>
              </a:rPr>
              <a:t>многоклассовой</a:t>
            </a:r>
            <a:r>
              <a:rPr lang="ru-RU" b="1" dirty="0">
                <a:solidFill>
                  <a:srgbClr val="000000"/>
                </a:solidFill>
                <a:latin typeface="Helvetica" pitchFamily="2" charset="0"/>
              </a:rPr>
              <a:t> классификации</a:t>
            </a:r>
          </a:p>
        </p:txBody>
      </p:sp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46D41C50-4349-4B9D-436B-4A7FB6B6F1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0059672"/>
              </p:ext>
            </p:extLst>
          </p:nvPr>
        </p:nvGraphicFramePr>
        <p:xfrm>
          <a:off x="115747" y="1707620"/>
          <a:ext cx="11956646" cy="505399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36640">
                  <a:extLst>
                    <a:ext uri="{9D8B030D-6E8A-4147-A177-3AD203B41FA5}">
                      <a16:colId xmlns:a16="http://schemas.microsoft.com/office/drawing/2014/main" val="3701492871"/>
                    </a:ext>
                  </a:extLst>
                </a:gridCol>
                <a:gridCol w="3340002">
                  <a:extLst>
                    <a:ext uri="{9D8B030D-6E8A-4147-A177-3AD203B41FA5}">
                      <a16:colId xmlns:a16="http://schemas.microsoft.com/office/drawing/2014/main" val="3331177459"/>
                    </a:ext>
                  </a:extLst>
                </a:gridCol>
                <a:gridCol w="3340002">
                  <a:extLst>
                    <a:ext uri="{9D8B030D-6E8A-4147-A177-3AD203B41FA5}">
                      <a16:colId xmlns:a16="http://schemas.microsoft.com/office/drawing/2014/main" val="2255886704"/>
                    </a:ext>
                  </a:extLst>
                </a:gridCol>
                <a:gridCol w="3340002">
                  <a:extLst>
                    <a:ext uri="{9D8B030D-6E8A-4147-A177-3AD203B41FA5}">
                      <a16:colId xmlns:a16="http://schemas.microsoft.com/office/drawing/2014/main" val="1334793108"/>
                    </a:ext>
                  </a:extLst>
                </a:gridCol>
              </a:tblGrid>
              <a:tr h="426167">
                <a:tc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micro-avg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macro-avg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weighted-avg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2661795"/>
                  </a:ext>
                </a:extLst>
              </a:tr>
              <a:tr h="1403162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Описание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/>
                        <a:t>Суммируем все «ошибки» и «попадания» в кучу, </a:t>
                      </a:r>
                      <a:r>
                        <a:rPr lang="ru-RU" dirty="0"/>
                        <a:t>считаем общий результат</a:t>
                      </a:r>
                      <a:r>
                        <a:rPr lang="ru-RU" sz="1800" dirty="0"/>
                        <a:t> 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Считаем качество по каждому классу отдельно, потом берем среднее (все классы равны)</a:t>
                      </a:r>
                      <a:endParaRPr lang="en-US" sz="1800" dirty="0"/>
                    </a:p>
                    <a:p>
                      <a:pPr algn="ctr"/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Считаем качество по каждому классу, но умножаем на «важность» (размер) класса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7964377"/>
                  </a:ext>
                </a:extLst>
              </a:tr>
              <a:tr h="1403162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Работа с дисбалансом классов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Не учитывает дисбаланс, без разницы какое качество предсказаний для более редкого класса, важна картина в общем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Все классы равноценны, качество предсказаний для более редкого класса важно также как и качество для более частого класса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Учитывает вклад каждого класса, но пропорционально его размеру в данных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3896028"/>
                  </a:ext>
                </a:extLst>
              </a:tr>
              <a:tr h="1761630">
                <a:tc>
                  <a:txBody>
                    <a:bodyPr/>
                    <a:lstStyle/>
                    <a:p>
                      <a:pPr algn="ctr"/>
                      <a:r>
                        <a:rPr lang="ru-RU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Когда выбрать</a:t>
                      </a:r>
                      <a:endParaRPr lang="ru-RU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Важно общее качество на всех объектах. </a:t>
                      </a:r>
                    </a:p>
                    <a:p>
                      <a:pPr algn="ctr"/>
                      <a:r>
                        <a:rPr lang="ru-RU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Датасет сбалансирован</a:t>
                      </a:r>
                      <a:r>
                        <a:rPr lang="ru-RU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Важно качество для каждого класса. </a:t>
                      </a:r>
                    </a:p>
                    <a:p>
                      <a:pPr algn="ctr"/>
                      <a:r>
                        <a:rPr lang="ru-RU" sz="18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Есть дисбаланс</a:t>
                      </a:r>
                      <a:r>
                        <a:rPr lang="ru-RU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где малый класс критичен.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Что-то среднее</a:t>
                      </a:r>
                      <a:r>
                        <a:rPr lang="ru-RU" dirty="0"/>
                        <a:t>, </a:t>
                      </a:r>
                      <a:r>
                        <a:rPr lang="ru-RU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дает более реалистичную картину, чем микро (не завышает значение больших классов), но и не завышает значение малых классов, как макро.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4077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990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5D7D2-A9D1-74DF-9D7A-C7D7F9EA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7A95828D-C084-5C96-61E1-03E51356B545}"/>
              </a:ext>
            </a:extLst>
          </p:cNvPr>
          <p:cNvSpPr txBox="1">
            <a:spLocks/>
          </p:cNvSpPr>
          <p:nvPr/>
        </p:nvSpPr>
        <p:spPr>
          <a:xfrm>
            <a:off x="990600" y="29760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>
                <a:solidFill>
                  <a:srgbClr val="000000"/>
                </a:solidFill>
                <a:latin typeface="Helvetica" pitchFamily="2" charset="0"/>
              </a:rPr>
              <a:t>Метрики </a:t>
            </a:r>
            <a:r>
              <a:rPr lang="ru-RU" b="1" dirty="0" err="1">
                <a:solidFill>
                  <a:srgbClr val="000000"/>
                </a:solidFill>
                <a:latin typeface="Helvetica" pitchFamily="2" charset="0"/>
              </a:rPr>
              <a:t>многоклассовой</a:t>
            </a:r>
            <a:r>
              <a:rPr lang="ru-RU" b="1" dirty="0">
                <a:solidFill>
                  <a:srgbClr val="000000"/>
                </a:solidFill>
                <a:latin typeface="Helvetica" pitchFamily="2" charset="0"/>
              </a:rPr>
              <a:t> классификации</a:t>
            </a:r>
          </a:p>
        </p:txBody>
      </p:sp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A960ACA5-93DE-ACE0-82B7-CCAC69BDBA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384132"/>
              </p:ext>
            </p:extLst>
          </p:nvPr>
        </p:nvGraphicFramePr>
        <p:xfrm>
          <a:off x="117677" y="4740187"/>
          <a:ext cx="11956646" cy="10739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36640">
                  <a:extLst>
                    <a:ext uri="{9D8B030D-6E8A-4147-A177-3AD203B41FA5}">
                      <a16:colId xmlns:a16="http://schemas.microsoft.com/office/drawing/2014/main" val="3701492871"/>
                    </a:ext>
                  </a:extLst>
                </a:gridCol>
                <a:gridCol w="3340002">
                  <a:extLst>
                    <a:ext uri="{9D8B030D-6E8A-4147-A177-3AD203B41FA5}">
                      <a16:colId xmlns:a16="http://schemas.microsoft.com/office/drawing/2014/main" val="3331177459"/>
                    </a:ext>
                  </a:extLst>
                </a:gridCol>
                <a:gridCol w="3340002">
                  <a:extLst>
                    <a:ext uri="{9D8B030D-6E8A-4147-A177-3AD203B41FA5}">
                      <a16:colId xmlns:a16="http://schemas.microsoft.com/office/drawing/2014/main" val="2255886704"/>
                    </a:ext>
                  </a:extLst>
                </a:gridCol>
                <a:gridCol w="3340002">
                  <a:extLst>
                    <a:ext uri="{9D8B030D-6E8A-4147-A177-3AD203B41FA5}">
                      <a16:colId xmlns:a16="http://schemas.microsoft.com/office/drawing/2014/main" val="1334793108"/>
                    </a:ext>
                  </a:extLst>
                </a:gridCol>
              </a:tblGrid>
              <a:tr h="215102">
                <a:tc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micro-avg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macro-avg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weighted-avg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2661795"/>
                  </a:ext>
                </a:extLst>
              </a:tr>
              <a:tr h="708229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f1</a:t>
                      </a:r>
                      <a:endParaRPr lang="ru-RU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0.955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0.76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0.954</a:t>
                      </a:r>
                      <a:endParaRPr lang="ru-RU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796437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42144FA-0DE7-58D3-6F70-96E167F393B9}"/>
              </a:ext>
            </a:extLst>
          </p:cNvPr>
          <p:cNvSpPr txBox="1"/>
          <p:nvPr/>
        </p:nvSpPr>
        <p:spPr>
          <a:xfrm>
            <a:off x="990600" y="1933147"/>
            <a:ext cx="74639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Пример:</a:t>
            </a:r>
            <a:r>
              <a:rPr lang="ru-RU" dirty="0"/>
              <a:t> решаем задачу </a:t>
            </a:r>
            <a:r>
              <a:rPr lang="ru-RU" b="1" dirty="0"/>
              <a:t>классификации животных</a:t>
            </a:r>
            <a:r>
              <a:rPr lang="ru-RU" dirty="0"/>
              <a:t> по фотографиям</a:t>
            </a:r>
          </a:p>
          <a:p>
            <a:endParaRPr lang="ru-RU" dirty="0"/>
          </a:p>
          <a:p>
            <a:r>
              <a:rPr lang="ru-RU" dirty="0"/>
              <a:t>Модель А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DE6895C-6F0B-3912-B9A2-DC64713B01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5882811"/>
              </p:ext>
            </p:extLst>
          </p:nvPr>
        </p:nvGraphicFramePr>
        <p:xfrm>
          <a:off x="990600" y="2394812"/>
          <a:ext cx="6516547" cy="18669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3274">
                  <a:extLst>
                    <a:ext uri="{9D8B030D-6E8A-4147-A177-3AD203B41FA5}">
                      <a16:colId xmlns:a16="http://schemas.microsoft.com/office/drawing/2014/main" val="3132335557"/>
                    </a:ext>
                  </a:extLst>
                </a:gridCol>
                <a:gridCol w="1589203">
                  <a:extLst>
                    <a:ext uri="{9D8B030D-6E8A-4147-A177-3AD203B41FA5}">
                      <a16:colId xmlns:a16="http://schemas.microsoft.com/office/drawing/2014/main" val="2334201043"/>
                    </a:ext>
                  </a:extLst>
                </a:gridCol>
                <a:gridCol w="1484690">
                  <a:extLst>
                    <a:ext uri="{9D8B030D-6E8A-4147-A177-3AD203B41FA5}">
                      <a16:colId xmlns:a16="http://schemas.microsoft.com/office/drawing/2014/main" val="525456860"/>
                    </a:ext>
                  </a:extLst>
                </a:gridCol>
                <a:gridCol w="1484690">
                  <a:extLst>
                    <a:ext uri="{9D8B030D-6E8A-4147-A177-3AD203B41FA5}">
                      <a16:colId xmlns:a16="http://schemas.microsoft.com/office/drawing/2014/main" val="1832214923"/>
                    </a:ext>
                  </a:extLst>
                </a:gridCol>
                <a:gridCol w="1484690">
                  <a:extLst>
                    <a:ext uri="{9D8B030D-6E8A-4147-A177-3AD203B41FA5}">
                      <a16:colId xmlns:a16="http://schemas.microsoft.com/office/drawing/2014/main" val="3330695647"/>
                    </a:ext>
                  </a:extLst>
                </a:gridCol>
              </a:tblGrid>
              <a:tr h="373397">
                <a:tc rowSpan="2" gridSpan="2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True/Actual</a:t>
                      </a:r>
                      <a:endParaRPr lang="ru-RU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8017801"/>
                  </a:ext>
                </a:extLst>
              </a:tr>
              <a:tr h="373397">
                <a:tc gridSpan="2"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Fish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Hen/Chicken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4040004"/>
                  </a:ext>
                </a:extLst>
              </a:tr>
              <a:tr h="373397">
                <a:tc rowSpan="3">
                  <a:txBody>
                    <a:bodyPr/>
                    <a:lstStyle/>
                    <a:p>
                      <a:r>
                        <a:rPr lang="en-US" dirty="0"/>
                        <a:t>Predicted</a:t>
                      </a:r>
                      <a:endParaRPr lang="ru-RU" dirty="0"/>
                    </a:p>
                  </a:txBody>
                  <a:tcPr vert="vert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990</a:t>
                      </a:r>
                      <a:endParaRPr lang="ru-RU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</a:t>
                      </a:r>
                      <a:r>
                        <a:rPr lang="en-US" dirty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8183077"/>
                  </a:ext>
                </a:extLst>
              </a:tr>
              <a:tr h="373397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Fish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890</a:t>
                      </a:r>
                      <a:endParaRPr lang="ru-RU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102428"/>
                  </a:ext>
                </a:extLst>
              </a:tr>
              <a:tr h="373397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Hen/Chicken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  <a:endParaRPr lang="ru-RU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127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995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33AC0-CF87-9EBB-A83B-69C95BA38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A5A063EE-8464-2C8B-81D8-A34B8AB99E54}"/>
              </a:ext>
            </a:extLst>
          </p:cNvPr>
          <p:cNvSpPr txBox="1">
            <a:spLocks/>
          </p:cNvSpPr>
          <p:nvPr/>
        </p:nvSpPr>
        <p:spPr>
          <a:xfrm>
            <a:off x="990600" y="29760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>
                <a:solidFill>
                  <a:srgbClr val="000000"/>
                </a:solidFill>
                <a:latin typeface="Helvetica" pitchFamily="2" charset="0"/>
              </a:rPr>
              <a:t>Метрики </a:t>
            </a:r>
            <a:r>
              <a:rPr lang="ru-RU" b="1" dirty="0" err="1">
                <a:solidFill>
                  <a:srgbClr val="000000"/>
                </a:solidFill>
                <a:latin typeface="Helvetica" pitchFamily="2" charset="0"/>
              </a:rPr>
              <a:t>многоклассовой</a:t>
            </a:r>
            <a:r>
              <a:rPr lang="ru-RU" b="1" dirty="0">
                <a:solidFill>
                  <a:srgbClr val="000000"/>
                </a:solidFill>
                <a:latin typeface="Helvetica" pitchFamily="2" charset="0"/>
              </a:rPr>
              <a:t> классификации</a:t>
            </a:r>
          </a:p>
        </p:txBody>
      </p:sp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1CD0850E-02F3-C81C-D783-8917CB883E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079780"/>
              </p:ext>
            </p:extLst>
          </p:nvPr>
        </p:nvGraphicFramePr>
        <p:xfrm>
          <a:off x="117677" y="4740187"/>
          <a:ext cx="11956646" cy="11423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36640">
                  <a:extLst>
                    <a:ext uri="{9D8B030D-6E8A-4147-A177-3AD203B41FA5}">
                      <a16:colId xmlns:a16="http://schemas.microsoft.com/office/drawing/2014/main" val="3701492871"/>
                    </a:ext>
                  </a:extLst>
                </a:gridCol>
                <a:gridCol w="3340002">
                  <a:extLst>
                    <a:ext uri="{9D8B030D-6E8A-4147-A177-3AD203B41FA5}">
                      <a16:colId xmlns:a16="http://schemas.microsoft.com/office/drawing/2014/main" val="3331177459"/>
                    </a:ext>
                  </a:extLst>
                </a:gridCol>
                <a:gridCol w="3340002">
                  <a:extLst>
                    <a:ext uri="{9D8B030D-6E8A-4147-A177-3AD203B41FA5}">
                      <a16:colId xmlns:a16="http://schemas.microsoft.com/office/drawing/2014/main" val="2255886704"/>
                    </a:ext>
                  </a:extLst>
                </a:gridCol>
                <a:gridCol w="3340002">
                  <a:extLst>
                    <a:ext uri="{9D8B030D-6E8A-4147-A177-3AD203B41FA5}">
                      <a16:colId xmlns:a16="http://schemas.microsoft.com/office/drawing/2014/main" val="1334793108"/>
                    </a:ext>
                  </a:extLst>
                </a:gridCol>
              </a:tblGrid>
              <a:tr h="235860">
                <a:tc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micro-avg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macro-avg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weighted-avg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2661795"/>
                  </a:ext>
                </a:extLst>
              </a:tr>
              <a:tr h="77657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f1</a:t>
                      </a:r>
                      <a:endParaRPr lang="ru-RU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0.94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0.896</a:t>
                      </a:r>
                      <a:endParaRPr lang="ru-RU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0.941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796437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988B383-89EC-0548-6974-6F7AE2735B12}"/>
              </a:ext>
            </a:extLst>
          </p:cNvPr>
          <p:cNvSpPr txBox="1"/>
          <p:nvPr/>
        </p:nvSpPr>
        <p:spPr>
          <a:xfrm>
            <a:off x="990600" y="1933147"/>
            <a:ext cx="74639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Пример:</a:t>
            </a:r>
            <a:r>
              <a:rPr lang="ru-RU" dirty="0"/>
              <a:t> решаем задачу </a:t>
            </a:r>
            <a:r>
              <a:rPr lang="ru-RU" b="1" dirty="0"/>
              <a:t>классификации животных</a:t>
            </a:r>
            <a:r>
              <a:rPr lang="ru-RU" dirty="0"/>
              <a:t> по фотографиям</a:t>
            </a:r>
          </a:p>
          <a:p>
            <a:endParaRPr lang="ru-RU" dirty="0"/>
          </a:p>
          <a:p>
            <a:r>
              <a:rPr lang="ru-RU" dirty="0"/>
              <a:t>Модель </a:t>
            </a:r>
            <a:r>
              <a:rPr lang="en-US" dirty="0"/>
              <a:t>B</a:t>
            </a:r>
            <a:endParaRPr lang="ru-RU" dirty="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37289ADB-9482-6508-4CA4-B0B9ADE581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7431701"/>
              </p:ext>
            </p:extLst>
          </p:nvPr>
        </p:nvGraphicFramePr>
        <p:xfrm>
          <a:off x="990600" y="2394812"/>
          <a:ext cx="6516547" cy="18669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3274">
                  <a:extLst>
                    <a:ext uri="{9D8B030D-6E8A-4147-A177-3AD203B41FA5}">
                      <a16:colId xmlns:a16="http://schemas.microsoft.com/office/drawing/2014/main" val="3132335557"/>
                    </a:ext>
                  </a:extLst>
                </a:gridCol>
                <a:gridCol w="1589203">
                  <a:extLst>
                    <a:ext uri="{9D8B030D-6E8A-4147-A177-3AD203B41FA5}">
                      <a16:colId xmlns:a16="http://schemas.microsoft.com/office/drawing/2014/main" val="2334201043"/>
                    </a:ext>
                  </a:extLst>
                </a:gridCol>
                <a:gridCol w="1484690">
                  <a:extLst>
                    <a:ext uri="{9D8B030D-6E8A-4147-A177-3AD203B41FA5}">
                      <a16:colId xmlns:a16="http://schemas.microsoft.com/office/drawing/2014/main" val="525456860"/>
                    </a:ext>
                  </a:extLst>
                </a:gridCol>
                <a:gridCol w="1484690">
                  <a:extLst>
                    <a:ext uri="{9D8B030D-6E8A-4147-A177-3AD203B41FA5}">
                      <a16:colId xmlns:a16="http://schemas.microsoft.com/office/drawing/2014/main" val="1832214923"/>
                    </a:ext>
                  </a:extLst>
                </a:gridCol>
                <a:gridCol w="1484690">
                  <a:extLst>
                    <a:ext uri="{9D8B030D-6E8A-4147-A177-3AD203B41FA5}">
                      <a16:colId xmlns:a16="http://schemas.microsoft.com/office/drawing/2014/main" val="3330695647"/>
                    </a:ext>
                  </a:extLst>
                </a:gridCol>
              </a:tblGrid>
              <a:tr h="373397">
                <a:tc rowSpan="2" gridSpan="2">
                  <a:txBody>
                    <a:bodyPr/>
                    <a:lstStyle/>
                    <a:p>
                      <a:pPr algn="ctr"/>
                      <a:endParaRPr lang="ru-RU" dirty="0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True/Actual</a:t>
                      </a:r>
                      <a:endParaRPr lang="ru-RU" dirty="0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8017801"/>
                  </a:ext>
                </a:extLst>
              </a:tr>
              <a:tr h="373397">
                <a:tc gridSpan="2"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Fish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Hen/Chicken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4040004"/>
                  </a:ext>
                </a:extLst>
              </a:tr>
              <a:tr h="373397">
                <a:tc rowSpan="3">
                  <a:txBody>
                    <a:bodyPr/>
                    <a:lstStyle/>
                    <a:p>
                      <a:r>
                        <a:rPr lang="en-US" dirty="0"/>
                        <a:t>Predicted</a:t>
                      </a:r>
                      <a:endParaRPr lang="ru-RU" dirty="0"/>
                    </a:p>
                  </a:txBody>
                  <a:tcPr vert="vert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  <a:r>
                        <a:rPr lang="ru-RU" dirty="0"/>
                        <a:t>40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  <a:r>
                        <a:rPr lang="en-US" dirty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8183077"/>
                  </a:ext>
                </a:extLst>
              </a:tr>
              <a:tr h="373397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Fish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  <a:r>
                        <a:rPr lang="ru-RU" dirty="0"/>
                        <a:t>6</a:t>
                      </a:r>
                      <a:r>
                        <a:rPr lang="en-US" dirty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102428"/>
                  </a:ext>
                </a:extLst>
              </a:tr>
              <a:tr h="373397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Hen/Chicken</a:t>
                      </a:r>
                      <a:endParaRPr lang="ru-RU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10</a:t>
                      </a: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8</a:t>
                      </a:r>
                      <a:r>
                        <a:rPr lang="en-US" dirty="0"/>
                        <a:t>0</a:t>
                      </a:r>
                      <a:endParaRPr lang="ru-RU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127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0761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4D23C-FCE0-C833-58F1-1F86E7443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04412859-3B2E-10B6-57AD-5116CDDA931D}"/>
              </a:ext>
            </a:extLst>
          </p:cNvPr>
          <p:cNvSpPr txBox="1">
            <a:spLocks/>
          </p:cNvSpPr>
          <p:nvPr/>
        </p:nvSpPr>
        <p:spPr>
          <a:xfrm>
            <a:off x="990600" y="29760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b="1" dirty="0">
                <a:solidFill>
                  <a:srgbClr val="000000"/>
                </a:solidFill>
                <a:latin typeface="Helvetica" pitchFamily="2" charset="0"/>
              </a:rPr>
              <a:t>Метрики </a:t>
            </a:r>
            <a:r>
              <a:rPr lang="ru-RU" b="1" dirty="0" err="1">
                <a:solidFill>
                  <a:srgbClr val="000000"/>
                </a:solidFill>
                <a:latin typeface="Helvetica" pitchFamily="2" charset="0"/>
              </a:rPr>
              <a:t>многоклассовой</a:t>
            </a:r>
            <a:r>
              <a:rPr lang="ru-RU" b="1" dirty="0">
                <a:solidFill>
                  <a:srgbClr val="000000"/>
                </a:solidFill>
                <a:latin typeface="Helvetica" pitchFamily="2" charset="0"/>
              </a:rPr>
              <a:t> классификации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550FA7-6E98-2D4D-7F96-D699531BE105}"/>
              </a:ext>
            </a:extLst>
          </p:cNvPr>
          <p:cNvSpPr txBox="1"/>
          <p:nvPr/>
        </p:nvSpPr>
        <p:spPr>
          <a:xfrm>
            <a:off x="990600" y="2071868"/>
            <a:ext cx="24516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micro-avg = accuracy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70940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CAAC-BBF5-ADD1-F09B-A3D0AF1D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2D8D6C-B257-D993-01B7-4852D8914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Калибровка вероятностей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79E2BEDB-5602-C7EC-F6E4-AD378391EC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475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Многие модели классификации умеют "предсказывать вероятности" классов. Это делается методом </a:t>
            </a:r>
            <a:r>
              <a:rPr lang="en-US" i="1" dirty="0" err="1"/>
              <a:t>predict_proba</a:t>
            </a:r>
            <a:r>
              <a:rPr lang="en-US" i="1" dirty="0"/>
              <a:t> </a:t>
            </a:r>
            <a:r>
              <a:rPr lang="ru-RU" dirty="0"/>
              <a:t>из библиотеки </a:t>
            </a:r>
            <a:r>
              <a:rPr lang="en-US" i="1" dirty="0" err="1"/>
              <a:t>sklearn</a:t>
            </a:r>
            <a:endParaRPr lang="en-US" i="1" dirty="0"/>
          </a:p>
          <a:p>
            <a:pPr marL="0" indent="0">
              <a:buNone/>
            </a:pPr>
            <a:r>
              <a:rPr lang="ru-RU" dirty="0"/>
              <a:t>На самом деле предсказанные методом числа - это не всегда вероятности в общепринятом смысле. В большинстве случаев метод </a:t>
            </a:r>
            <a:r>
              <a:rPr lang="en-US" i="1" dirty="0" err="1"/>
              <a:t>predict_proba</a:t>
            </a:r>
            <a:r>
              <a:rPr lang="en-US" i="1" dirty="0"/>
              <a:t> </a:t>
            </a:r>
            <a:r>
              <a:rPr lang="ru-RU" dirty="0"/>
              <a:t>выдает уверенности модели в том или ином классе, попадающие на отрезок [0;1]. Почему это не очень хорошо?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41644938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2CE51-32AE-CBBE-013F-2A4EAF04A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ABEB48-F578-BB7D-0B07-798B5CE84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Калибровка вероятностей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171466D1-702D-7D63-07F6-729471DC6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878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Пример:</a:t>
            </a:r>
          </a:p>
          <a:p>
            <a:pPr marL="0" indent="0">
              <a:buNone/>
            </a:pPr>
            <a:r>
              <a:rPr lang="ru-RU" dirty="0"/>
              <a:t>Пусть мы решаем задачу кредитного скоринга, и кроме класса (выдать клиенту кредит или нет) бизнес часто интересует вероятность, с которой клиент вернет кредит. Основываясь на этих вероятностях, бизнес будет принимать решение о способе взаимодействия с клиентом.</a:t>
            </a:r>
            <a:endParaRPr lang="ru-GB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CDBDEBD-69C7-2EC3-B12A-B4EFA3B48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918" y="4375633"/>
            <a:ext cx="3436026" cy="2333061"/>
          </a:xfrm>
          <a:prstGeom prst="rect">
            <a:avLst/>
          </a:prstGeom>
        </p:spPr>
      </p:pic>
      <p:pic>
        <p:nvPicPr>
          <p:cNvPr id="11266" name="Picture 2" descr="Credit Score Ranges - How It Matters To Your Finances?">
            <a:extLst>
              <a:ext uri="{FF2B5EF4-FFF2-40B4-BE49-F238E27FC236}">
                <a16:creationId xmlns:a16="http://schemas.microsoft.com/office/drawing/2014/main" id="{2F64B267-BF34-270E-86AF-F3B1FCE577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7250" y="4300979"/>
            <a:ext cx="3996496" cy="2482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85554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AA148-1EDC-3768-BE57-3958914A2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4070F1-40A5-D550-E8F9-4574AD06B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Калибровка вероятностей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DFC2251E-C0D5-60C7-5537-93D5F1E29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80654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Например, если клиент возвращает кредит с вероятностью 0.9, то это означает, что в 90 случаях из 100 клиенты с такими же характеристиками как наш вернут кредит. Так работает классическая вероятность.</a:t>
            </a:r>
          </a:p>
          <a:p>
            <a:pPr marL="0" indent="0">
              <a:buNone/>
            </a:pPr>
            <a:r>
              <a:rPr lang="ru-RU" dirty="0"/>
              <a:t>Но большинство моделей после применения </a:t>
            </a:r>
            <a:r>
              <a:rPr lang="en-US" i="1" dirty="0" err="1"/>
              <a:t>predict_proba</a:t>
            </a:r>
            <a:r>
              <a:rPr lang="en-US" i="1" dirty="0"/>
              <a:t> </a:t>
            </a:r>
            <a:r>
              <a:rPr lang="ru-RU" dirty="0"/>
              <a:t>могут выдать число, отличное от 0.9 - это будет уверенность модели в классе. Например, модель может выдать правильный ответ "клиент вернет кредит", но с вероятностью 0.6. И бизнес, анализируя полученную вероятность, будет понимать, что клиент не настолько надежный (ведь вероятности возврата кредита 60% и 90% совсем разные). Получим неверную картину.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2162620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F4BEF-17B5-7AE5-40B3-CCC3D2325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4F32F0-9EBC-DD10-BBAA-954CD7796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Калибровка вероятностей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35DDEA24-DBD8-0813-BBA5-F77E26FC3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806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ноутбук </a:t>
            </a:r>
            <a:r>
              <a:rPr lang="en-US" dirty="0" err="1"/>
              <a:t>calibration.ipynb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2072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D3E82-1BF0-E35E-E9A6-EE4E867F3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21166A-04EB-90E9-9465-6F5720EFD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00000"/>
                </a:solidFill>
                <a:effectLst/>
                <a:latin typeface="Helvetica" pitchFamily="2" charset="0"/>
              </a:rPr>
              <a:t>Калибровка вероятностей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E62578FE-DB0A-CA12-41D9-148B47704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806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ноутбук </a:t>
            </a:r>
            <a:r>
              <a:rPr lang="en-US" dirty="0" err="1"/>
              <a:t>calibration.ipynb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411276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2884</TotalTime>
  <Words>1322</Words>
  <Application>Microsoft Macintosh PowerPoint</Application>
  <PresentationFormat>Широкоэкранный</PresentationFormat>
  <Paragraphs>214</Paragraphs>
  <Slides>28</Slides>
  <Notes>26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28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Helvetica</vt:lpstr>
      <vt:lpstr>Roboto</vt:lpstr>
      <vt:lpstr>Тема Office</vt:lpstr>
      <vt:lpstr>Многоклассовая классификация и калибровка вероятностей</vt:lpstr>
      <vt:lpstr>План</vt:lpstr>
      <vt:lpstr>Почему ROC-AUC "врет" при дисбалансе классов?</vt:lpstr>
      <vt:lpstr>Как модели прогнозируют “вероятности”?</vt:lpstr>
      <vt:lpstr>Многоклассовая классификация</vt:lpstr>
      <vt:lpstr>Многоклассовая классификация</vt:lpstr>
      <vt:lpstr>Многоклассовая классификация</vt:lpstr>
      <vt:lpstr>Многоклассовая классификация</vt:lpstr>
      <vt:lpstr>Многоклассовая классификация</vt:lpstr>
      <vt:lpstr>Многоклассовая классификация</vt:lpstr>
      <vt:lpstr>Многоклассовая классификация</vt:lpstr>
      <vt:lpstr>Многоклассовая классификация</vt:lpstr>
      <vt:lpstr>Многоклассовая классификация</vt:lpstr>
      <vt:lpstr>Метрики многоклассовой классификации</vt:lpstr>
      <vt:lpstr>Метрики многоклассовой классификации</vt:lpstr>
      <vt:lpstr>Метрики многоклассовой классификации</vt:lpstr>
      <vt:lpstr>Метрики многоклассовой классификации</vt:lpstr>
      <vt:lpstr>Метрики многоклассовой классификации</vt:lpstr>
      <vt:lpstr>Метрики многоклассовой классификации</vt:lpstr>
      <vt:lpstr>Презентация PowerPoint</vt:lpstr>
      <vt:lpstr>Презентация PowerPoint</vt:lpstr>
      <vt:lpstr>Презентация PowerPoint</vt:lpstr>
      <vt:lpstr>Презентация PowerPoint</vt:lpstr>
      <vt:lpstr>Калибровка вероятностей</vt:lpstr>
      <vt:lpstr>Калибровка вероятностей</vt:lpstr>
      <vt:lpstr>Калибровка вероятностей</vt:lpstr>
      <vt:lpstr>Калибровка вероятностей</vt:lpstr>
      <vt:lpstr>Калибровка вероятностей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c77904</dc:creator>
  <cp:lastModifiedBy>adpak</cp:lastModifiedBy>
  <cp:revision>3</cp:revision>
  <dcterms:created xsi:type="dcterms:W3CDTF">2026-02-26T12:49:36Z</dcterms:created>
  <dcterms:modified xsi:type="dcterms:W3CDTF">2026-03-13T14:23:34Z</dcterms:modified>
</cp:coreProperties>
</file>