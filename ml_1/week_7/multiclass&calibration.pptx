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93" r:id="rId7"/>
    <p:sldId id="294" r:id="rId8"/>
    <p:sldId id="295" r:id="rId9"/>
    <p:sldId id="296" r:id="rId10"/>
    <p:sldId id="297" r:id="rId11"/>
    <p:sldId id="299" r:id="rId12"/>
    <p:sldId id="300" r:id="rId13"/>
    <p:sldId id="298" r:id="rId14"/>
    <p:sldId id="261" r:id="rId15"/>
    <p:sldId id="301" r:id="rId16"/>
    <p:sldId id="302" r:id="rId17"/>
    <p:sldId id="303" r:id="rId18"/>
    <p:sldId id="305" r:id="rId19"/>
    <p:sldId id="304" r:id="rId20"/>
    <p:sldId id="262" r:id="rId21"/>
    <p:sldId id="306" r:id="rId22"/>
    <p:sldId id="307" r:id="rId23"/>
    <p:sldId id="308" r:id="rId24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9"/>
    <p:restoredTop sz="92006"/>
  </p:normalViewPr>
  <p:slideViewPr>
    <p:cSldViewPr snapToGrid="0">
      <p:cViewPr>
        <p:scale>
          <a:sx n="97" d="100"/>
          <a:sy n="97" d="100"/>
        </p:scale>
        <p:origin x="108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EBF00-5E8D-264A-97EB-3271BEE203CE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AE5BE-D43F-D646-9368-4EA0133E63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81578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99086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0925-64CD-75A3-E7E4-28B76B46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E2A01B-4546-D337-74EC-69E4C7FFD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ACF96C-436B-D6CD-7B35-AE6B1E758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8B81DE-BCB2-C553-E385-C2CE9D534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527573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C6BC-F273-990A-35AE-C6916383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C89409-391F-2FC4-06D6-8AFE7A162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9888F0-6E6D-1718-F628-45A23E6C7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1AE9A4-C887-7494-5851-806BD1AAB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44934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5A20-8EDF-7CE5-A75A-D1F7C178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F2B4FC3-7681-7B82-F452-7F1CE6246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933A44A-FC87-BFD0-FDAC-79B9DA2FC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64FDD-3C06-3EAE-D4F2-CC74CC24D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16434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3C021-8791-2A54-9720-3CC017BE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A377209-8D0A-C429-EF55-836D048CD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293B285-27A3-D009-40F1-B604BFBE3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E9F29C-FB26-D710-2149-DA7CACE6B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756652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2DBB-9445-9308-8917-4D418184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575315-A5CB-45CB-8419-74F95DC7D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FB642E-F132-D4A3-8DAD-1FA084A46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F6AB8C-6706-B9E9-7156-B1DFA69A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867838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433A-D182-14E3-6C0F-8F4B6317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6C68BF-F1AD-85A9-BEE2-D69B5F160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A6FF40-4337-5952-5ED0-093076436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EF4335-5BB6-D731-8A87-B1CF2A707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78421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F7D0-08F2-D9B3-91ED-6BAE5E44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EB0B35-B2D5-DD97-66DA-65698DAB7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AC2608-7CD3-277B-34B1-49C0E227C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A39E39-32D1-38EA-336F-C08F7EEF6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34273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C459-C6F6-5829-F520-A5C3A0B2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918DB8-5C9A-3B03-D55A-EA5F2A864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E20A0B-8F6B-925D-F808-BAEC22ACE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ADD2A0-F7C7-8F63-5D0D-BAD96A51F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974055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0448-C2E7-6DE9-3E0C-3D337A1C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E7257C-21DE-7CAA-4FEE-05D6B0419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31F47E-B07A-0F80-3AB3-D2A9E97C6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AF9084-A943-89DD-39BB-AF8685C20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9121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D396-E9BC-CD97-6F18-FCE623D6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070ECF-38B7-8FE6-FEC9-64AD48C22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522B6E-BB62-576E-F96C-1751D8008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CF18A1-5EC7-8D95-39A7-C302C1F7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70006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EFC7A-DC27-F11B-3D64-006AA7D0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624433-596A-9438-B629-6A766CB94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57DA9E-0CD6-9C33-6D36-4E4BE6B64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E87930-55A3-02FB-B156-028AFD244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13838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AAF1-C884-6850-2CFC-CFC296D5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A53DA9-D711-ED07-B06A-50F8AD004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4332B8-ED94-E707-FF46-F19B614C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02009-195A-50F1-5211-9A695D3C2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39223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1AB4-7124-125E-B065-5D1FC873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58A8D2-BA74-DCCF-FC9C-4F4F4753B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D6838E-6DB1-DDEF-7729-72F67A41E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26CFBD-45FE-FFF5-73B1-1CE5B3C32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3168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764A-B65C-3374-7102-DE583E64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82E294-E89D-5DC3-7296-6D8A3148D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219090-12F1-1689-6E89-96E37A6E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FA251A-CB16-393F-EB82-AB21B37A3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7363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3038-44FE-F743-5410-CD1E836D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75AA17-1BB8-02E1-856F-83C752DED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FD509A-3C6F-19CF-7531-0A85CC4F2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E6148-D9CF-0FE7-C779-E6BFBFADB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793720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D062-1B02-551B-9B7E-9DA08B8B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077E23-600E-A9B3-65C3-F92CDF4E4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1D2CEB-EA57-8DFB-15EC-4958DC5D9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03C8C1-0213-973B-22FC-8273C3999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19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33151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E403-C8C7-29A6-5577-338F8D28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5FC44E-701F-5B13-8FDD-6396E1441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154850-58CB-F6CD-5884-2D33250BE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F05238-7133-77FE-5D15-D3B2779C4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20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14573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5737-8E5A-2C94-4761-373FC0E1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2CC640-A9B4-D168-C232-E49A149C6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18DB295-DF82-5C93-E773-72E3499C5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C617B1-B3D1-47E9-9259-50C5CC583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21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700016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7758-478D-4ABF-9255-8BCD15018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8698AE-1A6A-2B84-791C-DC7B07894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31D041-B63B-6B25-0BB8-2C8DAA4BC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4D618C-D29F-9B9E-1855-6C29ED529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22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49256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D701-4DF4-F090-C378-2AB9B071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F6E61E-FED1-FDD5-3556-599157761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A05279-DB26-BEA8-A03D-CB1A3C24C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CA32DF-0C63-A403-9BE3-742EA44B3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E5BE-D43F-D646-9368-4EA0133E6314}" type="slidenum">
              <a:rPr lang="ru-GB" smtClean="0"/>
              <a:t>23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959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AA6B2-48EA-9306-5A6D-7D9CEA4AE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471C99-3C65-9AA2-5CA5-05A2D3C44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D7AFF9-65E4-A01D-7A52-658E9799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FF6081-808D-0A12-F342-15A4DE0B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CD5F81-A1E3-D4B4-476D-696DE8E0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492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EBF7D-55CC-9731-03C1-3F1A23E6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F2BBB-349B-3E1B-C005-665C9CA5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E9F784-9B9C-6D8F-9049-92C3F0D1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E021B0-E3DC-7006-E3BB-DF147FC5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7E03C-7178-1975-AC2E-21CC99C2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13165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EEECE-6CD2-D739-A097-D6BEF11A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53E19B-1C9E-0213-C3B7-ED01F0570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171647-4026-2440-5027-838F1A19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466F5D-4104-6906-99BD-AB0A7AAE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B60B8E-65ED-4FFB-DABD-CAAC23E4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8485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1970D-F678-4A7F-0797-ABAA299C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D7AED-A8BC-E785-8900-1C222F93A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ED92BF-52CC-CDEB-C62C-C3B3168EA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397F16-0FEA-41D8-098C-A618C1C3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2FCF92-DE3F-18CC-D861-F0740BF4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C3FB51-7DAA-A98C-65D1-BEB5E038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4887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26F3B-F088-416A-4419-FDA91D45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ACF235-0704-5B39-FA6D-8CE589634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101F8D-9696-E2A9-E1D4-FCA66DD3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9BAA3C-1592-911C-8ED3-91D83F67D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AC0C44-7FBA-5F76-8948-EF19E6985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3ACA4E-D6E6-488B-2EBA-FF6408AD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3F6AEA-587C-D01B-6DCF-ABED2E2E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5FDF26-E208-8FCA-6102-0BE29E2A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84115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A0ED9-D603-F355-54A2-7B0EA284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5ACFCF-39E6-5D52-106A-1F3434AC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5E1009-0356-E94F-1AEA-A25A02CA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E5BACC-7820-7FB9-A721-DA7A2D02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72466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7D7C18-80AB-0479-6907-EFDFDD3F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8DB5BF1-FD3C-033D-9404-774FBB2D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29E85D-4ABB-D6F7-CC1E-14633C2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4118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91BED-1A56-73D2-B151-FEC96394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8278DC-4DC4-D216-D314-B65413803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0D25E4-F7E8-B8C7-61A5-5B1B16E03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B0297-B1CB-9AA0-64F8-D872B092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2B5DEE-A949-C584-C6DB-2154DF7E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03790B-161B-F7DA-D951-4578107A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1715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B4CEB-2833-0C20-5C97-A0EA1CA4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CB86EF-B70C-C0F1-5766-D5655DBBC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2E5D3B-257E-3959-F2C8-EF78C6093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79C052-2987-9D01-0BC2-E9D0585F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957F0D-2DAE-F137-D61C-9EEB7B54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4B5F4-30A2-981E-018A-767086F2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2164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8AA94-F032-977B-283C-31F02339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5601CF-13C3-EDB8-81E9-D223D809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C68E24-BBD0-435C-5021-5442D9C3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8B0EF8-2520-AF38-EB3D-66C92A70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987068-30D2-8242-827A-8F75A6F0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27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A3CAD3-ABBD-596C-3C78-FCCFFB65C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5C9E60-C3B0-E00A-38FB-6915AB0DF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7ECB03-9B0A-F5D1-0625-37587AD7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95B85-92E2-6877-7D5F-21914F07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CA5C8B-C20C-6FDD-C66B-06C746F7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05198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BE459-4019-D737-214E-C1739E03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5AD991-9CB1-F66E-2F16-DC353179D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9EA80F-5656-4F11-C568-D22C999EE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80C48-8932-7A4C-BED0-B627A1572044}" type="datetimeFigureOut">
              <a:rPr lang="ru-GB" smtClean="0"/>
              <a:t>09/03/2026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8CB29-9BBB-8A3C-0F5C-744DECC67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8C2B8-E155-F59D-4BDF-80D7B64F7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500F5-C96B-CA4F-8D0F-F03105DD4614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9796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8AC80-B180-8C86-099D-771CA4BCD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Многоклассовая</a:t>
            </a:r>
            <a:r>
              <a:rPr lang="ru-RU" b="1" dirty="0"/>
              <a:t> классификация и калибровка вероятностей</a:t>
            </a:r>
            <a:endParaRPr lang="ru-GB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FDFE3D-A5F5-9F92-FF80-929CB54E55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GB" dirty="0"/>
              <a:t>Семинар </a:t>
            </a:r>
            <a:r>
              <a:rPr lang="en-US" dirty="0"/>
              <a:t>7</a:t>
            </a:r>
            <a:endParaRPr lang="ru-GB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269EA8-222F-C8F3-064E-6C1E4939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10" y="5025163"/>
            <a:ext cx="10990379" cy="116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9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76692-509F-5182-62E1-931BBBE9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750B3-F8CC-092A-E435-2A9E03997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Почему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ROC-AUC "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врет" при дисбалансе классов?</a:t>
            </a:r>
          </a:p>
          <a:p>
            <a:r>
              <a:rPr lang="ru-RU" dirty="0">
                <a:latin typeface="Helvetica" pitchFamily="2" charset="0"/>
              </a:rPr>
              <a:t>Как модели прогнозируют </a:t>
            </a:r>
            <a:r>
              <a:rPr lang="en-US" dirty="0">
                <a:latin typeface="Helvetica" pitchFamily="2" charset="0"/>
              </a:rPr>
              <a:t>“</a:t>
            </a:r>
            <a:r>
              <a:rPr lang="ru-RU" dirty="0">
                <a:latin typeface="Helvetica" pitchFamily="2" charset="0"/>
              </a:rPr>
              <a:t>вероятности</a:t>
            </a:r>
            <a:r>
              <a:rPr lang="en-US" dirty="0">
                <a:latin typeface="Helvetica" pitchFamily="2" charset="0"/>
              </a:rPr>
              <a:t>”</a:t>
            </a:r>
            <a:r>
              <a:rPr lang="ru-RU" dirty="0">
                <a:latin typeface="Helvetica" pitchFamily="2" charset="0"/>
              </a:rPr>
              <a:t>?</a:t>
            </a:r>
            <a:endParaRPr lang="ru-GB" dirty="0">
              <a:latin typeface="Helvetica" pitchFamily="2" charset="0"/>
            </a:endParaRPr>
          </a:p>
          <a:p>
            <a:r>
              <a:rPr lang="ru-RU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Калибровка вероятностей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09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03CB-C711-85E9-78EE-EBF448E5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8CD1B-FB3B-48E6-B1FC-F0C867FD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Почему </a:t>
            </a:r>
            <a:r>
              <a:rPr lang="en-US" b="1" dirty="0">
                <a:solidFill>
                  <a:srgbClr val="000000"/>
                </a:solidFill>
                <a:effectLst/>
                <a:latin typeface="Helvetica" pitchFamily="2" charset="0"/>
              </a:rPr>
              <a:t>ROC-AUC "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врет" при дисбалансе классов?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683890-A1E9-D024-96C6-50951E6A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7700" cy="600075"/>
          </a:xfrm>
        </p:spPr>
        <p:txBody>
          <a:bodyPr/>
          <a:lstStyle/>
          <a:p>
            <a:pPr marL="0" indent="0">
              <a:buNone/>
            </a:pPr>
            <a:r>
              <a:rPr lang="ru-GB" dirty="0"/>
              <a:t>ноутбук </a:t>
            </a:r>
            <a:r>
              <a:rPr lang="en-US" dirty="0" err="1"/>
              <a:t>auc.ipynb</a:t>
            </a:r>
            <a:r>
              <a:rPr lang="ru-GB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559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7A92-DD04-691C-8949-C622DBA3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299E0-27E4-826D-3EE8-28AE1D82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Как модели прогнозируют </a:t>
            </a:r>
            <a:r>
              <a:rPr lang="en-US" b="1" dirty="0">
                <a:solidFill>
                  <a:srgbClr val="000000"/>
                </a:solidFill>
                <a:effectLst/>
                <a:latin typeface="Helvetica" pitchFamily="2" charset="0"/>
              </a:rPr>
              <a:t>“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вероятности</a:t>
            </a:r>
            <a:r>
              <a:rPr lang="en-US" b="1" dirty="0">
                <a:solidFill>
                  <a:srgbClr val="000000"/>
                </a:solidFill>
                <a:effectLst/>
                <a:latin typeface="Helvetica" pitchFamily="2" charset="0"/>
              </a:rPr>
              <a:t>”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?</a:t>
            </a:r>
          </a:p>
        </p:txBody>
      </p:sp>
      <p:pic>
        <p:nvPicPr>
          <p:cNvPr id="4" name="Объект 3" descr="Изображение выглядит как линия, График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AE67B1-5067-7221-EA41-5728F9DF4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21877"/>
            <a:ext cx="7477897" cy="3291959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D2FE6-9FD0-1AF3-FE5E-788283984A84}"/>
                  </a:ext>
                </a:extLst>
              </p:cNvPr>
              <p:cNvSpPr txBox="1"/>
              <p:nvPr/>
            </p:nvSpPr>
            <p:spPr>
              <a:xfrm>
                <a:off x="1767017" y="5029170"/>
                <a:ext cx="1792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D2FE6-9FD0-1AF3-FE5E-788283984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017" y="5029170"/>
                <a:ext cx="17924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8C54B1-CC45-4AAF-88A9-A5DD28BC3143}"/>
                  </a:ext>
                </a:extLst>
              </p:cNvPr>
              <p:cNvSpPr txBox="1"/>
              <p:nvPr/>
            </p:nvSpPr>
            <p:spPr>
              <a:xfrm>
                <a:off x="4771957" y="5029170"/>
                <a:ext cx="3679469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8C54B1-CC45-4AAF-88A9-A5DD28BC3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957" y="5029170"/>
                <a:ext cx="3679469" cy="617348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78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0D86-1D18-F0AC-249F-A50FE94B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3B60-C496-0531-FF0D-2F2F9B1C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 классификация</a:t>
            </a:r>
            <a:endParaRPr lang="ru-GB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826A3E-6AE4-C590-BA10-8D5D22112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3858" cy="330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GB" b="1" dirty="0"/>
              <a:t>Примеры:</a:t>
            </a:r>
          </a:p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определения объекта на изображении</a:t>
            </a:r>
          </a:p>
          <a:p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определения тональности отзыва и многие другие</a:t>
            </a:r>
          </a:p>
          <a:p>
            <a:r>
              <a:rPr lang="ru-RU" dirty="0">
                <a:solidFill>
                  <a:srgbClr val="222222"/>
                </a:solidFill>
                <a:latin typeface="Roboto" panose="02000000000000000000" pitchFamily="2" charset="0"/>
              </a:rPr>
              <a:t>предсказание следующего слова при генерации текста </a:t>
            </a:r>
            <a:r>
              <a:rPr lang="en-US" dirty="0">
                <a:solidFill>
                  <a:srgbClr val="222222"/>
                </a:solidFill>
                <a:latin typeface="Roboto" panose="02000000000000000000" pitchFamily="2" charset="0"/>
              </a:rPr>
              <a:t>LLM</a:t>
            </a:r>
          </a:p>
          <a:p>
            <a:r>
              <a:rPr lang="ru-RU" dirty="0">
                <a:solidFill>
                  <a:srgbClr val="222222"/>
                </a:solidFill>
                <a:latin typeface="Roboto" panose="02000000000000000000" pitchFamily="2" charset="0"/>
              </a:rPr>
              <a:t>и </a:t>
            </a:r>
            <a:r>
              <a:rPr lang="ru-RU" dirty="0" err="1">
                <a:solidFill>
                  <a:srgbClr val="222222"/>
                </a:solidFill>
                <a:latin typeface="Roboto" panose="02000000000000000000" pitchFamily="2" charset="0"/>
              </a:rPr>
              <a:t>т.д</a:t>
            </a:r>
            <a:endParaRPr lang="ru-GB" dirty="0"/>
          </a:p>
          <a:p>
            <a:pPr marL="0" indent="0">
              <a:buNone/>
            </a:pPr>
            <a:endParaRPr lang="ru-GB" b="1" dirty="0"/>
          </a:p>
        </p:txBody>
      </p:sp>
    </p:spTree>
    <p:extLst>
      <p:ext uri="{BB962C8B-B14F-4D97-AF65-F5344CB8AC3E}">
        <p14:creationId xmlns:p14="http://schemas.microsoft.com/office/powerpoint/2010/main" val="350327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28FF-BB0B-5193-CF79-6C22B8F8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46C79-A1B5-66EA-F7CA-CE7EBE24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pic>
        <p:nvPicPr>
          <p:cNvPr id="3074" name="Picture 2" descr="GitHub - floydhub/image-classification-template: Build a deep learning  model for classifying dog breeds from their images">
            <a:extLst>
              <a:ext uri="{FF2B5EF4-FFF2-40B4-BE49-F238E27FC236}">
                <a16:creationId xmlns:a16="http://schemas.microsoft.com/office/drawing/2014/main" id="{BAE076AC-4C3A-DA50-F129-D474C5971F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5" y="1458460"/>
            <a:ext cx="4574751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ext Token Prediction is a Fundamental Function of the World">
            <a:extLst>
              <a:ext uri="{FF2B5EF4-FFF2-40B4-BE49-F238E27FC236}">
                <a16:creationId xmlns:a16="http://schemas.microsoft.com/office/drawing/2014/main" id="{47B4037F-CD78-2C1F-0D6C-2A0ABEB08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625" y="1458459"/>
            <a:ext cx="4147375" cy="461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xt classification in NLP">
            <a:extLst>
              <a:ext uri="{FF2B5EF4-FFF2-40B4-BE49-F238E27FC236}">
                <a16:creationId xmlns:a16="http://schemas.microsoft.com/office/drawing/2014/main" id="{B4C8717A-7C9B-F77B-E91F-2BD0486AD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800" y="3323772"/>
            <a:ext cx="2458400" cy="329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90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E309-8C33-0949-D888-761FA823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BC3C4-7F30-11B6-8105-3149D3B7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F2FE63-724F-B3ED-0FA2-ABEA0442C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Multiclass </a:t>
            </a:r>
            <a:r>
              <a:rPr lang="ru-RU" sz="2400" dirty="0"/>
              <a:t>и </a:t>
            </a:r>
            <a:r>
              <a:rPr lang="en-US" sz="2400" b="1" dirty="0"/>
              <a:t>multilabel </a:t>
            </a:r>
            <a:r>
              <a:rPr lang="ru-RU" sz="2400" dirty="0"/>
              <a:t>классификации - это задачи разных типов.</a:t>
            </a:r>
          </a:p>
          <a:p>
            <a:r>
              <a:rPr lang="en-US" sz="2400" b="1" dirty="0"/>
              <a:t>Multiclass-</a:t>
            </a:r>
            <a:r>
              <a:rPr lang="ru-RU" sz="2400" b="1" dirty="0"/>
              <a:t>классификация:</a:t>
            </a:r>
            <a:r>
              <a:rPr lang="ru-RU" sz="2400" dirty="0"/>
              <a:t> задача, в которой целевая переменная - это один из нескольких классов (где классов может быть больше,  чем два)</a:t>
            </a:r>
          </a:p>
          <a:p>
            <a:r>
              <a:rPr lang="en-US" sz="2400" b="1" dirty="0"/>
              <a:t>Multilabel-</a:t>
            </a:r>
            <a:r>
              <a:rPr lang="ru-RU" sz="2400" b="1" dirty="0"/>
              <a:t>классификация:</a:t>
            </a:r>
            <a:r>
              <a:rPr lang="ru-RU" sz="2400" dirty="0"/>
              <a:t> задача, в которой для каждого объекта предсказывается несколько меток (например, для фильма одновременно можно предсказать его жанр, год выпуска, язык фильма и так далее). Или же на картинке может быть изображен не один объект, а несколько - и наша задача определить классы всех объектов.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Multilabel</a:t>
            </a:r>
            <a:r>
              <a:rPr lang="en-US" sz="2400" dirty="0"/>
              <a:t>-</a:t>
            </a:r>
            <a:r>
              <a:rPr lang="ru-RU" sz="2400" dirty="0"/>
              <a:t>задачу можно свести к серии </a:t>
            </a:r>
            <a:r>
              <a:rPr lang="en-US" sz="2400" b="1" dirty="0"/>
              <a:t>multiclass</a:t>
            </a:r>
            <a:r>
              <a:rPr lang="en-US" sz="2400" dirty="0"/>
              <a:t>-</a:t>
            </a:r>
            <a:r>
              <a:rPr lang="ru-RU" sz="2400" dirty="0"/>
              <a:t>задач.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Дальше мы будем обсуждать </a:t>
            </a:r>
            <a:r>
              <a:rPr lang="en-US" sz="2400" b="1" dirty="0"/>
              <a:t>multiclass</a:t>
            </a:r>
            <a:r>
              <a:rPr lang="en-US" sz="2400" dirty="0"/>
              <a:t>-</a:t>
            </a:r>
            <a:r>
              <a:rPr lang="ru-RU" sz="2400" dirty="0"/>
              <a:t>классификацию, когда у каждого объекта одна метка.</a:t>
            </a:r>
            <a:endParaRPr lang="ru-GB" sz="2400" dirty="0"/>
          </a:p>
        </p:txBody>
      </p:sp>
    </p:spTree>
    <p:extLst>
      <p:ext uri="{BB962C8B-B14F-4D97-AF65-F5344CB8AC3E}">
        <p14:creationId xmlns:p14="http://schemas.microsoft.com/office/powerpoint/2010/main" val="263822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3CF2-DF0D-F761-1AE0-C00BF668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851F4-FD19-AEB5-B4D3-1CEDB8AB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F80169-60E0-774E-1FF2-E9A2FE6E4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9"/>
            <a:ext cx="10515600" cy="164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Сведение к бинарной классификации</a:t>
            </a:r>
            <a:endParaRPr lang="en-US" sz="2400" b="1" dirty="0"/>
          </a:p>
          <a:p>
            <a:pPr marL="0" indent="0">
              <a:buNone/>
            </a:pPr>
            <a:r>
              <a:rPr lang="ru-RU" sz="2400" dirty="0"/>
              <a:t>Задачи </a:t>
            </a:r>
            <a:r>
              <a:rPr lang="ru-RU" sz="2400" dirty="0" err="1"/>
              <a:t>многоклассовой</a:t>
            </a:r>
            <a:r>
              <a:rPr lang="ru-RU" sz="2400" dirty="0"/>
              <a:t> (</a:t>
            </a:r>
            <a:r>
              <a:rPr lang="en-US" sz="2400" dirty="0"/>
              <a:t>multiclass) </a:t>
            </a:r>
            <a:r>
              <a:rPr lang="ru-RU" sz="2400" dirty="0"/>
              <a:t>классификации можно свести к серии бинарных задач. Два основных подхода называются </a:t>
            </a:r>
            <a:r>
              <a:rPr lang="en-US" sz="2400" b="1" dirty="0"/>
              <a:t>one-versus-one (OVO) </a:t>
            </a:r>
            <a:r>
              <a:rPr lang="ru-RU" sz="2400" b="1" dirty="0"/>
              <a:t>и </a:t>
            </a:r>
            <a:r>
              <a:rPr lang="en-US" sz="2400" b="1" dirty="0"/>
              <a:t>one-versus-rest (OVR)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7B472F-AC58-65F0-8E3C-6FB28D5FD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258" y="2916387"/>
            <a:ext cx="4829996" cy="3392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8D417C-77A9-37F0-A024-513A878CC81F}"/>
              </a:ext>
            </a:extLst>
          </p:cNvPr>
          <p:cNvSpPr txBox="1"/>
          <p:nvPr/>
        </p:nvSpPr>
        <p:spPr>
          <a:xfrm>
            <a:off x="838200" y="3669958"/>
            <a:ext cx="60980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One-versus-rest (OVR) </a:t>
            </a:r>
            <a:r>
              <a:rPr lang="ru-RU" sz="2000" b="1" dirty="0"/>
              <a:t>подход</a:t>
            </a:r>
            <a:endParaRPr lang="en-US" sz="2000" b="1" dirty="0"/>
          </a:p>
          <a:p>
            <a:pPr marL="0" indent="0">
              <a:buNone/>
            </a:pPr>
            <a:r>
              <a:rPr lang="ru-RU" sz="2000" dirty="0"/>
              <a:t>Сводим задачу к серии бинарных классификаторов, где </a:t>
            </a:r>
            <a:r>
              <a:rPr lang="en-US" sz="2000" dirty="0" err="1"/>
              <a:t>i</a:t>
            </a:r>
            <a:r>
              <a:rPr lang="en-US" sz="2000" dirty="0"/>
              <a:t>-</a:t>
            </a:r>
            <a:r>
              <a:rPr lang="ru-RU" sz="2000" dirty="0"/>
              <a:t>й классификатор определяет, относится объект к классу 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ru-RU" sz="2000" dirty="0"/>
              <a:t>или не относится (два варианта, то есть бинарный классификатор).</a:t>
            </a:r>
            <a:endParaRPr lang="ru-GB" sz="2000" dirty="0"/>
          </a:p>
        </p:txBody>
      </p:sp>
    </p:spTree>
    <p:extLst>
      <p:ext uri="{BB962C8B-B14F-4D97-AF65-F5344CB8AC3E}">
        <p14:creationId xmlns:p14="http://schemas.microsoft.com/office/powerpoint/2010/main" val="25260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E4C0-8971-5CB2-4D61-32868A27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CB775-C628-8090-8F4C-8410C32B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E4C441-5B9E-8EF9-9DBA-74D7CA941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9"/>
            <a:ext cx="10515600" cy="16466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b="1" dirty="0"/>
              <a:t>Сведение к бинарной классификации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One-versus-one (OVO) </a:t>
            </a:r>
            <a:r>
              <a:rPr lang="ru-RU" sz="2400" b="1" dirty="0"/>
              <a:t>подход</a:t>
            </a:r>
          </a:p>
          <a:p>
            <a:pPr marL="0" indent="0">
              <a:buNone/>
            </a:pPr>
            <a:r>
              <a:rPr lang="ru-RU" sz="2400" dirty="0"/>
              <a:t>В этом подходе каждый бинарный классификатор пытается отличить, принадлежит объект классу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ru-RU" sz="2400" dirty="0"/>
              <a:t>или классу </a:t>
            </a:r>
            <a:r>
              <a:rPr lang="en-US" sz="2400" dirty="0"/>
              <a:t>j. </a:t>
            </a:r>
            <a:r>
              <a:rPr lang="ru-RU" sz="2400" dirty="0"/>
              <a:t>Каждый такой классификатор обучается только на объектах </a:t>
            </a:r>
            <a:r>
              <a:rPr lang="en-US" sz="2400" dirty="0" err="1"/>
              <a:t>i</a:t>
            </a:r>
            <a:r>
              <a:rPr lang="en-US" sz="2400" dirty="0"/>
              <a:t>-</a:t>
            </a:r>
            <a:r>
              <a:rPr lang="ru-RU" sz="2400" dirty="0"/>
              <a:t>го и </a:t>
            </a:r>
            <a:r>
              <a:rPr lang="en-US" sz="2400" dirty="0"/>
              <a:t>j-</a:t>
            </a:r>
            <a:r>
              <a:rPr lang="ru-RU" sz="2400" dirty="0"/>
              <a:t>го классов.</a:t>
            </a:r>
            <a:endParaRPr lang="en-US" sz="24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792CB1-54F4-081E-22EB-5CA4DC519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57" y="3188043"/>
            <a:ext cx="5193957" cy="347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0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F6C6-F1A2-9A7B-D26D-BD1079CF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15389-DC0E-23AC-3CEB-5D414E6B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23536E-572F-45D5-068C-568A0B52A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8"/>
            <a:ext cx="10515600" cy="4303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Сведение к бинарной классификации</a:t>
            </a:r>
            <a:endParaRPr lang="en-US" sz="2400" b="1" dirty="0"/>
          </a:p>
          <a:p>
            <a:pPr marL="0" indent="0">
              <a:buNone/>
            </a:pPr>
            <a:r>
              <a:rPr lang="ru-RU" sz="2400" dirty="0"/>
              <a:t>Нельзя в общем случае сказать, какой из подходов лучше. Однако у каждого из подходов есть особенности, связанные со скоростью обучения:</a:t>
            </a:r>
          </a:p>
          <a:p>
            <a:r>
              <a:rPr lang="ru-RU" sz="2400" dirty="0"/>
              <a:t>Если мы выбираем подход </a:t>
            </a:r>
            <a:r>
              <a:rPr lang="en-US" sz="2400" b="1" dirty="0"/>
              <a:t>one-versus-all</a:t>
            </a:r>
            <a:r>
              <a:rPr lang="en-US" sz="2400" dirty="0"/>
              <a:t>, </a:t>
            </a:r>
            <a:r>
              <a:rPr lang="ru-RU" sz="2400" dirty="0"/>
              <a:t>то при большом количестве объектов в данных обучение будет долгим, ведь нужно обучить несколько бинарных классификаторов на большом </a:t>
            </a:r>
            <a:r>
              <a:rPr lang="ru-RU" sz="2400" dirty="0" err="1"/>
              <a:t>датасете</a:t>
            </a:r>
            <a:r>
              <a:rPr lang="ru-RU" sz="2400" dirty="0"/>
              <a:t>. В случае </a:t>
            </a:r>
            <a:r>
              <a:rPr lang="en-US" sz="2400" dirty="0"/>
              <a:t>one-versus-one </a:t>
            </a:r>
            <a:r>
              <a:rPr lang="ru-RU" sz="2400" dirty="0"/>
              <a:t>каждый бинарный классификатор (с номером </a:t>
            </a:r>
            <a:r>
              <a:rPr lang="en-US" sz="2400" dirty="0" err="1"/>
              <a:t>ij</a:t>
            </a:r>
            <a:r>
              <a:rPr lang="en-US" sz="2400" dirty="0"/>
              <a:t>) </a:t>
            </a:r>
            <a:r>
              <a:rPr lang="ru-RU" sz="2400" dirty="0"/>
              <a:t>обучается только на части </a:t>
            </a:r>
            <a:r>
              <a:rPr lang="ru-RU" sz="2400" dirty="0" err="1"/>
              <a:t>датасета</a:t>
            </a:r>
            <a:r>
              <a:rPr lang="ru-RU" sz="2400" dirty="0"/>
              <a:t>, состоящей из классов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/>
              <a:t>j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400" dirty="0"/>
              <a:t>Если же классов в задаче много, то подход </a:t>
            </a:r>
            <a:r>
              <a:rPr lang="en-US" sz="2400" b="1" dirty="0"/>
              <a:t>one-versus-one</a:t>
            </a:r>
            <a:r>
              <a:rPr lang="en-US" sz="2400" dirty="0"/>
              <a:t> </a:t>
            </a:r>
            <a:r>
              <a:rPr lang="ru-RU" sz="2400" dirty="0"/>
              <a:t>будет работать долго, так как он сводится к обучению бинарных классификаторов на каждой паре классов, то есть, если в задаче </a:t>
            </a:r>
            <a:r>
              <a:rPr lang="en-US" sz="2400" dirty="0"/>
              <a:t>N </a:t>
            </a:r>
            <a:r>
              <a:rPr lang="ru-RU" sz="2400" dirty="0"/>
              <a:t>классов, то необходимо обучить </a:t>
            </a:r>
            <a:r>
              <a:rPr lang="en-US" sz="2400" dirty="0"/>
              <a:t>N(N−1)/2 </a:t>
            </a:r>
            <a:r>
              <a:rPr lang="ru-RU" sz="2400" dirty="0"/>
              <a:t>бинарных классификаторов.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272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3A40-9F15-342B-95FD-E8486351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4197C-D1E1-34FE-724A-02AC0E3D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6DE10B-82BA-7C7A-D9C1-C6D0E522A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9"/>
            <a:ext cx="7025640" cy="616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LogReg</a:t>
            </a:r>
            <a:r>
              <a:rPr lang="en-US" sz="2400" b="1" dirty="0"/>
              <a:t> </a:t>
            </a:r>
            <a:r>
              <a:rPr lang="ru-RU" sz="2400" b="1" dirty="0"/>
              <a:t>для </a:t>
            </a:r>
            <a:r>
              <a:rPr lang="ru-RU" sz="2400" b="1" dirty="0" err="1"/>
              <a:t>мультиклассовой</a:t>
            </a:r>
            <a:r>
              <a:rPr lang="ru-RU" sz="2400" b="1" dirty="0"/>
              <a:t> классификации</a:t>
            </a:r>
            <a:endParaRPr lang="en-US" sz="24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7CDAE13-3C4B-1B97-3A14-BD61AB72C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24885"/>
              </p:ext>
            </p:extLst>
          </p:nvPr>
        </p:nvGraphicFramePr>
        <p:xfrm>
          <a:off x="505968" y="1849702"/>
          <a:ext cx="11472672" cy="437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457593496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1706986347"/>
                    </a:ext>
                  </a:extLst>
                </a:gridCol>
                <a:gridCol w="4687824">
                  <a:extLst>
                    <a:ext uri="{9D8B030D-6E8A-4147-A177-3AD203B41FA5}">
                      <a16:colId xmlns:a16="http://schemas.microsoft.com/office/drawing/2014/main" val="3500475168"/>
                    </a:ext>
                  </a:extLst>
                </a:gridCol>
              </a:tblGrid>
              <a:tr h="862225">
                <a:tc>
                  <a:txBody>
                    <a:bodyPr/>
                    <a:lstStyle/>
                    <a:p>
                      <a:pPr algn="ctr"/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classification</a:t>
                      </a:r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Multiclass classification</a:t>
                      </a:r>
                      <a:endParaRPr lang="ru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131626"/>
                  </a:ext>
                </a:extLst>
              </a:tr>
              <a:tr h="22347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targets</a:t>
                      </a:r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{0,1}</a:t>
                      </a:r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{1,2, …, C} </a:t>
                      </a:r>
                      <a:endParaRPr lang="ru-RU" dirty="0"/>
                    </a:p>
                    <a:p>
                      <a:pPr algn="l"/>
                      <a:r>
                        <a:rPr lang="ru-RU" dirty="0"/>
                        <a:t>или же </a:t>
                      </a:r>
                      <a:endParaRPr lang="en-US" dirty="0"/>
                    </a:p>
                    <a:p>
                      <a:pPr algn="l"/>
                      <a:r>
                        <a:rPr lang="en-US" dirty="0"/>
                        <a:t>[</a:t>
                      </a:r>
                    </a:p>
                    <a:p>
                      <a:pPr algn="l"/>
                      <a:r>
                        <a:rPr lang="en-US" dirty="0"/>
                        <a:t>    [1, 0, 0, 0, …, 0]</a:t>
                      </a:r>
                    </a:p>
                    <a:p>
                      <a:pPr algn="l"/>
                      <a:r>
                        <a:rPr lang="en-US" dirty="0"/>
                        <a:t>    [0, 1, 0, 0, …, 0]</a:t>
                      </a:r>
                    </a:p>
                    <a:p>
                      <a:pPr algn="l"/>
                      <a:r>
                        <a:rPr lang="en-US" dirty="0"/>
                        <a:t>    ...</a:t>
                      </a:r>
                    </a:p>
                    <a:p>
                      <a:pPr algn="l"/>
                      <a:r>
                        <a:rPr lang="en-US" dirty="0"/>
                        <a:t>    [0, 0, 0, 0, …, 1]</a:t>
                      </a:r>
                    </a:p>
                    <a:p>
                      <a:pPr algn="l"/>
                      <a:r>
                        <a:rPr lang="en-US" dirty="0"/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170797"/>
                  </a:ext>
                </a:extLst>
              </a:tr>
              <a:tr h="12225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predictions (example)</a:t>
                      </a:r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  <a:endParaRPr lang="ru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[0.8, 0.1, 0.05, 0, …, 0.05]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2249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AB7B13-D89B-7175-5E87-36915FA7921C}"/>
              </a:ext>
            </a:extLst>
          </p:cNvPr>
          <p:cNvSpPr txBox="1"/>
          <p:nvPr/>
        </p:nvSpPr>
        <p:spPr>
          <a:xfrm>
            <a:off x="950976" y="6194787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– </a:t>
            </a:r>
            <a:r>
              <a:rPr lang="ru-RU" dirty="0"/>
              <a:t>кол-во классов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86591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8D2A-EEE3-C6AF-D154-51C02D093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56B7B-8764-EF87-537E-50820591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8220FA-1C9C-2993-E01B-FC39EF0E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9"/>
            <a:ext cx="7025640" cy="616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LogReg</a:t>
            </a:r>
            <a:r>
              <a:rPr lang="en-US" sz="2400" b="1" dirty="0"/>
              <a:t> </a:t>
            </a:r>
            <a:r>
              <a:rPr lang="ru-RU" sz="2400" b="1" dirty="0"/>
              <a:t>для </a:t>
            </a:r>
            <a:r>
              <a:rPr lang="ru-RU" sz="2400" b="1" dirty="0" err="1"/>
              <a:t>мультиклассовой</a:t>
            </a:r>
            <a:r>
              <a:rPr lang="ru-RU" sz="2400" b="1" dirty="0"/>
              <a:t> классификации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6AB70493-8CDC-37BC-AAB8-9B826E4A1E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626819"/>
                  </p:ext>
                </p:extLst>
              </p:nvPr>
            </p:nvGraphicFramePr>
            <p:xfrm>
              <a:off x="182880" y="2157984"/>
              <a:ext cx="11753088" cy="376175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74789">
                      <a:extLst>
                        <a:ext uri="{9D8B030D-6E8A-4147-A177-3AD203B41FA5}">
                          <a16:colId xmlns:a16="http://schemas.microsoft.com/office/drawing/2014/main" val="2457593496"/>
                        </a:ext>
                      </a:extLst>
                    </a:gridCol>
                    <a:gridCol w="5060603">
                      <a:extLst>
                        <a:ext uri="{9D8B030D-6E8A-4147-A177-3AD203B41FA5}">
                          <a16:colId xmlns:a16="http://schemas.microsoft.com/office/drawing/2014/main" val="1706986347"/>
                        </a:ext>
                      </a:extLst>
                    </a:gridCol>
                    <a:gridCol w="3917696">
                      <a:extLst>
                        <a:ext uri="{9D8B030D-6E8A-4147-A177-3AD203B41FA5}">
                          <a16:colId xmlns:a16="http://schemas.microsoft.com/office/drawing/2014/main" val="3500475168"/>
                        </a:ext>
                      </a:extLst>
                    </a:gridCol>
                  </a:tblGrid>
                  <a:tr h="882013">
                    <a:tc>
                      <a:txBody>
                        <a:bodyPr/>
                        <a:lstStyle/>
                        <a:p>
                          <a:pPr algn="ctr"/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classification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Multiclass classification</a:t>
                          </a:r>
                          <a:endParaRPr lang="ru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8131626"/>
                      </a:ext>
                    </a:extLst>
                  </a:tr>
                  <a:tr h="16291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activation function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sigmoid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≺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sofmax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&gt;</m:t>
                                      </m:r>
                                    </m:sup>
                                  </m:sSup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&gt;</m:t>
                                          </m:r>
                                        </m:sup>
                                      </m:sSup>
                                    </m:e>
                                  </m:nary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9170797"/>
                      </a:ext>
                    </a:extLst>
                  </a:tr>
                  <a:tr h="12505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loss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log-loss =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oMath>
                          </a14:m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cross entropy =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dirty="0"/>
                            <a:t>  </a:t>
                          </a:r>
                          <a:endParaRPr lang="ru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82249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6AB70493-8CDC-37BC-AAB8-9B826E4A1E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626819"/>
                  </p:ext>
                </p:extLst>
              </p:nvPr>
            </p:nvGraphicFramePr>
            <p:xfrm>
              <a:off x="182880" y="2157984"/>
              <a:ext cx="11753088" cy="376175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74789">
                      <a:extLst>
                        <a:ext uri="{9D8B030D-6E8A-4147-A177-3AD203B41FA5}">
                          <a16:colId xmlns:a16="http://schemas.microsoft.com/office/drawing/2014/main" val="2457593496"/>
                        </a:ext>
                      </a:extLst>
                    </a:gridCol>
                    <a:gridCol w="5060603">
                      <a:extLst>
                        <a:ext uri="{9D8B030D-6E8A-4147-A177-3AD203B41FA5}">
                          <a16:colId xmlns:a16="http://schemas.microsoft.com/office/drawing/2014/main" val="1706986347"/>
                        </a:ext>
                      </a:extLst>
                    </a:gridCol>
                    <a:gridCol w="3917696">
                      <a:extLst>
                        <a:ext uri="{9D8B030D-6E8A-4147-A177-3AD203B41FA5}">
                          <a16:colId xmlns:a16="http://schemas.microsoft.com/office/drawing/2014/main" val="3500475168"/>
                        </a:ext>
                      </a:extLst>
                    </a:gridCol>
                  </a:tblGrid>
                  <a:tr h="882013">
                    <a:tc>
                      <a:txBody>
                        <a:bodyPr/>
                        <a:lstStyle/>
                        <a:p>
                          <a:pPr algn="ctr"/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Binary classification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Multiclass classification</a:t>
                          </a:r>
                          <a:endParaRPr lang="ru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8131626"/>
                      </a:ext>
                    </a:extLst>
                  </a:tr>
                  <a:tr h="16291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activation function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GB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25" t="-54264" r="-77638" b="-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GB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676" t="-54264" b="-883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9170797"/>
                      </a:ext>
                    </a:extLst>
                  </a:tr>
                  <a:tr h="12505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loss</a:t>
                          </a:r>
                          <a:endParaRPr lang="ru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GB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025" t="-201010" r="-77638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GB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676" t="-201010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82249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D7C7BF-4D01-5B56-A444-9A194651C2D8}"/>
              </a:ext>
            </a:extLst>
          </p:cNvPr>
          <p:cNvSpPr txBox="1"/>
          <p:nvPr/>
        </p:nvSpPr>
        <p:spPr>
          <a:xfrm>
            <a:off x="950976" y="6194787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– </a:t>
            </a:r>
            <a:r>
              <a:rPr lang="ru-RU" dirty="0"/>
              <a:t>кол-во классов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10770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716A-33A4-D852-B5C4-52AD53CC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8E417-6731-F1F8-3839-1EB8441C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Многоклассовая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классификация</a:t>
            </a:r>
            <a:endParaRPr lang="ru-GB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FD01-3514-E395-6D5A-5CDF0B61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9"/>
            <a:ext cx="6891528" cy="543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LogReg</a:t>
            </a:r>
            <a:r>
              <a:rPr lang="en-US" sz="2400" b="1" dirty="0"/>
              <a:t> </a:t>
            </a:r>
            <a:r>
              <a:rPr lang="ru-RU" sz="2400" b="1" dirty="0"/>
              <a:t>для </a:t>
            </a:r>
            <a:r>
              <a:rPr lang="ru-RU" sz="2400" b="1" dirty="0" err="1"/>
              <a:t>мультиклассовой</a:t>
            </a:r>
            <a:r>
              <a:rPr lang="ru-RU" sz="2400" b="1" dirty="0"/>
              <a:t> классификации</a:t>
            </a:r>
            <a:endParaRPr lang="ru-RU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196" name="Picture 4" descr="Softmax Activation Function in Neural Networks - GeeksforGeeks">
            <a:extLst>
              <a:ext uri="{FF2B5EF4-FFF2-40B4-BE49-F238E27FC236}">
                <a16:creationId xmlns:a16="http://schemas.microsoft.com/office/drawing/2014/main" id="{C1422E25-63C1-15F4-8538-39E74E0B7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43287"/>
            <a:ext cx="4879252" cy="297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86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22FE-5618-E0FA-DEC2-B549FE46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C12CE-11A5-7E26-F4C4-3DC8208E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95EF18-6E0B-9B99-2CF2-5BE41330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7817"/>
            <a:ext cx="10515600" cy="2344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Accuracy</a:t>
            </a:r>
            <a:r>
              <a:rPr lang="en-US" b="0" i="1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это доля правильных ответов модели, без изменений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для любого количества классов</a:t>
            </a:r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222222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/>
              <a:t>Как модифицируются метрики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f1-score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dirty="0" err="1"/>
              <a:t>многоклассовом</a:t>
            </a:r>
            <a:r>
              <a:rPr lang="ru-RU" dirty="0"/>
              <a:t> случае</a:t>
            </a:r>
            <a:r>
              <a:rPr lang="en-US" dirty="0"/>
              <a:t>?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558770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3B4E-3AE5-D31B-1492-24DB05C1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C208E-9DC3-F739-F6E1-82DA5C2F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375036-6E31-8AE1-30EA-D1B34C68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7817"/>
            <a:ext cx="10515600" cy="2344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Accuracy</a:t>
            </a:r>
            <a:r>
              <a:rPr lang="en-US" b="0" i="1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это доля правильных ответов модели, без изменений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для любого количества классов</a:t>
            </a:r>
            <a:endParaRPr lang="en-US" b="0" i="0" u="none" strike="noStrike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222222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dirty="0"/>
              <a:t>Как модифицируются метрики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f1-score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dirty="0" err="1"/>
              <a:t>многоклассовом</a:t>
            </a:r>
            <a:r>
              <a:rPr lang="ru-RU" dirty="0"/>
              <a:t> случае</a:t>
            </a:r>
            <a:r>
              <a:rPr lang="en-US" dirty="0"/>
              <a:t>?</a:t>
            </a:r>
            <a:endParaRPr lang="ru-GB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0A92A8-8518-E3AD-BECD-23F23E5C8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328985"/>
            <a:ext cx="5435600" cy="18288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белый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E2B958-317F-000E-B51B-2EA683C473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49"/>
          <a:stretch/>
        </p:blipFill>
        <p:spPr>
          <a:xfrm>
            <a:off x="6644640" y="4597209"/>
            <a:ext cx="3221407" cy="12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62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01FA-C770-E372-B747-8F2D8F7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8B583-52C9-CACB-8903-04C72375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C517EFC-A3A7-89D5-5D3A-513AC89F6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984117"/>
            <a:ext cx="6090498" cy="23431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648638-33DB-C431-5034-C4F89B6D52ED}"/>
              </a:ext>
            </a:extLst>
          </p:cNvPr>
          <p:cNvSpPr txBox="1"/>
          <p:nvPr/>
        </p:nvSpPr>
        <p:spPr>
          <a:xfrm>
            <a:off x="838200" y="2182374"/>
            <a:ext cx="65245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  <a:r>
              <a:rPr lang="ru-RU" sz="2400" b="1" dirty="0" err="1"/>
              <a:t>уществует</a:t>
            </a:r>
            <a:r>
              <a:rPr lang="ru-RU" sz="2400" b="1" dirty="0"/>
              <a:t> несколько подходов: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/>
              <a:t>Микроусреднение</a:t>
            </a:r>
            <a:r>
              <a:rPr lang="ru-RU" sz="2400" dirty="0"/>
              <a:t> (</a:t>
            </a:r>
            <a:r>
              <a:rPr lang="en-US" sz="2400" dirty="0"/>
              <a:t>micro-average)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/>
              <a:t>Макроусреднение</a:t>
            </a:r>
            <a:r>
              <a:rPr lang="ru-RU" sz="2400" dirty="0"/>
              <a:t> (</a:t>
            </a:r>
            <a:r>
              <a:rPr lang="en-US" sz="2400" dirty="0"/>
              <a:t>macro-average)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Взвешенное усреднение (</a:t>
            </a:r>
            <a:r>
              <a:rPr lang="en-US" sz="2400" dirty="0"/>
              <a:t>weighted-average)</a:t>
            </a:r>
            <a:endParaRPr lang="ru-GB" sz="2400" dirty="0"/>
          </a:p>
        </p:txBody>
      </p:sp>
    </p:spTree>
    <p:extLst>
      <p:ext uri="{BB962C8B-B14F-4D97-AF65-F5344CB8AC3E}">
        <p14:creationId xmlns:p14="http://schemas.microsoft.com/office/powerpoint/2010/main" val="2694169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2FBC-82C9-3BE4-DFC6-2B2773B5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B9149-25A1-49F7-16C2-4BE57CBC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6FE84-1EE0-50E0-9ADB-87B140C8D506}"/>
              </a:ext>
            </a:extLst>
          </p:cNvPr>
          <p:cNvSpPr txBox="1"/>
          <p:nvPr/>
        </p:nvSpPr>
        <p:spPr>
          <a:xfrm>
            <a:off x="838200" y="1962918"/>
            <a:ext cx="9915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/>
              <a:t>Макроусреднение</a:t>
            </a:r>
            <a:r>
              <a:rPr lang="ru-RU" sz="2400" b="1" dirty="0"/>
              <a:t> (</a:t>
            </a:r>
            <a:r>
              <a:rPr lang="en-US" sz="2400" b="1" dirty="0"/>
              <a:t>macro-average)</a:t>
            </a:r>
          </a:p>
          <a:p>
            <a:r>
              <a:rPr lang="ru-RU" sz="2400" dirty="0"/>
              <a:t>Вычисляем значение выбранной метрики для каждой бинарной ситуации (кошка/не кошка, рыба/не рыба, курица/не курица), а затем усредняем полученные числа</a:t>
            </a:r>
            <a:endParaRPr lang="ru-GB" sz="24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EECD117-3CF7-5F3A-C2FF-97C9F545E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672" y="3804808"/>
            <a:ext cx="6236970" cy="239083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942CD9-8CE3-CC96-A473-9B06F85E3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52" y="3897574"/>
            <a:ext cx="4073453" cy="46239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9FD7269-885F-A9CC-504F-E1198C396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060" y="4447174"/>
            <a:ext cx="3294888" cy="51047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60D4D6C-A056-B526-CC73-807D1EA7F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665" y="5005102"/>
            <a:ext cx="5247335" cy="5434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DF611D-998A-F8A6-E5E2-D76FD0B7C744}"/>
              </a:ext>
            </a:extLst>
          </p:cNvPr>
          <p:cNvSpPr txBox="1"/>
          <p:nvPr/>
        </p:nvSpPr>
        <p:spPr>
          <a:xfrm>
            <a:off x="7002052" y="5704593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Аналогично вычисляется </a:t>
            </a:r>
            <a:r>
              <a:rPr lang="en-US" dirty="0"/>
              <a:t>recall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869848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431C-FDAD-9A25-F106-0611E65D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06CFE-E856-D5D5-26D2-A428BFBD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1E8569-CA33-0646-A11F-50BA350F2CD4}"/>
              </a:ext>
            </a:extLst>
          </p:cNvPr>
          <p:cNvSpPr txBox="1"/>
          <p:nvPr/>
        </p:nvSpPr>
        <p:spPr>
          <a:xfrm>
            <a:off x="838200" y="1962918"/>
            <a:ext cx="9915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Взвешенное усреднение (</a:t>
            </a:r>
            <a:r>
              <a:rPr lang="en-US" sz="2400" b="1" dirty="0"/>
              <a:t>weighted-average)</a:t>
            </a:r>
          </a:p>
          <a:p>
            <a:r>
              <a:rPr lang="ru-RU" sz="2400" dirty="0"/>
              <a:t>Усредняем посчитанные для каждого класса метрики с весами, пропорциональными количеству объектов класса</a:t>
            </a:r>
            <a:endParaRPr lang="ru-GB" sz="24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92B743F-7421-91D9-1F09-F528755FC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8665" y="3293613"/>
            <a:ext cx="5247335" cy="2011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7ACE58-8B1D-B488-7C7B-92703D63FEFE}"/>
              </a:ext>
            </a:extLst>
          </p:cNvPr>
          <p:cNvSpPr txBox="1"/>
          <p:nvPr/>
        </p:nvSpPr>
        <p:spPr>
          <a:xfrm>
            <a:off x="848665" y="6308209"/>
            <a:ext cx="342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Аналогично вычисляется </a:t>
            </a:r>
            <a:r>
              <a:rPr lang="en-US" dirty="0"/>
              <a:t>recall</a:t>
            </a:r>
            <a:endParaRPr lang="ru-GB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834B72-7222-A60B-4C86-605CE058C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2" y="5435458"/>
            <a:ext cx="7977283" cy="80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55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FE4E-5567-B197-46CC-A34FC302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7E95A-37F2-F614-BFE8-F99725B8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781"/>
            <a:ext cx="11459818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effectLst/>
                <a:latin typeface="Helvetica" pitchFamily="2" charset="0"/>
              </a:rPr>
              <a:t>Метрики </a:t>
            </a:r>
            <a:r>
              <a:rPr lang="ru-RU" sz="4000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многоклассовой</a:t>
            </a:r>
            <a:r>
              <a:rPr lang="ru-RU" sz="4000" b="1" dirty="0">
                <a:solidFill>
                  <a:srgbClr val="000000"/>
                </a:solidFill>
                <a:effectLst/>
                <a:latin typeface="Helvetica" pitchFamily="2" charset="0"/>
              </a:rPr>
              <a:t> классификации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AE1F0-75FE-60F3-94F9-65462CBD89FE}"/>
              </a:ext>
            </a:extLst>
          </p:cNvPr>
          <p:cNvSpPr txBox="1"/>
          <p:nvPr/>
        </p:nvSpPr>
        <p:spPr>
          <a:xfrm>
            <a:off x="838200" y="1127750"/>
            <a:ext cx="99151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/>
              <a:t>Микроусреднение</a:t>
            </a:r>
            <a:r>
              <a:rPr lang="ru-RU" sz="2400" b="1" dirty="0"/>
              <a:t> (</a:t>
            </a:r>
            <a:r>
              <a:rPr lang="en-US" sz="2400" b="1" dirty="0"/>
              <a:t>micro-average)</a:t>
            </a:r>
          </a:p>
          <a:p>
            <a:r>
              <a:rPr lang="ru-RU" sz="2400" dirty="0"/>
              <a:t>Вычисляем значения </a:t>
            </a:r>
            <a:r>
              <a:rPr lang="en-US" sz="2400" dirty="0"/>
              <a:t>TP, TN, FP, FN </a:t>
            </a:r>
            <a:r>
              <a:rPr lang="ru-RU" sz="2400" dirty="0"/>
              <a:t>по всей матрице ошибок сразу, исходя из их определения. Затем по полученным числам вычисляем выбранные метрики</a:t>
            </a:r>
            <a:endParaRPr lang="en-US" sz="2400" dirty="0"/>
          </a:p>
          <a:p>
            <a:r>
              <a:rPr lang="en-US" sz="2400" dirty="0"/>
              <a:t>FP - </a:t>
            </a:r>
            <a:r>
              <a:rPr lang="ru-RU" sz="2400" dirty="0"/>
              <a:t>это суммарное количество </a:t>
            </a:r>
            <a:r>
              <a:rPr lang="en-US" sz="2400" dirty="0"/>
              <a:t>false positive-</a:t>
            </a:r>
            <a:r>
              <a:rPr lang="ru-RU" sz="2400" dirty="0"/>
              <a:t>предсказаний. Например, если </a:t>
            </a:r>
            <a:r>
              <a:rPr lang="en-US" sz="2400" dirty="0"/>
              <a:t>cat </a:t>
            </a:r>
            <a:r>
              <a:rPr lang="ru-RU" sz="2400" dirty="0"/>
              <a:t>предсказана как </a:t>
            </a:r>
            <a:r>
              <a:rPr lang="en-US" sz="2400" dirty="0"/>
              <a:t>fish, </a:t>
            </a:r>
            <a:r>
              <a:rPr lang="ru-RU" sz="2400" dirty="0"/>
              <a:t>то это </a:t>
            </a:r>
            <a:r>
              <a:rPr lang="en-US" sz="2400" dirty="0"/>
              <a:t>false positive </a:t>
            </a:r>
            <a:r>
              <a:rPr lang="ru-RU" sz="2400" dirty="0"/>
              <a:t>для </a:t>
            </a:r>
            <a:r>
              <a:rPr lang="en-US" sz="2400" dirty="0"/>
              <a:t>fish. </a:t>
            </a:r>
            <a:r>
              <a:rPr lang="ru-RU" sz="2400" dirty="0"/>
              <a:t>Таким образом,  </a:t>
            </a:r>
            <a:r>
              <a:rPr lang="en-US" sz="2400" dirty="0"/>
              <a:t>FP - </a:t>
            </a:r>
            <a:r>
              <a:rPr lang="ru-RU" sz="2400" dirty="0"/>
              <a:t>это сумма всех неверных предсказаний, то есть </a:t>
            </a:r>
            <a:r>
              <a:rPr lang="en-US" sz="2400" dirty="0"/>
              <a:t>FP=6+3+1+0+1+2=13</a:t>
            </a:r>
            <a:endParaRPr lang="ru-GB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92F3A5-01FD-BE0F-5FAF-6EF600C92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63" y="4572000"/>
            <a:ext cx="5502717" cy="2117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658D92-81E4-0BA5-C623-2FF611B649A8}"/>
              </a:ext>
            </a:extLst>
          </p:cNvPr>
          <p:cNvSpPr txBox="1"/>
          <p:nvPr/>
        </p:nvSpPr>
        <p:spPr>
          <a:xfrm>
            <a:off x="6732103" y="4572000"/>
            <a:ext cx="464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FN = FP  -&gt;  precision = recall = f1</a:t>
            </a:r>
          </a:p>
        </p:txBody>
      </p:sp>
      <p:pic>
        <p:nvPicPr>
          <p:cNvPr id="11" name="Рисунок 10" descr="Изображение выглядит как текст, Шрифт, белый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A95A9C0-F2BD-194F-68AC-17407D563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104" y="5430926"/>
            <a:ext cx="3277631" cy="83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39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CAAC-BBF5-ADD1-F09B-A3D0AF1D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D8D6C-B257-D993-01B7-4852D891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Калибровка вероятностей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9E2BEDB-5602-C7EC-F6E4-AD378391E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47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Многие модели классификации умеют "предсказывать вероятности" классов. Это делается методом </a:t>
            </a:r>
            <a:r>
              <a:rPr lang="en-US" i="1" dirty="0" err="1"/>
              <a:t>predict_proba</a:t>
            </a:r>
            <a:r>
              <a:rPr lang="en-US" i="1" dirty="0"/>
              <a:t> </a:t>
            </a:r>
            <a:r>
              <a:rPr lang="ru-RU" dirty="0"/>
              <a:t>из библиотеки </a:t>
            </a:r>
            <a:r>
              <a:rPr lang="en-US" i="1" dirty="0" err="1"/>
              <a:t>sklearn</a:t>
            </a:r>
            <a:endParaRPr lang="en-US" i="1" dirty="0"/>
          </a:p>
          <a:p>
            <a:pPr marL="0" indent="0">
              <a:buNone/>
            </a:pPr>
            <a:r>
              <a:rPr lang="ru-RU" dirty="0"/>
              <a:t>На самом деле предсказанные методом числа - это не всегда вероятности в общепринятом смысле. В большинстве случаев метод </a:t>
            </a:r>
            <a:r>
              <a:rPr lang="en-US" i="1" dirty="0" err="1"/>
              <a:t>predict_proba</a:t>
            </a:r>
            <a:r>
              <a:rPr lang="en-US" i="1" dirty="0"/>
              <a:t> </a:t>
            </a:r>
            <a:r>
              <a:rPr lang="ru-RU" dirty="0"/>
              <a:t>выдает уверенности модели в том или ином классе, попадающие на отрезок [0;1]. Почему это не очень хорошо?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416449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CE51-32AE-CBBE-013F-2A4EAF04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BEB48-F578-BB7D-0B07-798B5CE8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Калибровка вероятностей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71466D1-702D-7D63-07F6-729471DC6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8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Пример:</a:t>
            </a:r>
          </a:p>
          <a:p>
            <a:pPr marL="0" indent="0">
              <a:buNone/>
            </a:pPr>
            <a:r>
              <a:rPr lang="ru-RU" dirty="0"/>
              <a:t>Пусть мы решаем задачу кредитного скоринга, и кроме класса (выдать клиенту кредит или нет) бизнес часто интересует вероятность, с которой клиент вернет кредит. Основываясь на этих вероятностях, бизнес будет принимать решение о способе взаимодействия с клиентом.</a:t>
            </a:r>
            <a:endParaRPr lang="ru-GB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DBDEBD-69C7-2EC3-B12A-B4EFA3B4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18" y="4375633"/>
            <a:ext cx="3436026" cy="2333061"/>
          </a:xfrm>
          <a:prstGeom prst="rect">
            <a:avLst/>
          </a:prstGeom>
        </p:spPr>
      </p:pic>
      <p:pic>
        <p:nvPicPr>
          <p:cNvPr id="11266" name="Picture 2" descr="Credit Score Ranges - How It Matters To Your Finances?">
            <a:extLst>
              <a:ext uri="{FF2B5EF4-FFF2-40B4-BE49-F238E27FC236}">
                <a16:creationId xmlns:a16="http://schemas.microsoft.com/office/drawing/2014/main" id="{2F64B267-BF34-270E-86AF-F3B1FCE57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250" y="4300979"/>
            <a:ext cx="3996496" cy="248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555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A148-1EDC-3768-BE57-3958914A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070F1-40A5-D550-E8F9-4574AD06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Калибровка вероятностей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FC2251E-C0D5-60C7-5537-93D5F1E29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065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Например, если клиент возвращает кредит с вероятностью 0.9, то это означает, что в 90 случаях из 100 клиенты с такими же характеристиками как наш вернут кредит. Так работает классическая вероятность.</a:t>
            </a:r>
          </a:p>
          <a:p>
            <a:pPr marL="0" indent="0">
              <a:buNone/>
            </a:pPr>
            <a:r>
              <a:rPr lang="ru-RU" dirty="0"/>
              <a:t>Но большинство моделей после применения </a:t>
            </a:r>
            <a:r>
              <a:rPr lang="en-US" i="1" dirty="0" err="1"/>
              <a:t>predict_proba</a:t>
            </a:r>
            <a:r>
              <a:rPr lang="en-US" i="1" dirty="0"/>
              <a:t> </a:t>
            </a:r>
            <a:r>
              <a:rPr lang="ru-RU" dirty="0"/>
              <a:t>могут выдать число, отличное от 0.9 - это будет уверенность модели в классе. Например, модель может выдать правильный ответ "клиент вернет кредит", но с вероятностью 0.6. И бизнес, анализируя полученную вероятность, будет понимать, что клиент не настолько надежный (ведь вероятности возврата кредита 60% и 90% совсем разные). Получим неверную картину.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162620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4BEF-17B5-7AE5-40B3-CCC3D232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F32F0-9EBC-DD10-BBAA-954CD779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0000"/>
                </a:solidFill>
                <a:effectLst/>
                <a:latin typeface="Helvetica" pitchFamily="2" charset="0"/>
              </a:rPr>
              <a:t>Калибровка вероятностей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5DDEA24-DBD8-0813-BBA5-F77E26FC3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06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ноутбук </a:t>
            </a:r>
            <a:r>
              <a:rPr lang="en-US" dirty="0" err="1"/>
              <a:t>calibration.ipynb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072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1054</Words>
  <Application>Microsoft Macintosh PowerPoint</Application>
  <PresentationFormat>Широкоэкранный</PresentationFormat>
  <Paragraphs>131</Paragraphs>
  <Slides>23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Helvetica</vt:lpstr>
      <vt:lpstr>Roboto</vt:lpstr>
      <vt:lpstr>Тема Office</vt:lpstr>
      <vt:lpstr>Многоклассовая классификация и калибровка вероятностей</vt:lpstr>
      <vt:lpstr>План</vt:lpstr>
      <vt:lpstr>Почему ROC-AUC "врет" при дисбалансе классов?</vt:lpstr>
      <vt:lpstr>Как модели прогнозируют “вероятности”?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Многоклассовая классификация</vt:lpstr>
      <vt:lpstr>Метрики многоклассовой классификации</vt:lpstr>
      <vt:lpstr>Метрики многоклассовой классификации</vt:lpstr>
      <vt:lpstr>Метрики многоклассовой классификации</vt:lpstr>
      <vt:lpstr>Метрики многоклассовой классификации</vt:lpstr>
      <vt:lpstr>Метрики многоклассовой классификации</vt:lpstr>
      <vt:lpstr>Метрики многоклассовой классификации</vt:lpstr>
      <vt:lpstr>Калибровка вероятностей</vt:lpstr>
      <vt:lpstr>Калибровка вероятностей</vt:lpstr>
      <vt:lpstr>Калибровка вероятностей</vt:lpstr>
      <vt:lpstr>Калибровка вероятностей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c77904</dc:creator>
  <cp:lastModifiedBy>c77904</cp:lastModifiedBy>
  <cp:revision>2</cp:revision>
  <dcterms:created xsi:type="dcterms:W3CDTF">2026-02-26T12:49:36Z</dcterms:created>
  <dcterms:modified xsi:type="dcterms:W3CDTF">2026-03-10T00:20:21Z</dcterms:modified>
</cp:coreProperties>
</file>